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8288000" cy="10287000"/>
  <p:notesSz cx="7559675" cy="10691813"/>
  <p:embeddedFontLst>
    <p:embeddedFont>
      <p:font typeface="Arial Bold"/>
      <p:regular r:id="rId11"/>
      <p:bold r:id="rId11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font" Target="fonts/Font_1_Arial_Bold_Regular.fntdata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380A8E-62AA-480C-80AC-0D2405CB5A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5009E1-025A-44ED-B22E-712FF06EBE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459FDA-BF79-4279-8C69-42F600D175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89FA8E-9E5C-4995-B0D5-2C499BF155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A3BBD4-0DA8-4E63-A49A-7BA07BEA72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ACD0A7-541D-44D4-9028-87ED883DBF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320546-8942-429A-8CE5-4643A1A1CF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57B385-E6D9-4DF4-80AE-EDC8D688156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9ED2CC-A9C0-4745-9957-608A3AEC9C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9144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8169C3-A74C-47CF-86DE-77FC9C88CB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31A503-BCAB-4464-AC73-F4B0B05CA7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754920" y="343080"/>
            <a:ext cx="1975680" cy="1578240"/>
            <a:chOff x="754920" y="343080"/>
            <a:chExt cx="1975680" cy="1578240"/>
          </a:xfrm>
        </p:grpSpPr>
        <p:sp>
          <p:nvSpPr>
            <p:cNvPr id="62" name="Freeform 3" descr="logo-dsc-light.png"/>
            <p:cNvSpPr/>
            <p:nvPr/>
          </p:nvSpPr>
          <p:spPr>
            <a:xfrm>
              <a:off x="754920" y="343080"/>
              <a:ext cx="1975680" cy="1578240"/>
            </a:xfrm>
            <a:custGeom>
              <a:avLst/>
              <a:gdLst>
                <a:gd name="textAreaLeft" fmla="*/ 0 w 1975680"/>
                <a:gd name="textAreaRight" fmla="*/ 1976040 w 1975680"/>
                <a:gd name="textAreaTop" fmla="*/ 0 h 1578240"/>
                <a:gd name="textAreaBottom" fmla="*/ 1578600 h 1578240"/>
              </a:gdLst>
              <a:ahLst/>
              <a:cxnLst/>
              <a:rect l="textAreaLeft" t="textAreaTop" r="textAreaRight" b="textAreaBottom"/>
              <a:pathLst>
                <a:path w="2634869" h="2104771">
                  <a:moveTo>
                    <a:pt x="0" y="0"/>
                  </a:moveTo>
                  <a:lnTo>
                    <a:pt x="2634869" y="0"/>
                  </a:lnTo>
                  <a:lnTo>
                    <a:pt x="2634869" y="2104771"/>
                  </a:lnTo>
                  <a:lnTo>
                    <a:pt x="0" y="2104771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"/>
          <p:cNvGrpSpPr/>
          <p:nvPr/>
        </p:nvGrpSpPr>
        <p:grpSpPr>
          <a:xfrm>
            <a:off x="6726240" y="549000"/>
            <a:ext cx="3749400" cy="1166400"/>
            <a:chOff x="6726240" y="549000"/>
            <a:chExt cx="3749400" cy="1166400"/>
          </a:xfrm>
        </p:grpSpPr>
        <p:sp>
          <p:nvSpPr>
            <p:cNvPr id="64" name="Freeform 5" descr="logo-vitap-light.png"/>
            <p:cNvSpPr/>
            <p:nvPr/>
          </p:nvSpPr>
          <p:spPr>
            <a:xfrm>
              <a:off x="6726240" y="549000"/>
              <a:ext cx="3749400" cy="1166400"/>
            </a:xfrm>
            <a:custGeom>
              <a:avLst/>
              <a:gdLst>
                <a:gd name="textAreaLeft" fmla="*/ 0 w 3749400"/>
                <a:gd name="textAreaRight" fmla="*/ 3749760 w 3749400"/>
                <a:gd name="textAreaTop" fmla="*/ 0 h 1166400"/>
                <a:gd name="textAreaBottom" fmla="*/ 1166760 h 1166400"/>
              </a:gdLst>
              <a:ahLst/>
              <a:cxnLst/>
              <a:rect l="textAreaLeft" t="textAreaTop" r="textAreaRight" b="textAreaBottom"/>
              <a:pathLst>
                <a:path w="4999609" h="1555750">
                  <a:moveTo>
                    <a:pt x="0" y="0"/>
                  </a:moveTo>
                  <a:lnTo>
                    <a:pt x="4999609" y="0"/>
                  </a:lnTo>
                  <a:lnTo>
                    <a:pt x="4999609" y="1555750"/>
                  </a:lnTo>
                  <a:lnTo>
                    <a:pt x="0" y="1555750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6"/>
          <p:cNvGrpSpPr/>
          <p:nvPr/>
        </p:nvGrpSpPr>
        <p:grpSpPr>
          <a:xfrm>
            <a:off x="14756400" y="686160"/>
            <a:ext cx="2719440" cy="1029240"/>
            <a:chOff x="14756400" y="686160"/>
            <a:chExt cx="2719440" cy="1029240"/>
          </a:xfrm>
        </p:grpSpPr>
        <p:sp>
          <p:nvSpPr>
            <p:cNvPr id="66" name="Freeform 7" descr="logo-iiec-light.png"/>
            <p:cNvSpPr/>
            <p:nvPr/>
          </p:nvSpPr>
          <p:spPr>
            <a:xfrm>
              <a:off x="14756400" y="686160"/>
              <a:ext cx="2719440" cy="1029240"/>
            </a:xfrm>
            <a:custGeom>
              <a:avLst/>
              <a:gdLst>
                <a:gd name="textAreaLeft" fmla="*/ 0 w 2719440"/>
                <a:gd name="textAreaRight" fmla="*/ 2719800 w 2719440"/>
                <a:gd name="textAreaTop" fmla="*/ 0 h 1029240"/>
                <a:gd name="textAreaBottom" fmla="*/ 1029600 h 1029240"/>
              </a:gdLst>
              <a:ahLst/>
              <a:cxnLst/>
              <a:rect l="textAreaLeft" t="textAreaTop" r="textAreaRight" b="textAreaBottom"/>
              <a:pathLst>
                <a:path w="3626612" h="1372616">
                  <a:moveTo>
                    <a:pt x="0" y="0"/>
                  </a:moveTo>
                  <a:lnTo>
                    <a:pt x="3626612" y="0"/>
                  </a:lnTo>
                  <a:lnTo>
                    <a:pt x="3626612" y="1372616"/>
                  </a:lnTo>
                  <a:lnTo>
                    <a:pt x="0" y="137261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8"/>
          <p:cNvGrpSpPr/>
          <p:nvPr/>
        </p:nvGrpSpPr>
        <p:grpSpPr>
          <a:xfrm>
            <a:off x="686160" y="2127600"/>
            <a:ext cx="16924680" cy="54360"/>
            <a:chOff x="686160" y="2127600"/>
            <a:chExt cx="16924680" cy="54360"/>
          </a:xfrm>
        </p:grpSpPr>
        <p:sp>
          <p:nvSpPr>
            <p:cNvPr id="68" name="Freeform 9"/>
            <p:cNvSpPr/>
            <p:nvPr/>
          </p:nvSpPr>
          <p:spPr>
            <a:xfrm>
              <a:off x="686160" y="2127600"/>
              <a:ext cx="16924680" cy="54360"/>
            </a:xfrm>
            <a:custGeom>
              <a:avLst/>
              <a:gdLst>
                <a:gd name="textAreaLeft" fmla="*/ 0 w 16924680"/>
                <a:gd name="textAreaRight" fmla="*/ 16925040 w 16924680"/>
                <a:gd name="textAreaTop" fmla="*/ 0 h 54360"/>
                <a:gd name="textAreaBottom" fmla="*/ 54720 h 54360"/>
              </a:gdLst>
              <a:ahLst/>
              <a:cxnLst/>
              <a:rect l="textAreaLeft" t="textAreaTop" r="textAreaRight" b="textAreaBottom"/>
              <a:pathLst>
                <a:path w="22566757" h="73152">
                  <a:moveTo>
                    <a:pt x="0" y="0"/>
                  </a:moveTo>
                  <a:lnTo>
                    <a:pt x="22566757" y="0"/>
                  </a:lnTo>
                  <a:lnTo>
                    <a:pt x="22566757" y="73152"/>
                  </a:lnTo>
                  <a:lnTo>
                    <a:pt x="0" y="7315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720" rIns="90000" bIns="972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TextBox 10"/>
          <p:cNvSpPr/>
          <p:nvPr/>
        </p:nvSpPr>
        <p:spPr>
          <a:xfrm>
            <a:off x="777600" y="2331720"/>
            <a:ext cx="16700760" cy="20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11889"/>
              </a:lnSpc>
            </a:pPr>
            <a:r>
              <a:rPr lang="en-US" sz="9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DATA</a:t>
            </a:r>
            <a:r>
              <a:rPr lang="en-US" sz="9900" b="0" u="none" strike="noStrike">
                <a:solidFill>
                  <a:srgbClr val="19E3F5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9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HON 2026</a:t>
            </a:r>
            <a:endParaRPr lang="en-IN" sz="9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777600" y="4203720"/>
            <a:ext cx="16700760" cy="7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ts val="4323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ROUND 1  ·  IDEA PPT + BASE PROTOTYPE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2"/>
          <p:cNvSpPr/>
          <p:nvPr/>
        </p:nvSpPr>
        <p:spPr>
          <a:xfrm>
            <a:off x="4484160" y="5370480"/>
            <a:ext cx="116319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Team name: teamCookie()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Team Members: Pranjal Kumar, Kathrina Elangbam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Track Chosen: Smart City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32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Problem Statement Title: Where Should We Fix First?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52680" lvl="1" indent="-326160" defTabSz="914400">
              <a:lnSpc>
                <a:spcPts val="4323"/>
              </a:lnSpc>
              <a:buClr>
                <a:srgbClr val="000000"/>
              </a:buClr>
              <a:buFont typeface="Arial"/>
              <a:buChar char="•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Product Name: Mendwell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73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PROBLEM &amp; TARGET USER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5"/>
          <p:cNvGrpSpPr/>
          <p:nvPr/>
        </p:nvGrpSpPr>
        <p:grpSpPr>
          <a:xfrm>
            <a:off x="617760" y="205920"/>
            <a:ext cx="1717920" cy="1372320"/>
            <a:chOff x="617760" y="205920"/>
            <a:chExt cx="1717920" cy="1372320"/>
          </a:xfrm>
        </p:grpSpPr>
        <p:sp>
          <p:nvSpPr>
            <p:cNvPr id="76" name="Freeform 6" descr="logo-dsc-light.png"/>
            <p:cNvSpPr/>
            <p:nvPr/>
          </p:nvSpPr>
          <p:spPr>
            <a:xfrm>
              <a:off x="617760" y="20592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7"/>
          <p:cNvGrpSpPr/>
          <p:nvPr/>
        </p:nvGrpSpPr>
        <p:grpSpPr>
          <a:xfrm>
            <a:off x="15373800" y="480600"/>
            <a:ext cx="2248200" cy="850680"/>
            <a:chOff x="15373800" y="480600"/>
            <a:chExt cx="2248200" cy="850680"/>
          </a:xfrm>
        </p:grpSpPr>
        <p:sp>
          <p:nvSpPr>
            <p:cNvPr id="78" name="Freeform 8" descr="logo-iiec-light.png"/>
            <p:cNvSpPr/>
            <p:nvPr/>
          </p:nvSpPr>
          <p:spPr>
            <a:xfrm>
              <a:off x="15373800" y="480600"/>
              <a:ext cx="2248200" cy="850680"/>
            </a:xfrm>
            <a:custGeom>
              <a:avLst/>
              <a:gdLst>
                <a:gd name="textAreaLeft" fmla="*/ 0 w 2248200"/>
                <a:gd name="textAreaRight" fmla="*/ 2248560 w 2248200"/>
                <a:gd name="textAreaTop" fmla="*/ 0 h 850680"/>
                <a:gd name="textAreaBottom" fmla="*/ 851040 h 85068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9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80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82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85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 defTabSz="914400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2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7"/>
          <p:cNvSpPr/>
          <p:nvPr/>
        </p:nvSpPr>
        <p:spPr>
          <a:xfrm>
            <a:off x="915120" y="22917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Problem &amp; Target User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ersonaCard"/>
          <p:cNvSpPr/>
          <p:nvPr/>
        </p:nvSpPr>
        <p:spPr>
          <a:xfrm>
            <a:off x="617760" y="3150000"/>
            <a:ext cx="17052120" cy="819720"/>
          </a:xfrm>
          <a:prstGeom prst="rect">
            <a:avLst/>
          </a:prstGeom>
          <a:solidFill>
            <a:srgbClr val="F2FD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0" rIns="180000" anchor="ctr">
            <a:noAutofit/>
          </a:bodyPr>
          <a:p>
            <a:pPr defTabSz="914400">
              <a:lnSpc>
                <a:spcPct val="110000"/>
              </a:lnSpc>
            </a:pPr>
            <a:r>
              <a:rPr lang="en-US" sz="17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USER:  </a:t>
            </a:r>
            <a:r>
              <a:rPr lang="en-US" sz="1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Municipal roads officer deciding which reported issues get fixed first.   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en-US" sz="17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PAIN : </a:t>
            </a:r>
            <a:r>
              <a:rPr lang="en-US" sz="1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Triage follows the loudest complaint, not real severity. No shared ranking across incident logs and complaints.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ersonaAccent"/>
          <p:cNvSpPr/>
          <p:nvPr/>
        </p:nvSpPr>
        <p:spPr>
          <a:xfrm>
            <a:off x="617760" y="3150000"/>
            <a:ext cx="89640" cy="81972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KPI1"/>
          <p:cNvSpPr/>
          <p:nvPr/>
        </p:nvSpPr>
        <p:spPr>
          <a:xfrm>
            <a:off x="617760" y="4079880"/>
            <a:ext cx="4097880" cy="144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rIns="14004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32.2 hrs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Critical avg resolution (matches Low: 32.6 hrs)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KPI1Accent"/>
          <p:cNvSpPr/>
          <p:nvPr/>
        </p:nvSpPr>
        <p:spPr>
          <a:xfrm>
            <a:off x="617760" y="4079880"/>
            <a:ext cx="89640" cy="144972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KPI2"/>
          <p:cNvSpPr/>
          <p:nvPr/>
        </p:nvSpPr>
        <p:spPr>
          <a:xfrm>
            <a:off x="4935960" y="4079880"/>
            <a:ext cx="4097880" cy="144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rIns="14004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31%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Critical incidents still unresolved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KPI2Accent"/>
          <p:cNvSpPr/>
          <p:nvPr/>
        </p:nvSpPr>
        <p:spPr>
          <a:xfrm>
            <a:off x="4935960" y="4079880"/>
            <a:ext cx="89640" cy="144972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KPI3"/>
          <p:cNvSpPr/>
          <p:nvPr/>
        </p:nvSpPr>
        <p:spPr>
          <a:xfrm>
            <a:off x="9254160" y="4079880"/>
            <a:ext cx="4097880" cy="144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rIns="14004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2,475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Injuries recorded in dataset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KPI3Accent"/>
          <p:cNvSpPr/>
          <p:nvPr/>
        </p:nvSpPr>
        <p:spPr>
          <a:xfrm>
            <a:off x="9254160" y="4079880"/>
            <a:ext cx="89640" cy="144972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KPI4"/>
          <p:cNvSpPr/>
          <p:nvPr/>
        </p:nvSpPr>
        <p:spPr>
          <a:xfrm>
            <a:off x="13572000" y="4079880"/>
            <a:ext cx="4097880" cy="1449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0160" rIns="14004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B9FB0"/>
                </a:solidFill>
                <a:effectLst/>
                <a:uFillTx/>
                <a:latin typeface="Arial"/>
              </a:rPr>
              <a:t>1.9%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Of incidents in top 10 locations (risk is spread, not clustered)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KPI4Accent"/>
          <p:cNvSpPr/>
          <p:nvPr/>
        </p:nvSpPr>
        <p:spPr>
          <a:xfrm>
            <a:off x="13572000" y="4079880"/>
            <a:ext cx="89640" cy="144972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ChartCardL"/>
          <p:cNvSpPr/>
          <p:nvPr/>
        </p:nvSpPr>
        <p:spPr>
          <a:xfrm>
            <a:off x="617760" y="5749920"/>
            <a:ext cx="8375760" cy="339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ChartLTitle"/>
          <p:cNvSpPr/>
          <p:nvPr/>
        </p:nvSpPr>
        <p:spPr>
          <a:xfrm>
            <a:off x="917640" y="5879880"/>
            <a:ext cx="77760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 time by severity (hrs)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hartLAxis"/>
          <p:cNvSpPr/>
          <p:nvPr/>
        </p:nvSpPr>
        <p:spPr>
          <a:xfrm>
            <a:off x="1100160" y="8650080"/>
            <a:ext cx="7399800" cy="1548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9160" rIns="90000" bIns="-2916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BarLCritical"/>
          <p:cNvSpPr/>
          <p:nvPr/>
        </p:nvSpPr>
        <p:spPr>
          <a:xfrm>
            <a:off x="1599840" y="6724080"/>
            <a:ext cx="2049480" cy="192564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BarLLow"/>
          <p:cNvSpPr/>
          <p:nvPr/>
        </p:nvSpPr>
        <p:spPr>
          <a:xfrm>
            <a:off x="5400000" y="6699960"/>
            <a:ext cx="2049480" cy="194976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BarLCriticalVal"/>
          <p:cNvSpPr/>
          <p:nvPr/>
        </p:nvSpPr>
        <p:spPr>
          <a:xfrm>
            <a:off x="1599840" y="6293880"/>
            <a:ext cx="2049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32.2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BarLLowVal"/>
          <p:cNvSpPr/>
          <p:nvPr/>
        </p:nvSpPr>
        <p:spPr>
          <a:xfrm>
            <a:off x="5400000" y="6270120"/>
            <a:ext cx="20494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32.6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BarLCriticalCat"/>
          <p:cNvSpPr/>
          <p:nvPr/>
        </p:nvSpPr>
        <p:spPr>
          <a:xfrm>
            <a:off x="1599840" y="8700120"/>
            <a:ext cx="2049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BarLLowCat"/>
          <p:cNvSpPr/>
          <p:nvPr/>
        </p:nvSpPr>
        <p:spPr>
          <a:xfrm>
            <a:off x="5400000" y="8700120"/>
            <a:ext cx="2049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hartCardR"/>
          <p:cNvSpPr/>
          <p:nvPr/>
        </p:nvSpPr>
        <p:spPr>
          <a:xfrm>
            <a:off x="9294120" y="5749920"/>
            <a:ext cx="8375760" cy="3399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ChartRTitle"/>
          <p:cNvSpPr/>
          <p:nvPr/>
        </p:nvSpPr>
        <p:spPr>
          <a:xfrm>
            <a:off x="9594000" y="5879880"/>
            <a:ext cx="77760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Unresolved backlog (%)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hartRAxis"/>
          <p:cNvSpPr/>
          <p:nvPr/>
        </p:nvSpPr>
        <p:spPr>
          <a:xfrm>
            <a:off x="9900000" y="8650080"/>
            <a:ext cx="6999480" cy="15480"/>
          </a:xfrm>
          <a:prstGeom prst="rect">
            <a:avLst/>
          </a:prstGeom>
          <a:solidFill>
            <a:srgbClr val="BFBF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9160" rIns="90000" bIns="-2916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BarRIncidents"/>
          <p:cNvSpPr/>
          <p:nvPr/>
        </p:nvSpPr>
        <p:spPr>
          <a:xfrm>
            <a:off x="10194120" y="7349040"/>
            <a:ext cx="1499760" cy="1300680"/>
          </a:xfrm>
          <a:prstGeom prst="rect">
            <a:avLst/>
          </a:prstGeom>
          <a:solidFill>
            <a:srgbClr val="9AEE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BarRCritical"/>
          <p:cNvSpPr/>
          <p:nvPr/>
        </p:nvSpPr>
        <p:spPr>
          <a:xfrm>
            <a:off x="12744000" y="7243920"/>
            <a:ext cx="1499760" cy="1405800"/>
          </a:xfrm>
          <a:prstGeom prst="rect">
            <a:avLst/>
          </a:prstGeom>
          <a:solidFill>
            <a:srgbClr val="19E3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BarRComplaints"/>
          <p:cNvSpPr/>
          <p:nvPr/>
        </p:nvSpPr>
        <p:spPr>
          <a:xfrm>
            <a:off x="15293880" y="6699960"/>
            <a:ext cx="1499760" cy="1949760"/>
          </a:xfrm>
          <a:prstGeom prst="rect">
            <a:avLst/>
          </a:prstGeom>
          <a:solidFill>
            <a:srgbClr val="0B9F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" name="BarRIncidentsVal"/>
          <p:cNvSpPr/>
          <p:nvPr/>
        </p:nvSpPr>
        <p:spPr>
          <a:xfrm>
            <a:off x="10044000" y="6918840"/>
            <a:ext cx="1799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28.7%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BarRCriticalVal"/>
          <p:cNvSpPr/>
          <p:nvPr/>
        </p:nvSpPr>
        <p:spPr>
          <a:xfrm>
            <a:off x="12593880" y="6814080"/>
            <a:ext cx="1799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31%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BarRComplaintsVal"/>
          <p:cNvSpPr/>
          <p:nvPr/>
        </p:nvSpPr>
        <p:spPr>
          <a:xfrm>
            <a:off x="15144120" y="6270120"/>
            <a:ext cx="1799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43%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BarRIncidentsCat"/>
          <p:cNvSpPr/>
          <p:nvPr/>
        </p:nvSpPr>
        <p:spPr>
          <a:xfrm>
            <a:off x="10044000" y="8700120"/>
            <a:ext cx="1799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incidents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BarRCriticalCat"/>
          <p:cNvSpPr/>
          <p:nvPr/>
        </p:nvSpPr>
        <p:spPr>
          <a:xfrm>
            <a:off x="12593880" y="8700120"/>
            <a:ext cx="1799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BarRComplaintsCat"/>
          <p:cNvSpPr/>
          <p:nvPr/>
        </p:nvSpPr>
        <p:spPr>
          <a:xfrm>
            <a:off x="15144120" y="8700120"/>
            <a:ext cx="17996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Complaints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676716" y="343167"/>
            <a:ext cx="12903117" cy="1304039"/>
            <a:chOff x="0" y="0"/>
            <a:chExt cx="17204157" cy="1738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204161" cy="1738718"/>
            </a:xfrm>
            <a:custGeom>
              <a:avLst/>
              <a:gdLst/>
              <a:ahLst/>
              <a:cxnLst/>
              <a:rect r="r" b="b" t="t" l="l"/>
              <a:pathLst>
                <a:path h="1738718" w="17204161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2799" r="0" b="-14279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7204157" cy="17672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4"/>
                </a:lnSpc>
              </a:pPr>
              <a:r>
                <a:rPr lang="en-US" sz="450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SOLUTION &amp; USP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7706" y="205902"/>
            <a:ext cx="1718386" cy="1372676"/>
            <a:chOff x="0" y="0"/>
            <a:chExt cx="2291182" cy="1830235"/>
          </a:xfrm>
        </p:grpSpPr>
        <p:sp>
          <p:nvSpPr>
            <p:cNvPr name="Freeform 6" id="6" descr="logo-dsc-light.png"/>
            <p:cNvSpPr/>
            <p:nvPr/>
          </p:nvSpPr>
          <p:spPr>
            <a:xfrm flipH="false" flipV="false" rot="0">
              <a:off x="0" y="0"/>
              <a:ext cx="2291207" cy="1830197"/>
            </a:xfrm>
            <a:custGeom>
              <a:avLst/>
              <a:gdLst/>
              <a:ahLst/>
              <a:cxnLst/>
              <a:rect r="r" b="b" t="t" l="l"/>
              <a:pathLst>
                <a:path h="1830197" w="229120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-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373931" y="480431"/>
            <a:ext cx="2248529" cy="851059"/>
            <a:chOff x="0" y="0"/>
            <a:chExt cx="2998038" cy="1134745"/>
          </a:xfrm>
        </p:grpSpPr>
        <p:sp>
          <p:nvSpPr>
            <p:cNvPr name="Freeform 8" id="8" descr="logo-iiec-light.png"/>
            <p:cNvSpPr/>
            <p:nvPr/>
          </p:nvSpPr>
          <p:spPr>
            <a:xfrm flipH="false" flipV="false" rot="0">
              <a:off x="0" y="0"/>
              <a:ext cx="2998089" cy="1134745"/>
            </a:xfrm>
            <a:custGeom>
              <a:avLst/>
              <a:gdLst/>
              <a:ahLst/>
              <a:cxnLst/>
              <a:rect r="r" b="b" t="t" l="l"/>
              <a:pathLst>
                <a:path h="1134745" w="2998089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4402414" cy="1006602"/>
            </a:xfrm>
            <a:custGeom>
              <a:avLst/>
              <a:gdLst/>
              <a:ahLst/>
              <a:cxnLst/>
              <a:rect r="r" b="b" t="t" l="l"/>
              <a:pathLst>
                <a:path h="1006602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2455" cy="1006626"/>
            </a:xfrm>
            <a:custGeom>
              <a:avLst/>
              <a:gdLst/>
              <a:ahLst/>
              <a:cxnLst/>
              <a:rect r="r" b="b" t="t" l="l"/>
              <a:pathLst>
                <a:path h="1006626" w="24402455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2352" r="0" b="-42235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4402453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1"/>
                </a:lnSpc>
              </a:pPr>
              <a:r>
                <a:rPr lang="en-US" sz="180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DATATHON 2026  ·  Round 1 Idea Submission – Template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334804" y="9540069"/>
            <a:ext cx="1509941" cy="754971"/>
            <a:chOff x="0" y="0"/>
            <a:chExt cx="2013255" cy="100662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13253" cy="1006626"/>
            </a:xfrm>
            <a:custGeom>
              <a:avLst/>
              <a:gdLst/>
              <a:ahLst/>
              <a:cxnLst/>
              <a:rect r="r" b="b" t="t" l="l"/>
              <a:pathLst>
                <a:path h="1006626" w="2013253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013255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1"/>
                </a:lnSpc>
              </a:pPr>
              <a:r>
                <a:rPr lang="en-US" sz="195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915048" y="2291582"/>
            <a:ext cx="16426453" cy="75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❖ </a:t>
            </a:r>
            <a:r>
              <a:rPr lang="en-US" b="true" sz="4203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</a:t>
            </a:r>
          </a:p>
        </p:txBody>
      </p:sp>
      <p:sp>
        <p:nvSpPr>
          <p:cNvPr name="SolutionStrip" id="100"/>
          <p:cNvSpPr/>
          <p:nvPr/>
        </p:nvSpPr>
        <p:spPr>
          <a:xfrm>
            <a:off x="617706" y="3120000"/>
            <a:ext cx="17052588" cy="640000"/>
          </a:xfrm>
          <a:prstGeom prst="rect">
            <a:avLst/>
          </a:prstGeom>
          <a:solidFill>
            <a:srgbClr val="F2FDFF"/>
          </a:solidFill>
          <a:ln w="12700">
            <a:solidFill>
              <a:srgbClr val="D9D9D9"/>
            </a:solidFill>
          </a:ln>
        </p:spPr>
        <p:txBody>
          <a:bodyPr anchor="ctr" lIns="320000" rIns="180000" tIns="30000" bIns="30000"/>
          <a:lstStyle/>
          <a:p>
            <a:pPr algn="l">
              <a:lnSpc>
                <a:spcPct val="108000"/>
              </a:lnSpc>
            </a:pPr>
            <a:r>
              <a:rPr lang="en-US" sz="1700" b="true">
                <a:solidFill>
                  <a:srgbClr val="0B9FB0"/>
                </a:solidFill>
                <a:latin typeface="Arial"/>
                <a:cs typeface="Arial"/>
              </a:rPr>
              <a:t>SOLUTION  </a:t>
            </a:r>
            <a:r>
              <a:rPr lang="en-US" sz="1700">
                <a:solidFill>
                  <a:srgbClr val="000000"/>
                </a:solidFill>
                <a:latin typeface="Arial"/>
                <a:cs typeface="Arial"/>
              </a:rPr>
              <a:t>A severity-first triage engine that merges incident logs and public complaints into one ranked worklist, so crews fix the most dangerous spots first, not the loudest.</a:t>
            </a:r>
          </a:p>
        </p:txBody>
      </p:sp>
      <p:sp>
        <p:nvSpPr>
          <p:cNvPr name="SolutionStripAccent" id="101"/>
          <p:cNvSpPr/>
          <p:nvPr/>
        </p:nvSpPr>
        <p:spPr>
          <a:xfrm>
            <a:off x="617706" y="3120000"/>
            <a:ext cx="90000" cy="64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tepCard1" id="110"/>
          <p:cNvSpPr/>
          <p:nvPr/>
        </p:nvSpPr>
        <p:spPr>
          <a:xfrm>
            <a:off x="617706" y="3920000"/>
            <a:ext cx="4113147" cy="13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t" lIns="180000" rIns="150000" tIns="220000" bIns="60000"/>
          <a:lstStyle/>
          <a:p>
            <a:pPr algn="l"/>
            <a:r>
              <a:rPr lang="en-US" sz="1500" b="true">
                <a:solidFill>
                  <a:srgbClr val="0B9FB0"/>
                </a:solidFill>
                <a:latin typeface="Arial"/>
                <a:cs typeface="Arial"/>
              </a:rPr>
              <a:t>1 · Ingest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Incident logs and public complaints merged into one feed.</a:t>
            </a:r>
          </a:p>
        </p:txBody>
      </p:sp>
      <p:sp>
        <p:nvSpPr>
          <p:cNvPr name="StepBar1" id="114"/>
          <p:cNvSpPr/>
          <p:nvPr/>
        </p:nvSpPr>
        <p:spPr>
          <a:xfrm>
            <a:off x="617706" y="3920000"/>
            <a:ext cx="4113147" cy="8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tepCard2" id="111"/>
          <p:cNvSpPr/>
          <p:nvPr/>
        </p:nvSpPr>
        <p:spPr>
          <a:xfrm>
            <a:off x="4930853" y="3920000"/>
            <a:ext cx="4113147" cy="1340000"/>
          </a:xfrm>
          <a:prstGeom prst="rect">
            <a:avLst/>
          </a:prstGeom>
          <a:solidFill>
            <a:srgbClr val="F2FDFF"/>
          </a:solidFill>
          <a:ln w="12700">
            <a:solidFill>
              <a:srgbClr val="19E3F5"/>
            </a:solidFill>
          </a:ln>
        </p:spPr>
        <p:txBody>
          <a:bodyPr anchor="t" lIns="180000" rIns="150000" tIns="220000" bIns="60000"/>
          <a:lstStyle/>
          <a:p>
            <a:pPr algn="l"/>
            <a:r>
              <a:rPr lang="en-US" sz="1500" b="true">
                <a:solidFill>
                  <a:srgbClr val="0B9FB0"/>
                </a:solidFill>
                <a:latin typeface="Arial"/>
                <a:cs typeface="Arial"/>
              </a:rPr>
              <a:t>2 · Enrich</a:t>
            </a:r>
            <a:r>
              <a:rPr lang="en-US" sz="1100" b="true">
                <a:solidFill>
                  <a:srgbClr val="0B9FB0"/>
                </a:solidFill>
                <a:latin typeface="Arial"/>
                <a:cs typeface="Arial"/>
              </a:rPr>
              <a:t>   ◆ Traffic API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A live traffic API adds real-time road exposure to every location.</a:t>
            </a:r>
          </a:p>
        </p:txBody>
      </p:sp>
      <p:sp>
        <p:nvSpPr>
          <p:cNvPr name="StepBar2" id="115"/>
          <p:cNvSpPr/>
          <p:nvPr/>
        </p:nvSpPr>
        <p:spPr>
          <a:xfrm>
            <a:off x="4930853" y="3920000"/>
            <a:ext cx="4113147" cy="8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tepCard3" id="112"/>
          <p:cNvSpPr/>
          <p:nvPr/>
        </p:nvSpPr>
        <p:spPr>
          <a:xfrm>
            <a:off x="9244000" y="3920000"/>
            <a:ext cx="4113147" cy="13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t" lIns="180000" rIns="150000" tIns="220000" bIns="60000"/>
          <a:lstStyle/>
          <a:p>
            <a:pPr algn="l"/>
            <a:r>
              <a:rPr lang="en-US" sz="1500" b="true">
                <a:solidFill>
                  <a:srgbClr val="0B9FB0"/>
                </a:solidFill>
                <a:latin typeface="Arial"/>
                <a:cs typeface="Arial"/>
              </a:rPr>
              <a:t>3 · Score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Severity, injuries and traffic combine into one priority score.</a:t>
            </a:r>
          </a:p>
        </p:txBody>
      </p:sp>
      <p:sp>
        <p:nvSpPr>
          <p:cNvPr name="StepBar3" id="116"/>
          <p:cNvSpPr/>
          <p:nvPr/>
        </p:nvSpPr>
        <p:spPr>
          <a:xfrm>
            <a:off x="9244000" y="3920000"/>
            <a:ext cx="4113147" cy="8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tepCard4" id="113"/>
          <p:cNvSpPr/>
          <p:nvPr/>
        </p:nvSpPr>
        <p:spPr>
          <a:xfrm>
            <a:off x="13557147" y="3920000"/>
            <a:ext cx="4113147" cy="13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t" lIns="180000" rIns="150000" tIns="220000" bIns="60000"/>
          <a:lstStyle/>
          <a:p>
            <a:pPr algn="l"/>
            <a:r>
              <a:rPr lang="en-US" sz="1500" b="true">
                <a:solidFill>
                  <a:srgbClr val="0B9FB0"/>
                </a:solidFill>
                <a:latin typeface="Arial"/>
                <a:cs typeface="Arial"/>
              </a:rPr>
              <a:t>4 · Act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A ranked worklist tells the officer exactly what to fix first.</a:t>
            </a:r>
          </a:p>
        </p:txBody>
      </p:sp>
      <p:sp>
        <p:nvSpPr>
          <p:cNvPr name="StepBar4" id="117"/>
          <p:cNvSpPr/>
          <p:nvPr/>
        </p:nvSpPr>
        <p:spPr>
          <a:xfrm>
            <a:off x="13557147" y="3920000"/>
            <a:ext cx="4113147" cy="8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TextBox 20" id="20"/>
          <p:cNvSpPr txBox="true"/>
          <p:nvPr/>
        </p:nvSpPr>
        <p:spPr>
          <a:xfrm rot="0">
            <a:off x="915048" y="5420000"/>
            <a:ext cx="1539711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❖ </a:t>
            </a:r>
            <a:r>
              <a:rPr lang="en-US" b="true" sz="4203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USP</a:t>
            </a:r>
          </a:p>
        </p:txBody>
      </p:sp>
      <p:sp>
        <p:nvSpPr>
          <p:cNvPr name="USPCardHead" id="120"/>
          <p:cNvSpPr/>
          <p:nvPr/>
        </p:nvSpPr>
        <p:spPr>
          <a:xfrm>
            <a:off x="617706" y="6230000"/>
            <a:ext cx="5497529" cy="285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 anchor="t" lIns="260000" rIns="240000" tIns="260000" bIns="200000"/>
          <a:lstStyle/>
          <a:p>
            <a:pPr algn="l"/>
            <a:r>
              <a:rPr lang="en-US" sz="1300" b="true">
                <a:solidFill>
                  <a:srgbClr val="063B42"/>
                </a:solidFill>
                <a:latin typeface="Arial"/>
                <a:cs typeface="Arial"/>
              </a:rPr>
              <a:t>★ KEY USP</a:t>
            </a:r>
          </a:p>
          <a:p>
            <a:pPr algn="l">
              <a:spcBef>
                <a:spcPts val="700"/>
              </a:spcBef>
            </a:pPr>
            <a:r>
              <a:rPr lang="en-US" sz="2600" b="true">
                <a:solidFill>
                  <a:srgbClr val="000000"/>
                </a:solidFill>
                <a:latin typeface="Arial"/>
                <a:cs typeface="Arial"/>
              </a:rPr>
              <a:t>Live Traffic API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lang="en-US" sz="1500">
                <a:solidFill>
                  <a:srgbClr val="05343B"/>
                </a:solidFill>
                <a:latin typeface="Arial"/>
                <a:cs typeface="Arial"/>
              </a:rPr>
              <a:t>Priority is weighted by real-time traffic volume. A hazard on a busy arterial outranks the same hazard on a quiet lane, so we fix by real exposure, not by who complains most.</a:t>
            </a:r>
          </a:p>
        </p:txBody>
      </p:sp>
      <p:sp>
        <p:nvSpPr>
          <p:cNvPr name="USPCard2" id="121"/>
          <p:cNvSpPr/>
          <p:nvPr/>
        </p:nvSpPr>
        <p:spPr>
          <a:xfrm>
            <a:off x="6395235" y="6230000"/>
            <a:ext cx="5497529" cy="2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t" lIns="300000" rIns="240000" tIns="300000" bIns="200000"/>
          <a:lstStyle/>
          <a:p>
            <a:pPr algn="l"/>
            <a:r>
              <a:rPr lang="en-US" sz="2000" b="true">
                <a:solidFill>
                  <a:srgbClr val="000000"/>
                </a:solidFill>
                <a:latin typeface="Arial"/>
                <a:cs typeface="Arial"/>
              </a:rPr>
              <a:t>One Shared Ranking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lang="en-US" sz="1500">
                <a:solidFill>
                  <a:srgbClr val="333333"/>
                </a:solidFill>
                <a:latin typeface="Arial"/>
                <a:cs typeface="Arial"/>
              </a:rPr>
              <a:t>Incident logs and complaints are scored on a single scale. No more triage by whoever shouts loudest, and no blind spots between the two systems.</a:t>
            </a:r>
          </a:p>
        </p:txBody>
      </p:sp>
      <p:sp>
        <p:nvSpPr>
          <p:cNvPr name="USPCard2Accent" id="123"/>
          <p:cNvSpPr/>
          <p:nvPr/>
        </p:nvSpPr>
        <p:spPr>
          <a:xfrm>
            <a:off x="6395235" y="6230000"/>
            <a:ext cx="90000" cy="285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USPCard3" id="122"/>
          <p:cNvSpPr/>
          <p:nvPr/>
        </p:nvSpPr>
        <p:spPr>
          <a:xfrm>
            <a:off x="12172764" y="6230000"/>
            <a:ext cx="5497529" cy="2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t" lIns="300000" rIns="240000" tIns="300000" bIns="200000"/>
          <a:lstStyle/>
          <a:p>
            <a:pPr algn="l"/>
            <a:r>
              <a:rPr lang="en-US" sz="2000" b="true">
                <a:solidFill>
                  <a:srgbClr val="000000"/>
                </a:solidFill>
                <a:latin typeface="Arial"/>
                <a:cs typeface="Arial"/>
              </a:rPr>
              <a:t>Risk, Not Report Count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lang="en-US" sz="1500">
                <a:solidFill>
                  <a:srgbClr val="333333"/>
                </a:solidFill>
                <a:latin typeface="Arial"/>
                <a:cs typeface="Arial"/>
              </a:rPr>
              <a:t>The obvious approach sorts by number of reports or date filed. We rank by real risk: severity x injuries x people exposed on the road.</a:t>
            </a:r>
          </a:p>
        </p:txBody>
      </p:sp>
      <p:sp>
        <p:nvSpPr>
          <p:cNvPr name="USPCard3Accent" id="124"/>
          <p:cNvSpPr/>
          <p:nvPr/>
        </p:nvSpPr>
        <p:spPr>
          <a:xfrm>
            <a:off x="12172764" y="6230000"/>
            <a:ext cx="90000" cy="285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676716" y="343167"/>
            <a:ext cx="12903117" cy="1304039"/>
            <a:chOff x="0" y="0"/>
            <a:chExt cx="17204157" cy="1738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204161" cy="1738718"/>
            </a:xfrm>
            <a:custGeom>
              <a:avLst/>
              <a:gdLst/>
              <a:ahLst/>
              <a:cxnLst/>
              <a:rect r="r" b="b" t="t" l="l"/>
              <a:pathLst>
                <a:path h="1738718" w="17204161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2799" r="0" b="-14279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7204157" cy="17672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4"/>
                </a:lnSpc>
              </a:pPr>
              <a:r>
                <a:rPr lang="en-US" sz="450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DATASET &amp; INSIGHTS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7706" y="205902"/>
            <a:ext cx="1718386" cy="1372676"/>
            <a:chOff x="0" y="0"/>
            <a:chExt cx="2291182" cy="1830235"/>
          </a:xfrm>
        </p:grpSpPr>
        <p:sp>
          <p:nvSpPr>
            <p:cNvPr name="Freeform 6" id="6" descr="logo-dsc-light.png"/>
            <p:cNvSpPr/>
            <p:nvPr/>
          </p:nvSpPr>
          <p:spPr>
            <a:xfrm flipH="false" flipV="false" rot="0">
              <a:off x="0" y="0"/>
              <a:ext cx="2291207" cy="1830197"/>
            </a:xfrm>
            <a:custGeom>
              <a:avLst/>
              <a:gdLst/>
              <a:ahLst/>
              <a:cxnLst/>
              <a:rect r="r" b="b" t="t" l="l"/>
              <a:pathLst>
                <a:path h="1830197" w="229120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-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373931" y="480431"/>
            <a:ext cx="2248529" cy="851059"/>
            <a:chOff x="0" y="0"/>
            <a:chExt cx="2998038" cy="1134745"/>
          </a:xfrm>
        </p:grpSpPr>
        <p:sp>
          <p:nvSpPr>
            <p:cNvPr name="Freeform 8" id="8" descr="logo-iiec-light.png"/>
            <p:cNvSpPr/>
            <p:nvPr/>
          </p:nvSpPr>
          <p:spPr>
            <a:xfrm flipH="false" flipV="false" rot="0">
              <a:off x="0" y="0"/>
              <a:ext cx="2998089" cy="1134745"/>
            </a:xfrm>
            <a:custGeom>
              <a:avLst/>
              <a:gdLst/>
              <a:ahLst/>
              <a:cxnLst/>
              <a:rect r="r" b="b" t="t" l="l"/>
              <a:pathLst>
                <a:path h="1134745" w="2998089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4402414" cy="1006602"/>
            </a:xfrm>
            <a:custGeom>
              <a:avLst/>
              <a:gdLst/>
              <a:ahLst/>
              <a:cxnLst/>
              <a:rect r="r" b="b" t="t" l="l"/>
              <a:pathLst>
                <a:path h="1006602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2455" cy="1006626"/>
            </a:xfrm>
            <a:custGeom>
              <a:avLst/>
              <a:gdLst/>
              <a:ahLst/>
              <a:cxnLst/>
              <a:rect r="r" b="b" t="t" l="l"/>
              <a:pathLst>
                <a:path h="1006626" w="24402455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2352" r="0" b="-42235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4402453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1"/>
                </a:lnSpc>
              </a:pPr>
              <a:r>
                <a:rPr lang="en-US" sz="180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DATATHON 2026  ·  Round 1 Idea Submission – Template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334804" y="9540069"/>
            <a:ext cx="1509941" cy="754971"/>
            <a:chOff x="0" y="0"/>
            <a:chExt cx="2013255" cy="100662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13253" cy="1006626"/>
            </a:xfrm>
            <a:custGeom>
              <a:avLst/>
              <a:gdLst/>
              <a:ahLst/>
              <a:cxnLst/>
              <a:rect r="r" b="b" t="t" l="l"/>
              <a:pathLst>
                <a:path h="1006626" w="2013253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013255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1"/>
                </a:lnSpc>
              </a:pPr>
              <a:r>
                <a:rPr lang="en-US" sz="195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915048" y="2291582"/>
            <a:ext cx="16426453" cy="75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❖ </a:t>
            </a:r>
            <a:r>
              <a:rPr lang="en-US" b="true" sz="4203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Dataset &amp; Insights</a:t>
            </a:r>
          </a:p>
        </p:txBody>
      </p:sp>
      <p:sp>
        <p:nvSpPr>
          <p:cNvPr name="Src0" id="100"/>
          <p:cNvSpPr/>
          <p:nvPr/>
        </p:nvSpPr>
        <p:spPr>
          <a:xfrm>
            <a:off x="617706" y="3140000"/>
            <a:ext cx="5497529" cy="1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SrcAcc0" id="103"/>
          <p:cNvSpPr/>
          <p:nvPr/>
        </p:nvSpPr>
        <p:spPr>
          <a:xfrm>
            <a:off x="617706" y="3140000"/>
            <a:ext cx="90000" cy="150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rcTxt0" id="106"/>
          <p:cNvSpPr txBox="true"/>
          <p:nvPr/>
        </p:nvSpPr>
        <p:spPr>
          <a:xfrm>
            <a:off x="617706" y="3140000"/>
            <a:ext cx="5497529" cy="1500000"/>
          </a:xfrm>
          <a:prstGeom prst="rect">
            <a:avLst/>
          </a:prstGeom>
        </p:spPr>
        <p:txBody>
          <a:bodyPr anchor="ctr" lIns="300000" rIns="240000" tIns="80000" bIns="80000"/>
          <a:lstStyle/>
          <a:p>
            <a:pPr algn="l"/>
            <a:r>
              <a:rPr lang="en-US" sz="2600" b="true">
                <a:solidFill>
                  <a:srgbClr val="0B9FB0"/>
                </a:solidFill>
                <a:latin typeface="Arial"/>
                <a:cs typeface="Arial"/>
              </a:rPr>
              <a:t>1,000  </a:t>
            </a:r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Locations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250">
                <a:solidFill>
                  <a:srgbClr val="333333"/>
                </a:solidFill>
                <a:latin typeface="Arial"/>
                <a:cs typeface="Arial"/>
              </a:rPr>
              <a:t>road type and condition, pedestrian activity, near school/hospital, lat and long</a:t>
            </a:r>
          </a:p>
        </p:txBody>
      </p:sp>
      <p:sp>
        <p:nvSpPr>
          <p:cNvPr name="Src1" id="101"/>
          <p:cNvSpPr/>
          <p:nvPr/>
        </p:nvSpPr>
        <p:spPr>
          <a:xfrm>
            <a:off x="6395235" y="3140000"/>
            <a:ext cx="5497529" cy="1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SrcAcc1" id="104"/>
          <p:cNvSpPr/>
          <p:nvPr/>
        </p:nvSpPr>
        <p:spPr>
          <a:xfrm>
            <a:off x="6395235" y="3140000"/>
            <a:ext cx="90000" cy="150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rcTxt1" id="107"/>
          <p:cNvSpPr txBox="true"/>
          <p:nvPr/>
        </p:nvSpPr>
        <p:spPr>
          <a:xfrm>
            <a:off x="6395235" y="3140000"/>
            <a:ext cx="5497529" cy="1500000"/>
          </a:xfrm>
          <a:prstGeom prst="rect">
            <a:avLst/>
          </a:prstGeom>
        </p:spPr>
        <p:txBody>
          <a:bodyPr anchor="ctr" lIns="300000" rIns="240000" tIns="80000" bIns="80000"/>
          <a:lstStyle/>
          <a:p>
            <a:pPr algn="l"/>
            <a:r>
              <a:rPr lang="en-US" sz="2600" b="true">
                <a:solidFill>
                  <a:srgbClr val="0B9FB0"/>
                </a:solidFill>
                <a:latin typeface="Arial"/>
                <a:cs typeface="Arial"/>
              </a:rPr>
              <a:t>10,000  </a:t>
            </a:r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Incidents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250">
                <a:solidFill>
                  <a:srgbClr val="333333"/>
                </a:solidFill>
                <a:latin typeface="Arial"/>
                <a:cs typeface="Arial"/>
              </a:rPr>
              <a:t>severity, injuries, resolution hours and resolved flag, across Jan to Dec 2025</a:t>
            </a:r>
          </a:p>
        </p:txBody>
      </p:sp>
      <p:sp>
        <p:nvSpPr>
          <p:cNvPr name="Src2" id="102"/>
          <p:cNvSpPr/>
          <p:nvPr/>
        </p:nvSpPr>
        <p:spPr>
          <a:xfrm>
            <a:off x="12172764" y="3140000"/>
            <a:ext cx="5497529" cy="1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SrcAcc2" id="105"/>
          <p:cNvSpPr/>
          <p:nvPr/>
        </p:nvSpPr>
        <p:spPr>
          <a:xfrm>
            <a:off x="12172764" y="3140000"/>
            <a:ext cx="90000" cy="150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rcTxt2" id="108"/>
          <p:cNvSpPr txBox="true"/>
          <p:nvPr/>
        </p:nvSpPr>
        <p:spPr>
          <a:xfrm>
            <a:off x="12172764" y="3140000"/>
            <a:ext cx="5497529" cy="1500000"/>
          </a:xfrm>
          <a:prstGeom prst="rect">
            <a:avLst/>
          </a:prstGeom>
        </p:spPr>
        <p:txBody>
          <a:bodyPr anchor="ctr" lIns="300000" rIns="240000" tIns="80000" bIns="80000"/>
          <a:lstStyle/>
          <a:p>
            <a:pPr algn="l"/>
            <a:r>
              <a:rPr lang="en-US" sz="2600" b="true">
                <a:solidFill>
                  <a:srgbClr val="0B9FB0"/>
                </a:solidFill>
                <a:latin typeface="Arial"/>
                <a:cs typeface="Arial"/>
              </a:rPr>
              <a:t>8,000  </a:t>
            </a:r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Public complaints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250">
                <a:solidFill>
                  <a:srgbClr val="333333"/>
                </a:solidFill>
                <a:latin typeface="Arial"/>
                <a:cs typeface="Arial"/>
              </a:rPr>
              <a:t>category, reported priority, status and days to resolution</a:t>
            </a:r>
          </a:p>
        </p:txBody>
      </p:sp>
      <p:sp>
        <p:nvSpPr>
          <p:cNvPr name="ChartCard" id="110"/>
          <p:cNvSpPr/>
          <p:nvPr/>
        </p:nvSpPr>
        <p:spPr>
          <a:xfrm>
            <a:off x="617706" y="4820000"/>
            <a:ext cx="9100000" cy="4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ChartTitle" id="111"/>
          <p:cNvSpPr txBox="true"/>
          <p:nvPr/>
        </p:nvSpPr>
        <p:spPr>
          <a:xfrm>
            <a:off x="817706" y="4950000"/>
            <a:ext cx="8700000" cy="76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l"/>
            <a:r>
              <a:rPr lang="en-US" sz="1600" b="true">
                <a:solidFill>
                  <a:srgbClr val="000000"/>
                </a:solidFill>
                <a:latin typeface="Arial"/>
                <a:cs typeface="Arial"/>
              </a:rPr>
              <a:t>Resolution time is flat across severity (hrs)</a:t>
            </a:r>
          </a:p>
          <a:p>
            <a:pPr algn="l">
              <a:spcBef>
                <a:spcPts val="3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Critical spots are fixed no faster than Low.</a:t>
            </a:r>
          </a:p>
        </p:txBody>
      </p:sp>
      <p:sp>
        <p:nvSpPr>
          <p:cNvPr name="Axis" id="112"/>
          <p:cNvSpPr/>
          <p:nvPr/>
        </p:nvSpPr>
        <p:spPr>
          <a:xfrm>
            <a:off x="1317706" y="8650000"/>
            <a:ext cx="7900000" cy="16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Bar0" id="113"/>
          <p:cNvSpPr/>
          <p:nvPr/>
        </p:nvSpPr>
        <p:spPr>
          <a:xfrm>
            <a:off x="1317706" y="5995429"/>
            <a:ext cx="1500000" cy="2654571"/>
          </a:xfrm>
          <a:prstGeom prst="rect">
            <a:avLst/>
          </a:prstGeom>
          <a:solidFill>
            <a:srgbClr val="9AEE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Val0" id="117"/>
          <p:cNvSpPr txBox="true"/>
          <p:nvPr/>
        </p:nvSpPr>
        <p:spPr>
          <a:xfrm>
            <a:off x="1317706" y="5565429"/>
            <a:ext cx="1500000" cy="400000"/>
          </a:xfrm>
          <a:prstGeom prst="rect">
            <a:avLst/>
          </a:prstGeom>
        </p:spPr>
        <p:txBody>
          <a:bodyPr anchor="b" lIns="0" rIns="0" tIns="0" bIns="0"/>
          <a:lstStyle/>
          <a:p>
            <a:pPr algn="ctr"/>
            <a:r>
              <a:rPr lang="en-US" sz="1500" b="true">
                <a:solidFill>
                  <a:srgbClr val="000000"/>
                </a:solidFill>
                <a:latin typeface="Arial"/>
                <a:cs typeface="Arial"/>
              </a:rPr>
              <a:t>32.6</a:t>
            </a:r>
          </a:p>
        </p:txBody>
      </p:sp>
      <p:sp>
        <p:nvSpPr>
          <p:cNvPr name="Cat0" id="121"/>
          <p:cNvSpPr txBox="true"/>
          <p:nvPr/>
        </p:nvSpPr>
        <p:spPr>
          <a:xfrm>
            <a:off x="1317706" y="8710000"/>
            <a:ext cx="1500000" cy="36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ctr"/>
            <a:r>
              <a:rPr lang="en-US" sz="1400">
                <a:solidFill>
                  <a:srgbClr val="000000"/>
                </a:solidFill>
                <a:latin typeface="Arial"/>
                <a:cs typeface="Arial"/>
              </a:rPr>
              <a:t>Low</a:t>
            </a:r>
          </a:p>
        </p:txBody>
      </p:sp>
      <p:sp>
        <p:nvSpPr>
          <p:cNvPr name="Bar1" id="114"/>
          <p:cNvSpPr/>
          <p:nvPr/>
        </p:nvSpPr>
        <p:spPr>
          <a:xfrm>
            <a:off x="3451039" y="6068715"/>
            <a:ext cx="1500000" cy="2581285"/>
          </a:xfrm>
          <a:prstGeom prst="rect">
            <a:avLst/>
          </a:prstGeom>
          <a:solidFill>
            <a:srgbClr val="9AEE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Val1" id="118"/>
          <p:cNvSpPr txBox="true"/>
          <p:nvPr/>
        </p:nvSpPr>
        <p:spPr>
          <a:xfrm>
            <a:off x="3451039" y="5638715"/>
            <a:ext cx="1500000" cy="400000"/>
          </a:xfrm>
          <a:prstGeom prst="rect">
            <a:avLst/>
          </a:prstGeom>
        </p:spPr>
        <p:txBody>
          <a:bodyPr anchor="b" lIns="0" rIns="0" tIns="0" bIns="0"/>
          <a:lstStyle/>
          <a:p>
            <a:pPr algn="ctr"/>
            <a:r>
              <a:rPr lang="en-US" sz="1500" b="true">
                <a:solidFill>
                  <a:srgbClr val="000000"/>
                </a:solidFill>
                <a:latin typeface="Arial"/>
                <a:cs typeface="Arial"/>
              </a:rPr>
              <a:t>31.7</a:t>
            </a:r>
          </a:p>
        </p:txBody>
      </p:sp>
      <p:sp>
        <p:nvSpPr>
          <p:cNvPr name="Cat1" id="122"/>
          <p:cNvSpPr txBox="true"/>
          <p:nvPr/>
        </p:nvSpPr>
        <p:spPr>
          <a:xfrm>
            <a:off x="3451039" y="8710000"/>
            <a:ext cx="1500000" cy="36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ctr"/>
            <a:r>
              <a:rPr lang="en-US" sz="1400">
                <a:solidFill>
                  <a:srgbClr val="000000"/>
                </a:solidFill>
                <a:latin typeface="Arial"/>
                <a:cs typeface="Arial"/>
              </a:rPr>
              <a:t>Medium</a:t>
            </a:r>
          </a:p>
        </p:txBody>
      </p:sp>
      <p:sp>
        <p:nvSpPr>
          <p:cNvPr name="Bar2" id="115"/>
          <p:cNvSpPr/>
          <p:nvPr/>
        </p:nvSpPr>
        <p:spPr>
          <a:xfrm>
            <a:off x="5584372" y="5987286"/>
            <a:ext cx="1500000" cy="2662714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Val2" id="119"/>
          <p:cNvSpPr txBox="true"/>
          <p:nvPr/>
        </p:nvSpPr>
        <p:spPr>
          <a:xfrm>
            <a:off x="5584372" y="5557286"/>
            <a:ext cx="1500000" cy="400000"/>
          </a:xfrm>
          <a:prstGeom prst="rect">
            <a:avLst/>
          </a:prstGeom>
        </p:spPr>
        <p:txBody>
          <a:bodyPr anchor="b" lIns="0" rIns="0" tIns="0" bIns="0"/>
          <a:lstStyle/>
          <a:p>
            <a:pPr algn="ctr"/>
            <a:r>
              <a:rPr lang="en-US" sz="1500" b="true">
                <a:solidFill>
                  <a:srgbClr val="000000"/>
                </a:solidFill>
                <a:latin typeface="Arial"/>
                <a:cs typeface="Arial"/>
              </a:rPr>
              <a:t>32.7</a:t>
            </a:r>
          </a:p>
        </p:txBody>
      </p:sp>
      <p:sp>
        <p:nvSpPr>
          <p:cNvPr name="Cat2" id="123"/>
          <p:cNvSpPr txBox="true"/>
          <p:nvPr/>
        </p:nvSpPr>
        <p:spPr>
          <a:xfrm>
            <a:off x="5584372" y="8710000"/>
            <a:ext cx="1500000" cy="36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ctr"/>
            <a:r>
              <a:rPr lang="en-US" sz="1400">
                <a:solidFill>
                  <a:srgbClr val="000000"/>
                </a:solidFill>
                <a:latin typeface="Arial"/>
                <a:cs typeface="Arial"/>
              </a:rPr>
              <a:t>High</a:t>
            </a:r>
          </a:p>
        </p:txBody>
      </p:sp>
      <p:sp>
        <p:nvSpPr>
          <p:cNvPr name="Bar3" id="116"/>
          <p:cNvSpPr/>
          <p:nvPr/>
        </p:nvSpPr>
        <p:spPr>
          <a:xfrm>
            <a:off x="7717706" y="6109429"/>
            <a:ext cx="1500000" cy="2540571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Val3" id="120"/>
          <p:cNvSpPr txBox="true"/>
          <p:nvPr/>
        </p:nvSpPr>
        <p:spPr>
          <a:xfrm>
            <a:off x="7717706" y="5679429"/>
            <a:ext cx="1500000" cy="400000"/>
          </a:xfrm>
          <a:prstGeom prst="rect">
            <a:avLst/>
          </a:prstGeom>
        </p:spPr>
        <p:txBody>
          <a:bodyPr anchor="b" lIns="0" rIns="0" tIns="0" bIns="0"/>
          <a:lstStyle/>
          <a:p>
            <a:pPr algn="ctr"/>
            <a:r>
              <a:rPr lang="en-US" sz="1500" b="true">
                <a:solidFill>
                  <a:srgbClr val="000000"/>
                </a:solidFill>
                <a:latin typeface="Arial"/>
                <a:cs typeface="Arial"/>
              </a:rPr>
              <a:t>31.2</a:t>
            </a:r>
          </a:p>
        </p:txBody>
      </p:sp>
      <p:sp>
        <p:nvSpPr>
          <p:cNvPr name="Cat3" id="124"/>
          <p:cNvSpPr txBox="true"/>
          <p:nvPr/>
        </p:nvSpPr>
        <p:spPr>
          <a:xfrm>
            <a:off x="7717706" y="8710000"/>
            <a:ext cx="1500000" cy="36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ctr"/>
            <a:r>
              <a:rPr lang="en-US" sz="1400">
                <a:solidFill>
                  <a:srgbClr val="000000"/>
                </a:solidFill>
                <a:latin typeface="Arial"/>
                <a:cs typeface="Arial"/>
              </a:rPr>
              <a:t>Critical</a:t>
            </a:r>
          </a:p>
        </p:txBody>
      </p:sp>
      <p:sp>
        <p:nvSpPr>
          <p:cNvPr name="DivCard" id="130"/>
          <p:cNvSpPr/>
          <p:nvPr/>
        </p:nvSpPr>
        <p:spPr>
          <a:xfrm>
            <a:off x="10017706" y="4820000"/>
            <a:ext cx="7652588" cy="4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DivAcc" id="129"/>
          <p:cNvSpPr/>
          <p:nvPr/>
        </p:nvSpPr>
        <p:spPr>
          <a:xfrm>
            <a:off x="10017706" y="4820000"/>
            <a:ext cx="90000" cy="433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DivTitle" id="131"/>
          <p:cNvSpPr txBox="true"/>
          <p:nvPr/>
        </p:nvSpPr>
        <p:spPr>
          <a:xfrm>
            <a:off x="10277706" y="4950000"/>
            <a:ext cx="7152588" cy="50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l"/>
            <a:r>
              <a:rPr lang="en-US" sz="1600" b="true">
                <a:solidFill>
                  <a:srgbClr val="000000"/>
                </a:solidFill>
                <a:latin typeface="Arial"/>
                <a:cs typeface="Arial"/>
              </a:rPr>
              <a:t>Complaints vs real risk  (Module 3)</a:t>
            </a:r>
          </a:p>
        </p:txBody>
      </p:sp>
      <p:sp>
        <p:nvSpPr>
          <p:cNvPr name="DivHead" id="132"/>
          <p:cNvSpPr txBox="true"/>
          <p:nvPr/>
        </p:nvSpPr>
        <p:spPr>
          <a:xfrm>
            <a:off x="10277706" y="5440000"/>
            <a:ext cx="7152588" cy="900000"/>
          </a:xfrm>
          <a:prstGeom prst="rect">
            <a:avLst/>
          </a:prstGeom>
        </p:spPr>
        <p:txBody>
          <a:bodyPr anchor="t" lIns="0" rIns="0" tIns="0" bIns="0"/>
          <a:lstStyle/>
          <a:p>
            <a:pPr algn="l"/>
            <a:r>
              <a:rPr lang="en-US" sz="3000" b="true">
                <a:solidFill>
                  <a:srgbClr val="0B9FB0"/>
                </a:solidFill>
                <a:latin typeface="Arial"/>
                <a:cs typeface="Arial"/>
              </a:rPr>
              <a:t>Nearly 1 in 2  </a:t>
            </a:r>
            <a:r>
              <a:rPr lang="en-US" sz="2000" b="true">
                <a:solidFill>
                  <a:srgbClr val="000000"/>
                </a:solidFill>
                <a:latin typeface="Arial"/>
                <a:cs typeface="Arial"/>
              </a:rPr>
              <a:t>locations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have complaints that do not match real incident risk.</a:t>
            </a:r>
          </a:p>
        </p:txBody>
      </p:sp>
      <p:sp>
        <p:nvSpPr>
          <p:cNvPr name="Seg0" id="133"/>
          <p:cNvSpPr/>
          <p:nvPr/>
        </p:nvSpPr>
        <p:spPr>
          <a:xfrm>
            <a:off x="10277706" y="6770000"/>
            <a:ext cx="1825942" cy="360000"/>
          </a:xfrm>
          <a:prstGeom prst="rect">
            <a:avLst/>
          </a:prstGeom>
          <a:solidFill>
            <a:srgbClr val="9AEE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eg1" id="134"/>
          <p:cNvSpPr/>
          <p:nvPr/>
        </p:nvSpPr>
        <p:spPr>
          <a:xfrm>
            <a:off x="12103648" y="6770000"/>
            <a:ext cx="3644752" cy="36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Seg2" id="135"/>
          <p:cNvSpPr/>
          <p:nvPr/>
        </p:nvSpPr>
        <p:spPr>
          <a:xfrm>
            <a:off x="15748400" y="6770000"/>
            <a:ext cx="1661894" cy="36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Chip0" id="136"/>
          <p:cNvSpPr/>
          <p:nvPr/>
        </p:nvSpPr>
        <p:spPr>
          <a:xfrm>
            <a:off x="10277706" y="7410000"/>
            <a:ext cx="230000" cy="230000"/>
          </a:xfrm>
          <a:prstGeom prst="rect">
            <a:avLst/>
          </a:prstGeom>
          <a:solidFill>
            <a:srgbClr val="9AEE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Leg0" id="139"/>
          <p:cNvSpPr txBox="true"/>
          <p:nvPr/>
        </p:nvSpPr>
        <p:spPr>
          <a:xfrm>
            <a:off x="10637706" y="7370000"/>
            <a:ext cx="6772588" cy="520000"/>
          </a:xfrm>
          <a:prstGeom prst="rect">
            <a:avLst/>
          </a:prstGeom>
        </p:spPr>
        <p:txBody>
          <a:bodyPr anchor="ctr" lIns="0" rIns="0" tIns="0" bIns="0"/>
          <a:lstStyle/>
          <a:p>
            <a:pPr algn="l"/>
            <a:r>
              <a:rPr lang="en-US" sz="1350" b="true">
                <a:solidFill>
                  <a:srgbClr val="000000"/>
                </a:solidFill>
                <a:latin typeface="Arial"/>
                <a:cs typeface="Arial"/>
              </a:rPr>
              <a:t>25.6%  </a:t>
            </a: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Over-reported: loud complaints, low real risk</a:t>
            </a:r>
          </a:p>
        </p:txBody>
      </p:sp>
      <p:sp>
        <p:nvSpPr>
          <p:cNvPr name="Chip1" id="137"/>
          <p:cNvSpPr/>
          <p:nvPr/>
        </p:nvSpPr>
        <p:spPr>
          <a:xfrm>
            <a:off x="10277706" y="7930000"/>
            <a:ext cx="230000" cy="23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Leg1" id="140"/>
          <p:cNvSpPr txBox="true"/>
          <p:nvPr/>
        </p:nvSpPr>
        <p:spPr>
          <a:xfrm>
            <a:off x="10637706" y="7890000"/>
            <a:ext cx="6772588" cy="520000"/>
          </a:xfrm>
          <a:prstGeom prst="rect">
            <a:avLst/>
          </a:prstGeom>
        </p:spPr>
        <p:txBody>
          <a:bodyPr anchor="ctr" lIns="0" rIns="0" tIns="0" bIns="0"/>
          <a:lstStyle/>
          <a:p>
            <a:pPr algn="l"/>
            <a:r>
              <a:rPr lang="en-US" sz="1350" b="true">
                <a:solidFill>
                  <a:srgbClr val="000000"/>
                </a:solidFill>
                <a:latin typeface="Arial"/>
                <a:cs typeface="Arial"/>
              </a:rPr>
              <a:t>51.1%  </a:t>
            </a: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Aligned: complaints track real risk</a:t>
            </a:r>
          </a:p>
        </p:txBody>
      </p:sp>
      <p:sp>
        <p:nvSpPr>
          <p:cNvPr name="Chip2" id="138"/>
          <p:cNvSpPr/>
          <p:nvPr/>
        </p:nvSpPr>
        <p:spPr>
          <a:xfrm>
            <a:off x="10277706" y="8450000"/>
            <a:ext cx="230000" cy="23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Leg2" id="141"/>
          <p:cNvSpPr txBox="true"/>
          <p:nvPr/>
        </p:nvSpPr>
        <p:spPr>
          <a:xfrm>
            <a:off x="10637706" y="8410000"/>
            <a:ext cx="6772588" cy="520000"/>
          </a:xfrm>
          <a:prstGeom prst="rect">
            <a:avLst/>
          </a:prstGeom>
        </p:spPr>
        <p:txBody>
          <a:bodyPr anchor="ctr" lIns="0" rIns="0" tIns="0" bIns="0"/>
          <a:lstStyle/>
          <a:p>
            <a:pPr algn="l"/>
            <a:r>
              <a:rPr lang="en-US" sz="1350" b="true">
                <a:solidFill>
                  <a:srgbClr val="000000"/>
                </a:solidFill>
                <a:latin typeface="Arial"/>
                <a:cs typeface="Arial"/>
              </a:rPr>
              <a:t>23.3%  </a:t>
            </a: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Under-reported: real risk, few complaints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156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ML MODEL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8" name="Group 5"/>
          <p:cNvGrpSpPr/>
          <p:nvPr/>
        </p:nvGrpSpPr>
        <p:grpSpPr>
          <a:xfrm>
            <a:off x="617760" y="205920"/>
            <a:ext cx="1717920" cy="1372320"/>
            <a:chOff x="617760" y="205920"/>
            <a:chExt cx="1717920" cy="1372320"/>
          </a:xfrm>
        </p:grpSpPr>
        <p:sp>
          <p:nvSpPr>
            <p:cNvPr id="159" name="Freeform 6" descr="logo-dsc-light.png"/>
            <p:cNvSpPr/>
            <p:nvPr/>
          </p:nvSpPr>
          <p:spPr>
            <a:xfrm>
              <a:off x="617760" y="20592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0" name="Group 7"/>
          <p:cNvGrpSpPr/>
          <p:nvPr/>
        </p:nvGrpSpPr>
        <p:grpSpPr>
          <a:xfrm>
            <a:off x="15373800" y="480600"/>
            <a:ext cx="2248200" cy="850680"/>
            <a:chOff x="15373800" y="480600"/>
            <a:chExt cx="2248200" cy="850680"/>
          </a:xfrm>
        </p:grpSpPr>
        <p:sp>
          <p:nvSpPr>
            <p:cNvPr id="161" name="Freeform 8" descr="logo-iiec-light.png"/>
            <p:cNvSpPr/>
            <p:nvPr/>
          </p:nvSpPr>
          <p:spPr>
            <a:xfrm>
              <a:off x="15373800" y="480600"/>
              <a:ext cx="2248200" cy="850680"/>
            </a:xfrm>
            <a:custGeom>
              <a:avLst/>
              <a:gdLst>
                <a:gd name="textAreaLeft" fmla="*/ 0 w 2248200"/>
                <a:gd name="textAreaRight" fmla="*/ 2248560 w 2248200"/>
                <a:gd name="textAreaTop" fmla="*/ 0 h 850680"/>
                <a:gd name="textAreaBottom" fmla="*/ 851040 h 85068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2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163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4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165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7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168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 defTabSz="914400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5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Freeform 17"/>
          <p:cNvSpPr/>
          <p:nvPr/>
        </p:nvSpPr>
        <p:spPr>
          <a:xfrm>
            <a:off x="832680" y="3233160"/>
            <a:ext cx="7563240" cy="1951920"/>
          </a:xfrm>
          <a:custGeom>
            <a:avLst/>
            <a:gdLst>
              <a:gd name="textAreaLeft" fmla="*/ 0 w 7563240"/>
              <a:gd name="textAreaRight" fmla="*/ 7563600 w 7563240"/>
              <a:gd name="textAreaTop" fmla="*/ 0 h 1951920"/>
              <a:gd name="textAreaBottom" fmla="*/ 1952280 h 1951920"/>
            </a:gdLst>
            <a:ahLst/>
            <a:cxnLst/>
            <a:rect l="textAreaLeft" t="textAreaTop" r="textAreaRight" b="textAreaBottom"/>
            <a:pathLst>
              <a:path w="7563478" h="1952323">
                <a:moveTo>
                  <a:pt x="0" y="0"/>
                </a:moveTo>
                <a:lnTo>
                  <a:pt x="7563478" y="0"/>
                </a:lnTo>
                <a:lnTo>
                  <a:pt x="7563478" y="1952323"/>
                </a:lnTo>
                <a:lnTo>
                  <a:pt x="0" y="195232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Freeform 18"/>
          <p:cNvSpPr/>
          <p:nvPr/>
        </p:nvSpPr>
        <p:spPr>
          <a:xfrm>
            <a:off x="9966600" y="3251880"/>
            <a:ext cx="6222600" cy="1882440"/>
          </a:xfrm>
          <a:custGeom>
            <a:avLst/>
            <a:gdLst>
              <a:gd name="textAreaLeft" fmla="*/ 0 w 6222600"/>
              <a:gd name="textAreaRight" fmla="*/ 6222960 w 6222600"/>
              <a:gd name="textAreaTop" fmla="*/ 0 h 1882440"/>
              <a:gd name="textAreaBottom" fmla="*/ 1882800 h 1882440"/>
            </a:gdLst>
            <a:ahLst/>
            <a:cxnLst/>
            <a:rect l="textAreaLeft" t="textAreaTop" r="textAreaRight" b="textAreaBottom"/>
            <a:pathLst>
              <a:path w="6223011" h="1882698">
                <a:moveTo>
                  <a:pt x="0" y="0"/>
                </a:moveTo>
                <a:lnTo>
                  <a:pt x="6223011" y="0"/>
                </a:lnTo>
                <a:lnTo>
                  <a:pt x="6223011" y="1882698"/>
                </a:lnTo>
                <a:lnTo>
                  <a:pt x="0" y="18826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Freeform 19"/>
          <p:cNvSpPr/>
          <p:nvPr/>
        </p:nvSpPr>
        <p:spPr>
          <a:xfrm>
            <a:off x="715680" y="6179400"/>
            <a:ext cx="7247160" cy="2426040"/>
          </a:xfrm>
          <a:custGeom>
            <a:avLst/>
            <a:gdLst>
              <a:gd name="textAreaLeft" fmla="*/ 0 w 7247160"/>
              <a:gd name="textAreaRight" fmla="*/ 7247520 w 7247160"/>
              <a:gd name="textAreaTop" fmla="*/ 0 h 2426040"/>
              <a:gd name="textAreaBottom" fmla="*/ 2426400 h 2426040"/>
            </a:gdLst>
            <a:ahLst/>
            <a:cxnLst/>
            <a:rect l="textAreaLeft" t="textAreaTop" r="textAreaRight" b="textAreaBottom"/>
            <a:pathLst>
              <a:path w="7247661" h="2426323">
                <a:moveTo>
                  <a:pt x="0" y="0"/>
                </a:moveTo>
                <a:lnTo>
                  <a:pt x="7247661" y="0"/>
                </a:lnTo>
                <a:lnTo>
                  <a:pt x="7247661" y="2426323"/>
                </a:lnTo>
                <a:lnTo>
                  <a:pt x="0" y="242632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Freeform 20"/>
          <p:cNvSpPr/>
          <p:nvPr/>
        </p:nvSpPr>
        <p:spPr>
          <a:xfrm>
            <a:off x="9966600" y="6166440"/>
            <a:ext cx="5224320" cy="3269160"/>
          </a:xfrm>
          <a:custGeom>
            <a:avLst/>
            <a:gdLst>
              <a:gd name="textAreaLeft" fmla="*/ 0 w 5224320"/>
              <a:gd name="textAreaRight" fmla="*/ 5224680 w 5224320"/>
              <a:gd name="textAreaTop" fmla="*/ 0 h 3269160"/>
              <a:gd name="textAreaBottom" fmla="*/ 3269520 h 3269160"/>
            </a:gdLst>
            <a:ahLst/>
            <a:cxnLst/>
            <a:rect l="textAreaLeft" t="textAreaTop" r="textAreaRight" b="textAreaBottom"/>
            <a:pathLst>
              <a:path w="5224820" h="3269455">
                <a:moveTo>
                  <a:pt x="0" y="0"/>
                </a:moveTo>
                <a:lnTo>
                  <a:pt x="5224820" y="0"/>
                </a:lnTo>
                <a:lnTo>
                  <a:pt x="5224820" y="3269454"/>
                </a:lnTo>
                <a:lnTo>
                  <a:pt x="0" y="32694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21"/>
          <p:cNvSpPr/>
          <p:nvPr/>
        </p:nvSpPr>
        <p:spPr>
          <a:xfrm>
            <a:off x="715680" y="169164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ML Approach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22"/>
          <p:cNvSpPr/>
          <p:nvPr/>
        </p:nvSpPr>
        <p:spPr>
          <a:xfrm>
            <a:off x="832680" y="2718720"/>
            <a:ext cx="58449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Module 1: Uncertainty Bands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23"/>
          <p:cNvSpPr/>
          <p:nvPr/>
        </p:nvSpPr>
        <p:spPr>
          <a:xfrm>
            <a:off x="9943920" y="2566440"/>
            <a:ext cx="58449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Module 2: Calibrated Risk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24"/>
          <p:cNvSpPr/>
          <p:nvPr/>
        </p:nvSpPr>
        <p:spPr>
          <a:xfrm>
            <a:off x="832680" y="5461560"/>
            <a:ext cx="58449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Module 3: Blind-Spot Detector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5"/>
          <p:cNvSpPr/>
          <p:nvPr/>
        </p:nvSpPr>
        <p:spPr>
          <a:xfrm>
            <a:off x="9943920" y="5480640"/>
            <a:ext cx="584496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3844"/>
              </a:lnSpc>
            </a:pPr>
            <a:r>
              <a:rPr lang="en-US" sz="3209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How Output Is Used:</a:t>
            </a:r>
            <a:endParaRPr lang="en-IN" sz="32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676716" y="343167"/>
            <a:ext cx="12903117" cy="1304039"/>
            <a:chOff x="0" y="0"/>
            <a:chExt cx="17204157" cy="1738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204161" cy="1738718"/>
            </a:xfrm>
            <a:custGeom>
              <a:avLst/>
              <a:gdLst/>
              <a:ahLst/>
              <a:cxnLst/>
              <a:rect r="r" b="b" t="t" l="l"/>
              <a:pathLst>
                <a:path h="1738718" w="17204161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2799" r="0" b="-14279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7204157" cy="17672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4"/>
                </a:lnSpc>
              </a:pPr>
              <a:r>
                <a:rPr lang="en-US" sz="450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BASE PROTOTYPE &amp; MVP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7706" y="205902"/>
            <a:ext cx="1718386" cy="1372676"/>
            <a:chOff x="0" y="0"/>
            <a:chExt cx="2291182" cy="1830235"/>
          </a:xfrm>
        </p:grpSpPr>
        <p:sp>
          <p:nvSpPr>
            <p:cNvPr name="Freeform 6" id="6" descr="logo-dsc-light.png"/>
            <p:cNvSpPr/>
            <p:nvPr/>
          </p:nvSpPr>
          <p:spPr>
            <a:xfrm flipH="false" flipV="false" rot="0">
              <a:off x="0" y="0"/>
              <a:ext cx="2291207" cy="1830197"/>
            </a:xfrm>
            <a:custGeom>
              <a:avLst/>
              <a:gdLst/>
              <a:ahLst/>
              <a:cxnLst/>
              <a:rect r="r" b="b" t="t" l="l"/>
              <a:pathLst>
                <a:path h="1830197" w="229120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-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373931" y="480431"/>
            <a:ext cx="2248529" cy="851059"/>
            <a:chOff x="0" y="0"/>
            <a:chExt cx="2998038" cy="1134745"/>
          </a:xfrm>
        </p:grpSpPr>
        <p:sp>
          <p:nvSpPr>
            <p:cNvPr name="Freeform 8" id="8" descr="logo-iiec-light.png"/>
            <p:cNvSpPr/>
            <p:nvPr/>
          </p:nvSpPr>
          <p:spPr>
            <a:xfrm flipH="false" flipV="false" rot="0">
              <a:off x="0" y="0"/>
              <a:ext cx="2998089" cy="1134745"/>
            </a:xfrm>
            <a:custGeom>
              <a:avLst/>
              <a:gdLst/>
              <a:ahLst/>
              <a:cxnLst/>
              <a:rect r="r" b="b" t="t" l="l"/>
              <a:pathLst>
                <a:path h="1134745" w="2998089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4402414" cy="1006602"/>
            </a:xfrm>
            <a:custGeom>
              <a:avLst/>
              <a:gdLst/>
              <a:ahLst/>
              <a:cxnLst/>
              <a:rect r="r" b="b" t="t" l="l"/>
              <a:pathLst>
                <a:path h="1006602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2455" cy="1006626"/>
            </a:xfrm>
            <a:custGeom>
              <a:avLst/>
              <a:gdLst/>
              <a:ahLst/>
              <a:cxnLst/>
              <a:rect r="r" b="b" t="t" l="l"/>
              <a:pathLst>
                <a:path h="1006626" w="24402455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2352" r="0" b="-42235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4402453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1"/>
                </a:lnSpc>
              </a:pPr>
              <a:r>
                <a:rPr lang="en-US" sz="180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DATATHON 2026  ·  Round 1 Idea Submission – Template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334804" y="9540069"/>
            <a:ext cx="1509941" cy="754971"/>
            <a:chOff x="0" y="0"/>
            <a:chExt cx="2013255" cy="100662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13253" cy="1006626"/>
            </a:xfrm>
            <a:custGeom>
              <a:avLst/>
              <a:gdLst/>
              <a:ahLst/>
              <a:cxnLst/>
              <a:rect r="r" b="b" t="t" l="l"/>
              <a:pathLst>
                <a:path h="1006626" w="2013253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013255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1"/>
                </a:lnSpc>
              </a:pPr>
              <a:r>
                <a:rPr lang="en-US" sz="195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6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915048" y="2291582"/>
            <a:ext cx="16426453" cy="75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❖ </a:t>
            </a:r>
            <a:r>
              <a:rPr lang="en-US" b="true" sz="4203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Base Prototype (Round 1)</a:t>
            </a:r>
          </a:p>
        </p:txBody>
      </p:sp>
      <p:sp>
        <p:nvSpPr>
          <p:cNvPr name="BuiltCard0" id="100"/>
          <p:cNvSpPr/>
          <p:nvPr/>
        </p:nvSpPr>
        <p:spPr>
          <a:xfrm>
            <a:off x="617706" y="3140000"/>
            <a:ext cx="5497529" cy="1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BuiltAcc0" id="103"/>
          <p:cNvSpPr/>
          <p:nvPr/>
        </p:nvSpPr>
        <p:spPr>
          <a:xfrm>
            <a:off x="617706" y="3140000"/>
            <a:ext cx="90000" cy="140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BuiltTxt0" id="106"/>
          <p:cNvSpPr txBox="true"/>
          <p:nvPr/>
        </p:nvSpPr>
        <p:spPr>
          <a:xfrm>
            <a:off x="617706" y="3140000"/>
            <a:ext cx="5497529" cy="1400000"/>
          </a:xfrm>
          <a:prstGeom prst="rect">
            <a:avLst/>
          </a:prstGeom>
        </p:spPr>
        <p:txBody>
          <a:bodyPr anchor="ctr" lIns="300000" rIns="240000" tIns="70000" bIns="70000"/>
          <a:lstStyle/>
          <a:p>
            <a:pPr algn="l"/>
            <a:r>
              <a:rPr lang="en-US" sz="1600" b="true">
                <a:solidFill>
                  <a:srgbClr val="000000"/>
                </a:solidFill>
                <a:latin typeface="Arial"/>
                <a:cs typeface="Arial"/>
              </a:rPr>
              <a:t>Priority ranking   </a:t>
            </a:r>
            <a:r>
              <a:rPr lang="en-US" sz="1100" b="true">
                <a:solidFill>
                  <a:srgbClr val="0B9FB0"/>
                </a:solidFill>
                <a:latin typeface="Arial"/>
                <a:cs typeface="Arial"/>
              </a:rPr>
              <a:t>Module 1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Every location scored and ranked by real risk, with a confidence band so teams see how sure the model is.</a:t>
            </a:r>
          </a:p>
        </p:txBody>
      </p:sp>
      <p:sp>
        <p:nvSpPr>
          <p:cNvPr name="BuiltCard1" id="101"/>
          <p:cNvSpPr/>
          <p:nvPr/>
        </p:nvSpPr>
        <p:spPr>
          <a:xfrm>
            <a:off x="6395235" y="3140000"/>
            <a:ext cx="5497529" cy="1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BuiltAcc1" id="104"/>
          <p:cNvSpPr/>
          <p:nvPr/>
        </p:nvSpPr>
        <p:spPr>
          <a:xfrm>
            <a:off x="6395235" y="3140000"/>
            <a:ext cx="90000" cy="140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BuiltTxt1" id="107"/>
          <p:cNvSpPr txBox="true"/>
          <p:nvPr/>
        </p:nvSpPr>
        <p:spPr>
          <a:xfrm>
            <a:off x="6395235" y="3140000"/>
            <a:ext cx="5497529" cy="1400000"/>
          </a:xfrm>
          <a:prstGeom prst="rect">
            <a:avLst/>
          </a:prstGeom>
        </p:spPr>
        <p:txBody>
          <a:bodyPr anchor="ctr" lIns="300000" rIns="240000" tIns="70000" bIns="70000"/>
          <a:lstStyle/>
          <a:p>
            <a:pPr algn="l"/>
            <a:r>
              <a:rPr lang="en-US" sz="1600" b="true">
                <a:solidFill>
                  <a:srgbClr val="000000"/>
                </a:solidFill>
                <a:latin typeface="Arial"/>
                <a:cs typeface="Arial"/>
              </a:rPr>
              <a:t>Blind-spot map   </a:t>
            </a:r>
            <a:r>
              <a:rPr lang="en-US" sz="1100" b="true">
                <a:solidFill>
                  <a:srgbClr val="0B9FB0"/>
                </a:solidFill>
                <a:latin typeface="Arial"/>
                <a:cs typeface="Arial"/>
              </a:rPr>
              <a:t>Module 3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Flags where complaints and real incident risk disagree, surfacing under-reported danger spots.</a:t>
            </a:r>
          </a:p>
        </p:txBody>
      </p:sp>
      <p:sp>
        <p:nvSpPr>
          <p:cNvPr name="BuiltCard2" id="102"/>
          <p:cNvSpPr/>
          <p:nvPr/>
        </p:nvSpPr>
        <p:spPr>
          <a:xfrm>
            <a:off x="12172764" y="3140000"/>
            <a:ext cx="5497529" cy="1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BuiltAcc2" id="105"/>
          <p:cNvSpPr/>
          <p:nvPr/>
        </p:nvSpPr>
        <p:spPr>
          <a:xfrm>
            <a:off x="12172764" y="3140000"/>
            <a:ext cx="90000" cy="140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BuiltTxt2" id="108"/>
          <p:cNvSpPr txBox="true"/>
          <p:nvPr/>
        </p:nvSpPr>
        <p:spPr>
          <a:xfrm>
            <a:off x="12172764" y="3140000"/>
            <a:ext cx="5497529" cy="1400000"/>
          </a:xfrm>
          <a:prstGeom prst="rect">
            <a:avLst/>
          </a:prstGeom>
        </p:spPr>
        <p:txBody>
          <a:bodyPr anchor="ctr" lIns="300000" rIns="240000" tIns="70000" bIns="70000"/>
          <a:lstStyle/>
          <a:p>
            <a:pPr algn="l"/>
            <a:r>
              <a:rPr lang="en-US" sz="1600" b="true">
                <a:solidFill>
                  <a:srgbClr val="000000"/>
                </a:solidFill>
                <a:latin typeface="Arial"/>
                <a:cs typeface="Arial"/>
              </a:rPr>
              <a:t>Web dashboard   </a:t>
            </a:r>
            <a:r>
              <a:rPr lang="en-US" sz="1100" b="true">
                <a:solidFill>
                  <a:srgbClr val="0B9FB0"/>
                </a:solidFill>
                <a:latin typeface="Arial"/>
                <a:cs typeface="Arial"/>
              </a:rPr>
              <a:t>Built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lang="en-US" sz="1300">
                <a:solidFill>
                  <a:srgbClr val="333333"/>
                </a:solidFill>
                <a:latin typeface="Arial"/>
                <a:cs typeface="Arial"/>
              </a:rPr>
              <a:t>A simple ranked map and list over the dataset, ready to explore all 1,000 locations.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5048" y="4720000"/>
            <a:ext cx="16426453" cy="75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❖ </a:t>
            </a:r>
            <a:r>
              <a:rPr lang="en-US" b="true" sz="4203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MVP for Round 2</a:t>
            </a:r>
            <a:r>
              <a:rPr lang="en-US" sz="4203">
                <a:solidFill>
                  <a:srgbClr val="555555"/>
                </a:solidFill>
                <a:latin typeface="Arial"/>
                <a:ea typeface="Arial"/>
                <a:cs typeface="Arial"/>
                <a:sym typeface="Arial"/>
              </a:rPr>
              <a:t>   (Mandatory)</a:t>
            </a:r>
          </a:p>
        </p:txBody>
      </p:sp>
      <p:sp>
        <p:nvSpPr>
          <p:cNvPr name="Mod2Card" id="120"/>
          <p:cNvSpPr/>
          <p:nvPr/>
        </p:nvSpPr>
        <p:spPr>
          <a:xfrm>
            <a:off x="617706" y="5560000"/>
            <a:ext cx="8326294" cy="20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Mod2Acc" id="121"/>
          <p:cNvSpPr/>
          <p:nvPr/>
        </p:nvSpPr>
        <p:spPr>
          <a:xfrm>
            <a:off x="617706" y="5560000"/>
            <a:ext cx="90000" cy="205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Mod2Txt" id="122"/>
          <p:cNvSpPr txBox="true"/>
          <p:nvPr/>
        </p:nvSpPr>
        <p:spPr>
          <a:xfrm>
            <a:off x="617706" y="5560000"/>
            <a:ext cx="8326294" cy="2050000"/>
          </a:xfrm>
          <a:prstGeom prst="rect">
            <a:avLst/>
          </a:prstGeom>
        </p:spPr>
        <p:txBody>
          <a:bodyPr anchor="ctr" lIns="320000" rIns="280000" tIns="120000" bIns="120000"/>
          <a:lstStyle/>
          <a:p>
            <a:pPr algn="l"/>
            <a:r>
              <a:rPr lang="en-US" sz="1900" b="true">
                <a:solidFill>
                  <a:srgbClr val="000000"/>
                </a:solidFill>
                <a:latin typeface="Arial"/>
                <a:cs typeface="Arial"/>
              </a:rPr>
              <a:t>What Module 2 adds   </a:t>
            </a:r>
            <a:r>
              <a:rPr lang="en-US" sz="1200" b="true">
                <a:solidFill>
                  <a:srgbClr val="0B9FB0"/>
                </a:solidFill>
                <a:latin typeface="Arial"/>
                <a:cs typeface="Arial"/>
              </a:rPr>
              <a:t>Live exposure</a:t>
            </a:r>
          </a:p>
          <a:p>
            <a:pPr algn="l">
              <a:lnSpc>
                <a:spcPct val="112000"/>
              </a:lnSpc>
              <a:spcBef>
                <a:spcPts val="700"/>
              </a:spcBef>
            </a:pPr>
            <a:r>
              <a:rPr lang="en-US" sz="1450">
                <a:solidFill>
                  <a:srgbClr val="333333"/>
                </a:solidFill>
                <a:latin typeface="Arial"/>
                <a:cs typeface="Arial"/>
              </a:rPr>
              <a:t>Brings in how many people are actually on each road, so a hazard on a busy route outranks the same hazard on a quiet lane. Priority stops being static and reflects who is at risk right now.</a:t>
            </a:r>
          </a:p>
        </p:txBody>
      </p:sp>
      <p:sp>
        <p:nvSpPr>
          <p:cNvPr name="TomTomCard" id="123"/>
          <p:cNvSpPr/>
          <p:nvPr/>
        </p:nvSpPr>
        <p:spPr>
          <a:xfrm>
            <a:off x="9344000" y="5560000"/>
            <a:ext cx="8326294" cy="205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TomTomTxt" id="124"/>
          <p:cNvSpPr txBox="true"/>
          <p:nvPr/>
        </p:nvSpPr>
        <p:spPr>
          <a:xfrm>
            <a:off x="9344000" y="5560000"/>
            <a:ext cx="8326294" cy="2050000"/>
          </a:xfrm>
          <a:prstGeom prst="rect">
            <a:avLst/>
          </a:prstGeom>
        </p:spPr>
        <p:txBody>
          <a:bodyPr anchor="ctr" lIns="320000" rIns="280000" tIns="120000" bIns="120000"/>
          <a:lstStyle/>
          <a:p>
            <a:pPr algn="l"/>
            <a:r>
              <a:rPr lang="en-US" sz="1900" b="true">
                <a:solidFill>
                  <a:srgbClr val="000000"/>
                </a:solidFill>
                <a:latin typeface="Arial"/>
                <a:cs typeface="Arial"/>
              </a:rPr>
              <a:t>What the TomTom Traffic API does</a:t>
            </a:r>
          </a:p>
          <a:p>
            <a:pPr algn="l">
              <a:lnSpc>
                <a:spcPct val="112000"/>
              </a:lnSpc>
              <a:spcBef>
                <a:spcPts val="700"/>
              </a:spcBef>
            </a:pPr>
            <a:r>
              <a:rPr lang="en-US" sz="1450">
                <a:solidFill>
                  <a:srgbClr val="05343B"/>
                </a:solidFill>
                <a:latin typeface="Arial"/>
                <a:cs typeface="Arial"/>
              </a:rPr>
              <a:t>Feeds live traffic volume and congestion for every location, turning the ranking into a real-time, exposure-weighted worklist and showing the officer which hazards hit the most road users at any moment.</a:t>
            </a:r>
          </a:p>
        </p:txBody>
      </p:sp>
      <p:sp>
        <p:nvSpPr>
          <p:cNvPr name="FlowCard0" id="130"/>
          <p:cNvSpPr/>
          <p:nvPr/>
        </p:nvSpPr>
        <p:spPr>
          <a:xfrm>
            <a:off x="617706" y="7760000"/>
            <a:ext cx="5350862" cy="12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FlowBar0" id="133"/>
          <p:cNvSpPr/>
          <p:nvPr/>
        </p:nvSpPr>
        <p:spPr>
          <a:xfrm>
            <a:off x="617706" y="7760000"/>
            <a:ext cx="90000" cy="124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FlowTxt0" id="136"/>
          <p:cNvSpPr txBox="true"/>
          <p:nvPr/>
        </p:nvSpPr>
        <p:spPr>
          <a:xfrm>
            <a:off x="617706" y="7760000"/>
            <a:ext cx="5350862" cy="1240000"/>
          </a:xfrm>
          <a:prstGeom prst="rect">
            <a:avLst/>
          </a:prstGeom>
        </p:spPr>
        <p:txBody>
          <a:bodyPr anchor="ctr" lIns="300000" rIns="240000" tIns="70000" bIns="70000"/>
          <a:lstStyle/>
          <a:p>
            <a:pPr algn="l"/>
            <a:r>
              <a:rPr lang="en-US" sz="1300" b="true">
                <a:solidFill>
                  <a:srgbClr val="0B9FB0"/>
                </a:solidFill>
                <a:latin typeface="Arial"/>
                <a:cs typeface="Arial"/>
              </a:rPr>
              <a:t>INPUT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350">
                <a:solidFill>
                  <a:srgbClr val="000000"/>
                </a:solidFill>
                <a:latin typeface="Arial"/>
                <a:cs typeface="Arial"/>
              </a:rPr>
              <a:t>Incident logs, complaints and live TomTom traffic</a:t>
            </a:r>
          </a:p>
        </p:txBody>
      </p:sp>
      <p:sp>
        <p:nvSpPr>
          <p:cNvPr name="FlowCard1" id="131"/>
          <p:cNvSpPr/>
          <p:nvPr/>
        </p:nvSpPr>
        <p:spPr>
          <a:xfrm>
            <a:off x="6468568" y="7760000"/>
            <a:ext cx="5350862" cy="12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FlowBar1" id="134"/>
          <p:cNvSpPr/>
          <p:nvPr/>
        </p:nvSpPr>
        <p:spPr>
          <a:xfrm>
            <a:off x="6468568" y="7760000"/>
            <a:ext cx="90000" cy="124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FlowTxt1" id="137"/>
          <p:cNvSpPr txBox="true"/>
          <p:nvPr/>
        </p:nvSpPr>
        <p:spPr>
          <a:xfrm>
            <a:off x="6468568" y="7760000"/>
            <a:ext cx="5350862" cy="1240000"/>
          </a:xfrm>
          <a:prstGeom prst="rect">
            <a:avLst/>
          </a:prstGeom>
        </p:spPr>
        <p:txBody>
          <a:bodyPr anchor="ctr" lIns="300000" rIns="240000" tIns="70000" bIns="70000"/>
          <a:lstStyle/>
          <a:p>
            <a:pPr algn="l"/>
            <a:r>
              <a:rPr lang="en-US" sz="1300" b="true">
                <a:solidFill>
                  <a:srgbClr val="0B9FB0"/>
                </a:solidFill>
                <a:latin typeface="Arial"/>
                <a:cs typeface="Arial"/>
              </a:rPr>
              <a:t>OUTPUT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350">
                <a:solidFill>
                  <a:srgbClr val="000000"/>
                </a:solidFill>
                <a:latin typeface="Arial"/>
                <a:cs typeface="Arial"/>
              </a:rPr>
              <a:t>One ranked, confidence-scored worklist on a map</a:t>
            </a:r>
          </a:p>
        </p:txBody>
      </p:sp>
      <p:sp>
        <p:nvSpPr>
          <p:cNvPr name="FlowCard2" id="132"/>
          <p:cNvSpPr/>
          <p:nvPr/>
        </p:nvSpPr>
        <p:spPr>
          <a:xfrm>
            <a:off x="12319430" y="7760000"/>
            <a:ext cx="5350862" cy="12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name="FlowBar2" id="135"/>
          <p:cNvSpPr/>
          <p:nvPr/>
        </p:nvSpPr>
        <p:spPr>
          <a:xfrm>
            <a:off x="12319430" y="7760000"/>
            <a:ext cx="90000" cy="124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FlowTxt2" id="138"/>
          <p:cNvSpPr txBox="true"/>
          <p:nvPr/>
        </p:nvSpPr>
        <p:spPr>
          <a:xfrm>
            <a:off x="12319430" y="7760000"/>
            <a:ext cx="5350862" cy="1240000"/>
          </a:xfrm>
          <a:prstGeom prst="rect">
            <a:avLst/>
          </a:prstGeom>
        </p:spPr>
        <p:txBody>
          <a:bodyPr anchor="ctr" lIns="300000" rIns="240000" tIns="70000" bIns="70000"/>
          <a:lstStyle/>
          <a:p>
            <a:pPr algn="l"/>
            <a:r>
              <a:rPr lang="en-US" sz="1300" b="true">
                <a:solidFill>
                  <a:srgbClr val="0B9FB0"/>
                </a:solidFill>
                <a:latin typeface="Arial"/>
                <a:cs typeface="Arial"/>
              </a:rPr>
              <a:t>ACTION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350">
                <a:solidFill>
                  <a:srgbClr val="000000"/>
                </a:solidFill>
                <a:latin typeface="Arial"/>
                <a:cs typeface="Arial"/>
              </a:rPr>
              <a:t>Crews dispatched to the highest-risk spots first</a:t>
            </a:r>
          </a:p>
        </p:txBody>
      </p:sp>
      <p:sp>
        <p:nvSpPr>
          <p:cNvPr name="Arrow0" id="139"/>
          <p:cNvSpPr txBox="true"/>
          <p:nvPr/>
        </p:nvSpPr>
        <p:spPr>
          <a:xfrm>
            <a:off x="5968568" y="7760000"/>
            <a:ext cx="500000" cy="1240000"/>
          </a:xfrm>
          <a:prstGeom prst="rect">
            <a:avLst/>
          </a:prstGeom>
        </p:spPr>
        <p:txBody>
          <a:bodyPr anchor="ctr" lIns="0" rIns="0" tIns="0" bIns="0"/>
          <a:lstStyle/>
          <a:p>
            <a:pPr algn="ctr"/>
            <a:r>
              <a:rPr lang="en-US" sz="2400" b="true">
                <a:solidFill>
                  <a:srgbClr val="0B9FB0"/>
                </a:solidFill>
                <a:latin typeface="Arial"/>
                <a:cs typeface="Arial"/>
              </a:rPr>
              <a:t>▸</a:t>
            </a:r>
          </a:p>
        </p:txBody>
      </p:sp>
      <p:sp>
        <p:nvSpPr>
          <p:cNvPr name="Arrow1" id="140"/>
          <p:cNvSpPr txBox="true"/>
          <p:nvPr/>
        </p:nvSpPr>
        <p:spPr>
          <a:xfrm>
            <a:off x="11819430" y="7760000"/>
            <a:ext cx="500000" cy="1240000"/>
          </a:xfrm>
          <a:prstGeom prst="rect">
            <a:avLst/>
          </a:prstGeom>
        </p:spPr>
        <p:txBody>
          <a:bodyPr anchor="ctr" lIns="0" rIns="0" tIns="0" bIns="0"/>
          <a:lstStyle/>
          <a:p>
            <a:pPr algn="ctr"/>
            <a:r>
              <a:rPr lang="en-US" sz="2400" b="true">
                <a:solidFill>
                  <a:srgbClr val="0B9FB0"/>
                </a:solidFill>
                <a:latin typeface="Arial"/>
                <a:cs typeface="Arial"/>
              </a:rPr>
              <a:t>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2"/>
          <p:cNvGrpSpPr/>
          <p:nvPr/>
        </p:nvGrpSpPr>
        <p:grpSpPr>
          <a:xfrm>
            <a:off x="2676600" y="321840"/>
            <a:ext cx="12902760" cy="1325160"/>
            <a:chOff x="2676600" y="321840"/>
            <a:chExt cx="12902760" cy="1325160"/>
          </a:xfrm>
        </p:grpSpPr>
        <p:sp>
          <p:nvSpPr>
            <p:cNvPr id="199" name="Freeform 3"/>
            <p:cNvSpPr/>
            <p:nvPr/>
          </p:nvSpPr>
          <p:spPr>
            <a:xfrm>
              <a:off x="2676600" y="343080"/>
              <a:ext cx="12902760" cy="1303560"/>
            </a:xfrm>
            <a:custGeom>
              <a:avLst/>
              <a:gdLst>
                <a:gd name="textAreaLeft" fmla="*/ 0 w 12902760"/>
                <a:gd name="textAreaRight" fmla="*/ 12903120 w 12902760"/>
                <a:gd name="textAreaTop" fmla="*/ 0 h 1303560"/>
                <a:gd name="textAreaBottom" fmla="*/ 1303920 h 1303560"/>
              </a:gdLst>
              <a:ahLst/>
              <a:cxnLst/>
              <a:rect l="textAreaLeft" t="textAreaTop" r="textAreaRight" b="textAreaBottom"/>
              <a:pathLst>
                <a:path w="17204161" h="1738718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 rotWithShape="0">
              <a:blip r:embed="rId1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TextBox 4"/>
            <p:cNvSpPr/>
            <p:nvPr/>
          </p:nvSpPr>
          <p:spPr>
            <a:xfrm>
              <a:off x="2676600" y="321840"/>
              <a:ext cx="12902760" cy="132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5403"/>
                </a:lnSpc>
              </a:pPr>
              <a:r>
                <a:rPr lang="en-US" sz="45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TECHNICAL APPROACH</a:t>
              </a:r>
              <a:endParaRPr lang="en-IN" sz="4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1" name="Group 5"/>
          <p:cNvGrpSpPr/>
          <p:nvPr/>
        </p:nvGrpSpPr>
        <p:grpSpPr>
          <a:xfrm>
            <a:off x="617760" y="205920"/>
            <a:ext cx="1717920" cy="1372320"/>
            <a:chOff x="617760" y="205920"/>
            <a:chExt cx="1717920" cy="1372320"/>
          </a:xfrm>
        </p:grpSpPr>
        <p:sp>
          <p:nvSpPr>
            <p:cNvPr id="202" name="Freeform 6" descr="logo-dsc-light.png"/>
            <p:cNvSpPr/>
            <p:nvPr/>
          </p:nvSpPr>
          <p:spPr>
            <a:xfrm>
              <a:off x="617760" y="205920"/>
              <a:ext cx="1717920" cy="1372320"/>
            </a:xfrm>
            <a:custGeom>
              <a:avLst/>
              <a:gdLst>
                <a:gd name="textAreaLeft" fmla="*/ 0 w 1717920"/>
                <a:gd name="textAreaRight" fmla="*/ 1718280 w 1717920"/>
                <a:gd name="textAreaTop" fmla="*/ 0 h 1372320"/>
                <a:gd name="textAreaBottom" fmla="*/ 1372680 h 1372320"/>
              </a:gdLst>
              <a:ahLst/>
              <a:cxnLst/>
              <a:rect l="textAreaLeft" t="textAreaTop" r="textAreaRight" b="textAreaBottom"/>
              <a:pathLst>
                <a:path w="2291207" h="183019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3" name="Group 7"/>
          <p:cNvGrpSpPr/>
          <p:nvPr/>
        </p:nvGrpSpPr>
        <p:grpSpPr>
          <a:xfrm>
            <a:off x="15373800" y="480600"/>
            <a:ext cx="2248200" cy="850680"/>
            <a:chOff x="15373800" y="480600"/>
            <a:chExt cx="2248200" cy="850680"/>
          </a:xfrm>
        </p:grpSpPr>
        <p:sp>
          <p:nvSpPr>
            <p:cNvPr id="204" name="Freeform 8" descr="logo-iiec-light.png"/>
            <p:cNvSpPr/>
            <p:nvPr/>
          </p:nvSpPr>
          <p:spPr>
            <a:xfrm>
              <a:off x="15373800" y="480600"/>
              <a:ext cx="2248200" cy="850680"/>
            </a:xfrm>
            <a:custGeom>
              <a:avLst/>
              <a:gdLst>
                <a:gd name="textAreaLeft" fmla="*/ 0 w 2248200"/>
                <a:gd name="textAreaRight" fmla="*/ 2248560 w 2248200"/>
                <a:gd name="textAreaTop" fmla="*/ 0 h 850680"/>
                <a:gd name="textAreaBottom" fmla="*/ 851040 h 850680"/>
              </a:gdLst>
              <a:ahLst/>
              <a:cxnLst/>
              <a:rect l="textAreaLeft" t="textAreaTop" r="textAreaRight" b="textAreaBottom"/>
              <a:pathLst>
                <a:path w="2998089" h="1134745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5" name="Group 9"/>
          <p:cNvGrpSpPr/>
          <p:nvPr/>
        </p:nvGrpSpPr>
        <p:grpSpPr>
          <a:xfrm>
            <a:off x="0" y="9540000"/>
            <a:ext cx="18301320" cy="754560"/>
            <a:chOff x="0" y="9540000"/>
            <a:chExt cx="18301320" cy="754560"/>
          </a:xfrm>
        </p:grpSpPr>
        <p:sp>
          <p:nvSpPr>
            <p:cNvPr id="206" name="Freeform 10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14" h="1006602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07" name="Group 11"/>
          <p:cNvGrpSpPr/>
          <p:nvPr/>
        </p:nvGrpSpPr>
        <p:grpSpPr>
          <a:xfrm>
            <a:off x="0" y="9525960"/>
            <a:ext cx="18301320" cy="768960"/>
            <a:chOff x="0" y="9525960"/>
            <a:chExt cx="18301320" cy="768960"/>
          </a:xfrm>
        </p:grpSpPr>
        <p:sp>
          <p:nvSpPr>
            <p:cNvPr id="208" name="Freeform 12"/>
            <p:cNvSpPr/>
            <p:nvPr/>
          </p:nvSpPr>
          <p:spPr>
            <a:xfrm>
              <a:off x="0" y="9540000"/>
              <a:ext cx="18301320" cy="754560"/>
            </a:xfrm>
            <a:custGeom>
              <a:avLst/>
              <a:gdLst>
                <a:gd name="textAreaLeft" fmla="*/ 0 w 18301320"/>
                <a:gd name="textAreaRight" fmla="*/ 18301680 w 1830132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4402455" h="1006626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4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TextBox 13"/>
            <p:cNvSpPr/>
            <p:nvPr/>
          </p:nvSpPr>
          <p:spPr>
            <a:xfrm>
              <a:off x="0" y="9525960"/>
              <a:ext cx="1830132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ctr" defTabSz="914400">
                <a:lnSpc>
                  <a:spcPts val="2160"/>
                </a:lnSpc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DATATHON 2026  ·  Round 1 Idea Submission – Template</a:t>
              </a:r>
              <a:endPara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0" name="Group 14"/>
          <p:cNvGrpSpPr/>
          <p:nvPr/>
        </p:nvGrpSpPr>
        <p:grpSpPr>
          <a:xfrm>
            <a:off x="16334640" y="9525960"/>
            <a:ext cx="1509480" cy="768960"/>
            <a:chOff x="16334640" y="9525960"/>
            <a:chExt cx="1509480" cy="768960"/>
          </a:xfrm>
        </p:grpSpPr>
        <p:sp>
          <p:nvSpPr>
            <p:cNvPr id="211" name="Freeform 15"/>
            <p:cNvSpPr/>
            <p:nvPr/>
          </p:nvSpPr>
          <p:spPr>
            <a:xfrm>
              <a:off x="16334640" y="9540000"/>
              <a:ext cx="1509480" cy="754560"/>
            </a:xfrm>
            <a:custGeom>
              <a:avLst/>
              <a:gdLst>
                <a:gd name="textAreaLeft" fmla="*/ 0 w 1509480"/>
                <a:gd name="textAreaRight" fmla="*/ 1509840 w 1509480"/>
                <a:gd name="textAreaTop" fmla="*/ 0 h 754560"/>
                <a:gd name="textAreaBottom" fmla="*/ 754920 h 754560"/>
              </a:gdLst>
              <a:ahLst/>
              <a:cxnLst/>
              <a:rect l="textAreaLeft" t="textAreaTop" r="textAreaRight" b="textAreaBottom"/>
              <a:pathLst>
                <a:path w="2013253" h="1006626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 rotWithShape="0">
              <a:blip r:embed="rId5">
                <a:alphaModFix amt="0"/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/>
              <a:endParaRPr lang="en-IN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TextBox 16"/>
            <p:cNvSpPr/>
            <p:nvPr/>
          </p:nvSpPr>
          <p:spPr>
            <a:xfrm>
              <a:off x="16334640" y="9525960"/>
              <a:ext cx="15094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algn="r" defTabSz="914400">
                <a:lnSpc>
                  <a:spcPts val="2341"/>
                </a:lnSpc>
              </a:pPr>
              <a:r>
                <a:rPr lang="en-US" sz="1950" b="1" u="none" strike="noStrike">
                  <a:solidFill>
                    <a:srgbClr val="000000"/>
                  </a:solidFill>
                  <a:effectLst/>
                  <a:uFillTx/>
                  <a:latin typeface="Arial Bold"/>
                  <a:ea typeface="Arial Bold"/>
                </a:rPr>
                <a:t>7</a:t>
              </a:r>
              <a:endParaRPr lang="en-IN" sz="1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3" name="Freeform 17"/>
          <p:cNvSpPr/>
          <p:nvPr/>
        </p:nvSpPr>
        <p:spPr>
          <a:xfrm>
            <a:off x="1476720" y="6338520"/>
            <a:ext cx="13083840" cy="2575440"/>
          </a:xfrm>
          <a:custGeom>
            <a:avLst/>
            <a:gdLst>
              <a:gd name="textAreaLeft" fmla="*/ 0 w 13083840"/>
              <a:gd name="textAreaRight" fmla="*/ 13084200 w 13083840"/>
              <a:gd name="textAreaTop" fmla="*/ 0 h 2575440"/>
              <a:gd name="textAreaBottom" fmla="*/ 2575800 h 2575440"/>
            </a:gdLst>
            <a:ahLst/>
            <a:cxnLst/>
            <a:rect l="textAreaLeft" t="textAreaTop" r="textAreaRight" b="textAreaBottom"/>
            <a:pathLst>
              <a:path w="13084230" h="2575958">
                <a:moveTo>
                  <a:pt x="0" y="0"/>
                </a:moveTo>
                <a:lnTo>
                  <a:pt x="13084230" y="0"/>
                </a:lnTo>
                <a:lnTo>
                  <a:pt x="13084230" y="2575958"/>
                </a:lnTo>
                <a:lnTo>
                  <a:pt x="0" y="257595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Freeform 18"/>
          <p:cNvSpPr/>
          <p:nvPr/>
        </p:nvSpPr>
        <p:spPr>
          <a:xfrm>
            <a:off x="15647400" y="1436040"/>
            <a:ext cx="1701360" cy="7961040"/>
          </a:xfrm>
          <a:custGeom>
            <a:avLst/>
            <a:gdLst>
              <a:gd name="textAreaLeft" fmla="*/ 0 w 1701360"/>
              <a:gd name="textAreaRight" fmla="*/ 1701720 w 1701360"/>
              <a:gd name="textAreaTop" fmla="*/ 0 h 7961040"/>
              <a:gd name="textAreaBottom" fmla="*/ 7961400 h 7961040"/>
            </a:gdLst>
            <a:ahLst/>
            <a:cxnLst/>
            <a:rect l="textAreaLeft" t="textAreaTop" r="textAreaRight" b="textAreaBottom"/>
            <a:pathLst>
              <a:path w="1701693" h="7961490">
                <a:moveTo>
                  <a:pt x="0" y="0"/>
                </a:moveTo>
                <a:lnTo>
                  <a:pt x="1701693" y="0"/>
                </a:lnTo>
                <a:lnTo>
                  <a:pt x="1701693" y="7961491"/>
                </a:lnTo>
                <a:lnTo>
                  <a:pt x="0" y="796149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Freeform 19"/>
          <p:cNvSpPr/>
          <p:nvPr/>
        </p:nvSpPr>
        <p:spPr>
          <a:xfrm>
            <a:off x="1476720" y="3042720"/>
            <a:ext cx="12563640" cy="3085560"/>
          </a:xfrm>
          <a:custGeom>
            <a:avLst/>
            <a:gdLst>
              <a:gd name="textAreaLeft" fmla="*/ 0 w 12563640"/>
              <a:gd name="textAreaRight" fmla="*/ 12564000 w 12563640"/>
              <a:gd name="textAreaTop" fmla="*/ 0 h 3085560"/>
              <a:gd name="textAreaBottom" fmla="*/ 3085920 h 3085560"/>
            </a:gdLst>
            <a:ahLst/>
            <a:cxnLst/>
            <a:rect l="textAreaLeft" t="textAreaTop" r="textAreaRight" b="textAreaBottom"/>
            <a:pathLst>
              <a:path w="12563993" h="3086031">
                <a:moveTo>
                  <a:pt x="0" y="0"/>
                </a:moveTo>
                <a:lnTo>
                  <a:pt x="12563992" y="0"/>
                </a:lnTo>
                <a:lnTo>
                  <a:pt x="12563992" y="3086031"/>
                </a:lnTo>
                <a:lnTo>
                  <a:pt x="0" y="308603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20"/>
          <p:cNvSpPr/>
          <p:nvPr/>
        </p:nvSpPr>
        <p:spPr>
          <a:xfrm>
            <a:off x="915120" y="2291760"/>
            <a:ext cx="16426080" cy="7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ts val="5043"/>
              </a:lnSpc>
            </a:pP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❖ </a:t>
            </a:r>
            <a:r>
              <a:rPr lang="en-US" sz="4200" b="1" u="sng" strike="noStrike">
                <a:solidFill>
                  <a:srgbClr val="000000"/>
                </a:solidFill>
                <a:effectLst/>
                <a:uFillTx/>
                <a:latin typeface="Arial Bold"/>
                <a:ea typeface="Arial Bold"/>
              </a:rPr>
              <a:t>Technical Approach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676716" y="343167"/>
            <a:ext cx="12903117" cy="1304039"/>
            <a:chOff x="0" y="0"/>
            <a:chExt cx="17204157" cy="1738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204161" cy="1738718"/>
            </a:xfrm>
            <a:custGeom>
              <a:avLst/>
              <a:gdLst/>
              <a:ahLst/>
              <a:cxnLst/>
              <a:rect r="r" b="b" t="t" l="l"/>
              <a:pathLst>
                <a:path h="1738718" w="17204161">
                  <a:moveTo>
                    <a:pt x="0" y="0"/>
                  </a:moveTo>
                  <a:lnTo>
                    <a:pt x="17204161" y="0"/>
                  </a:lnTo>
                  <a:lnTo>
                    <a:pt x="17204161" y="1738718"/>
                  </a:lnTo>
                  <a:lnTo>
                    <a:pt x="0" y="173871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2799" r="0" b="-14279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17204157" cy="17672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4"/>
                </a:lnSpc>
              </a:pPr>
              <a:r>
                <a:rPr lang="en-US" sz="450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FEASIBILITY &amp; IMPACT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17706" y="205902"/>
            <a:ext cx="1718386" cy="1372676"/>
            <a:chOff x="0" y="0"/>
            <a:chExt cx="2291182" cy="1830235"/>
          </a:xfrm>
        </p:grpSpPr>
        <p:sp>
          <p:nvSpPr>
            <p:cNvPr name="Freeform 6" id="6" descr="logo-dsc-light.png"/>
            <p:cNvSpPr/>
            <p:nvPr/>
          </p:nvSpPr>
          <p:spPr>
            <a:xfrm flipH="false" flipV="false" rot="0">
              <a:off x="0" y="0"/>
              <a:ext cx="2291207" cy="1830197"/>
            </a:xfrm>
            <a:custGeom>
              <a:avLst/>
              <a:gdLst/>
              <a:ahLst/>
              <a:cxnLst/>
              <a:rect r="r" b="b" t="t" l="l"/>
              <a:pathLst>
                <a:path h="1830197" w="2291207">
                  <a:moveTo>
                    <a:pt x="0" y="0"/>
                  </a:moveTo>
                  <a:lnTo>
                    <a:pt x="2291207" y="0"/>
                  </a:lnTo>
                  <a:lnTo>
                    <a:pt x="2291207" y="1830197"/>
                  </a:lnTo>
                  <a:lnTo>
                    <a:pt x="0" y="1830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-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5373931" y="480431"/>
            <a:ext cx="2248529" cy="851059"/>
            <a:chOff x="0" y="0"/>
            <a:chExt cx="2998038" cy="1134745"/>
          </a:xfrm>
        </p:grpSpPr>
        <p:sp>
          <p:nvSpPr>
            <p:cNvPr name="Freeform 8" id="8" descr="logo-iiec-light.png"/>
            <p:cNvSpPr/>
            <p:nvPr/>
          </p:nvSpPr>
          <p:spPr>
            <a:xfrm flipH="false" flipV="false" rot="0">
              <a:off x="0" y="0"/>
              <a:ext cx="2998089" cy="1134745"/>
            </a:xfrm>
            <a:custGeom>
              <a:avLst/>
              <a:gdLst/>
              <a:ahLst/>
              <a:cxnLst/>
              <a:rect r="r" b="b" t="t" l="l"/>
              <a:pathLst>
                <a:path h="1134745" w="2998089">
                  <a:moveTo>
                    <a:pt x="0" y="0"/>
                  </a:moveTo>
                  <a:lnTo>
                    <a:pt x="2998089" y="0"/>
                  </a:lnTo>
                  <a:lnTo>
                    <a:pt x="2998089" y="1134745"/>
                  </a:lnTo>
                  <a:lnTo>
                    <a:pt x="0" y="11347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4402414" cy="1006602"/>
            </a:xfrm>
            <a:custGeom>
              <a:avLst/>
              <a:gdLst/>
              <a:ahLst/>
              <a:cxnLst/>
              <a:rect r="r" b="b" t="t" l="l"/>
              <a:pathLst>
                <a:path h="1006602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006602"/>
                  </a:lnTo>
                  <a:lnTo>
                    <a:pt x="0" y="1006602"/>
                  </a:lnTo>
                  <a:close/>
                </a:path>
              </a:pathLst>
            </a:custGeom>
            <a:solidFill>
              <a:srgbClr val="19E3F5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0" y="9540069"/>
            <a:ext cx="18301840" cy="754971"/>
            <a:chOff x="0" y="0"/>
            <a:chExt cx="24402453" cy="100662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2455" cy="1006626"/>
            </a:xfrm>
            <a:custGeom>
              <a:avLst/>
              <a:gdLst/>
              <a:ahLst/>
              <a:cxnLst/>
              <a:rect r="r" b="b" t="t" l="l"/>
              <a:pathLst>
                <a:path h="1006626" w="24402455">
                  <a:moveTo>
                    <a:pt x="0" y="0"/>
                  </a:moveTo>
                  <a:lnTo>
                    <a:pt x="24402455" y="0"/>
                  </a:lnTo>
                  <a:lnTo>
                    <a:pt x="24402455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22352" r="0" b="-42235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4402453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1"/>
                </a:lnSpc>
              </a:pPr>
              <a:r>
                <a:rPr lang="en-US" sz="180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DATATHON 2026  ·  Round 1 Idea Submission – Template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334804" y="9540069"/>
            <a:ext cx="1509941" cy="754971"/>
            <a:chOff x="0" y="0"/>
            <a:chExt cx="2013255" cy="100662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13253" cy="1006626"/>
            </a:xfrm>
            <a:custGeom>
              <a:avLst/>
              <a:gdLst/>
              <a:ahLst/>
              <a:cxnLst/>
              <a:rect r="r" b="b" t="t" l="l"/>
              <a:pathLst>
                <a:path h="1006626" w="2013253">
                  <a:moveTo>
                    <a:pt x="0" y="0"/>
                  </a:moveTo>
                  <a:lnTo>
                    <a:pt x="2013253" y="0"/>
                  </a:lnTo>
                  <a:lnTo>
                    <a:pt x="2013253" y="1006626"/>
                  </a:lnTo>
                  <a:lnTo>
                    <a:pt x="0" y="10066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013255" cy="102567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341"/>
                </a:lnSpc>
              </a:pPr>
              <a:r>
                <a:rPr lang="en-US" sz="1951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8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915048" y="2291582"/>
            <a:ext cx="16426453" cy="751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3"/>
              </a:lnSpc>
            </a:pPr>
            <a:r>
              <a:rPr lang="en-US" sz="4203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❖ </a:t>
            </a:r>
            <a:r>
              <a:rPr lang="en-US" b="true" sz="4203" u="sng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Feasibility &amp; Impact</a:t>
            </a:r>
          </a:p>
        </p:txBody>
      </p:sp>
      <p:sp>
        <p:nvSpPr>
          <p:cNvPr name="FeasHeader" id="100"/>
          <p:cNvSpPr/>
          <p:nvPr/>
        </p:nvSpPr>
        <p:spPr>
          <a:xfrm>
            <a:off x="617706" y="3150000"/>
            <a:ext cx="8326294" cy="56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 anchor="ctr" lIns="260000" rIns="140000" tIns="20000" bIns="20000"/>
          <a:lstStyle/>
          <a:p>
            <a:pPr algn="l"/>
            <a:r>
              <a:rPr lang="en-US" sz="1900" b="true">
                <a:solidFill>
                  <a:srgbClr val="000000"/>
                </a:solidFill>
                <a:latin typeface="Arial"/>
                <a:cs typeface="Arial"/>
              </a:rPr>
              <a:t>FEASIBILITY</a:t>
            </a:r>
          </a:p>
        </p:txBody>
      </p:sp>
      <p:sp>
        <p:nvSpPr>
          <p:cNvPr name="ImpactHeader" id="101"/>
          <p:cNvSpPr/>
          <p:nvPr/>
        </p:nvSpPr>
        <p:spPr>
          <a:xfrm>
            <a:off x="9344000" y="3150000"/>
            <a:ext cx="8326294" cy="56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 anchor="ctr" lIns="260000" rIns="140000" tIns="20000" bIns="20000"/>
          <a:lstStyle/>
          <a:p>
            <a:pPr algn="l"/>
            <a:r>
              <a:rPr lang="en-US" sz="1900" b="true">
                <a:solidFill>
                  <a:srgbClr val="FFFFFF"/>
                </a:solidFill>
                <a:latin typeface="Arial"/>
                <a:cs typeface="Arial"/>
              </a:rPr>
              <a:t>IMPACT</a:t>
            </a:r>
          </a:p>
        </p:txBody>
      </p:sp>
      <p:sp>
        <p:nvSpPr>
          <p:cNvPr name="FeasCard1" id="110"/>
          <p:cNvSpPr/>
          <p:nvPr/>
        </p:nvSpPr>
        <p:spPr>
          <a:xfrm>
            <a:off x="617706" y="3820000"/>
            <a:ext cx="8326294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ctr" lIns="300000" rIns="240000" tIns="80000" bIns="80000"/>
          <a:lstStyle/>
          <a:p>
            <a:pPr algn="l"/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Built on data we already have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Uses the existing incident and complaint logs. No new field sensors or hardware to deploy.</a:t>
            </a:r>
          </a:p>
        </p:txBody>
      </p:sp>
      <p:sp>
        <p:nvSpPr>
          <p:cNvPr name="FeasCard1Accent" id="113"/>
          <p:cNvSpPr/>
          <p:nvPr/>
        </p:nvSpPr>
        <p:spPr>
          <a:xfrm>
            <a:off x="617706" y="3820000"/>
            <a:ext cx="90000" cy="164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FeasCard2" id="111"/>
          <p:cNvSpPr/>
          <p:nvPr/>
        </p:nvSpPr>
        <p:spPr>
          <a:xfrm>
            <a:off x="617706" y="5660000"/>
            <a:ext cx="8326294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ctr" lIns="300000" rIns="240000" tIns="80000" bIns="80000"/>
          <a:lstStyle/>
          <a:p>
            <a:pPr algn="l"/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Lightweight, standard stack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A scoring model plus a REST traffic API, served as one ranked dashboard. Deployable by a small team.</a:t>
            </a:r>
          </a:p>
        </p:txBody>
      </p:sp>
      <p:sp>
        <p:nvSpPr>
          <p:cNvPr name="FeasCard2Accent" id="114"/>
          <p:cNvSpPr/>
          <p:nvPr/>
        </p:nvSpPr>
        <p:spPr>
          <a:xfrm>
            <a:off x="617706" y="5660000"/>
            <a:ext cx="90000" cy="164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FeasCard3" id="112"/>
          <p:cNvSpPr/>
          <p:nvPr/>
        </p:nvSpPr>
        <p:spPr>
          <a:xfrm>
            <a:off x="617706" y="7500000"/>
            <a:ext cx="8326294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ctr" lIns="300000" rIns="240000" tIns="80000" bIns="80000"/>
          <a:lstStyle/>
          <a:p>
            <a:pPr algn="l"/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Key risk and mitigation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Synthetic and partial data plus traffic API quota limits. Calibrate score weights on real logs and cache traffic pulls.</a:t>
            </a:r>
          </a:p>
        </p:txBody>
      </p:sp>
      <p:sp>
        <p:nvSpPr>
          <p:cNvPr name="FeasCard3Accent" id="115"/>
          <p:cNvSpPr/>
          <p:nvPr/>
        </p:nvSpPr>
        <p:spPr>
          <a:xfrm>
            <a:off x="617706" y="7500000"/>
            <a:ext cx="90000" cy="1640000"/>
          </a:xfrm>
          <a:prstGeom prst="rect">
            <a:avLst/>
          </a:prstGeom>
          <a:solidFill>
            <a:srgbClr val="19E3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ImpactCard1" id="120"/>
          <p:cNvSpPr/>
          <p:nvPr/>
        </p:nvSpPr>
        <p:spPr>
          <a:xfrm>
            <a:off x="9344000" y="3820000"/>
            <a:ext cx="8326294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ctr" lIns="300000" rIns="260000" tIns="80000" bIns="80000"/>
          <a:lstStyle/>
          <a:p>
            <a:pPr algn="l"/>
            <a:r>
              <a:rPr lang="en-US" sz="2600" b="true">
                <a:solidFill>
                  <a:srgbClr val="0B9FB0"/>
                </a:solidFill>
                <a:latin typeface="Arial"/>
                <a:cs typeface="Arial"/>
              </a:rPr>
              <a:t>2,475  </a:t>
            </a:r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injuries put first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Critical spots stop waiting like Low (both 32 hrs today).</a:t>
            </a:r>
          </a:p>
        </p:txBody>
      </p:sp>
      <p:sp>
        <p:nvSpPr>
          <p:cNvPr name="ImpactCard1Accent" id="123"/>
          <p:cNvSpPr/>
          <p:nvPr/>
        </p:nvSpPr>
        <p:spPr>
          <a:xfrm>
            <a:off x="9344000" y="3820000"/>
            <a:ext cx="90000" cy="164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ImpactCard2" id="121"/>
          <p:cNvSpPr/>
          <p:nvPr/>
        </p:nvSpPr>
        <p:spPr>
          <a:xfrm>
            <a:off x="9344000" y="5660000"/>
            <a:ext cx="8326294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ctr" lIns="300000" rIns="260000" tIns="80000" bIns="80000"/>
          <a:lstStyle/>
          <a:p>
            <a:pPr algn="l"/>
            <a:r>
              <a:rPr lang="en-US" sz="2600" b="true">
                <a:solidFill>
                  <a:srgbClr val="0B9FB0"/>
                </a:solidFill>
                <a:latin typeface="Arial"/>
                <a:cs typeface="Arial"/>
              </a:rPr>
              <a:t>43%  </a:t>
            </a:r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backlog unified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Complaint backlog folded into one ranked worklist with incident logs.</a:t>
            </a:r>
          </a:p>
        </p:txBody>
      </p:sp>
      <p:sp>
        <p:nvSpPr>
          <p:cNvPr name="ImpactCard2Accent" id="124"/>
          <p:cNvSpPr/>
          <p:nvPr/>
        </p:nvSpPr>
        <p:spPr>
          <a:xfrm>
            <a:off x="9344000" y="5660000"/>
            <a:ext cx="90000" cy="164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name="ImpactCard3" id="122"/>
          <p:cNvSpPr/>
          <p:nvPr/>
        </p:nvSpPr>
        <p:spPr>
          <a:xfrm>
            <a:off x="9344000" y="7500000"/>
            <a:ext cx="8326294" cy="16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anchor="ctr" lIns="300000" rIns="260000" tIns="80000" bIns="80000"/>
          <a:lstStyle/>
          <a:p>
            <a:pPr algn="l"/>
            <a:r>
              <a:rPr lang="en-US" sz="2600" b="true">
                <a:solidFill>
                  <a:srgbClr val="0B9FB0"/>
                </a:solidFill>
                <a:latin typeface="Arial"/>
                <a:cs typeface="Arial"/>
              </a:rPr>
              <a:t>1 list  </a:t>
            </a:r>
            <a:r>
              <a:rPr lang="en-US" sz="1700" b="true">
                <a:solidFill>
                  <a:srgbClr val="000000"/>
                </a:solidFill>
                <a:latin typeface="Arial"/>
                <a:cs typeface="Arial"/>
              </a:rPr>
              <a:t>for limited crews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</a:pPr>
            <a:r>
              <a:rPr lang="en-US" sz="1350">
                <a:solidFill>
                  <a:srgbClr val="333333"/>
                </a:solidFill>
                <a:latin typeface="Arial"/>
                <a:cs typeface="Arial"/>
              </a:rPr>
              <a:t>Fixed budget routes to the highest real risk, not the loudest complaint.</a:t>
            </a:r>
          </a:p>
        </p:txBody>
      </p:sp>
      <p:sp>
        <p:nvSpPr>
          <p:cNvPr name="ImpactCard3Accent" id="125"/>
          <p:cNvSpPr/>
          <p:nvPr/>
        </p:nvSpPr>
        <p:spPr>
          <a:xfrm>
            <a:off x="9344000" y="7500000"/>
            <a:ext cx="90000" cy="1640000"/>
          </a:xfrm>
          <a:prstGeom prst="rect">
            <a:avLst/>
          </a:prstGeom>
          <a:solidFill>
            <a:srgbClr val="0B9FB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LibreOffice/26.8.0.3$Linux_X86_64 LibreOffice_project/680$Build-3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DAHYJIPM0cc</dc:identifier>
  <dc:language>en-IN</dc:language>
  <cp:lastModifiedBy/>
  <dcterms:modified xsi:type="dcterms:W3CDTF">2026-10-16T11:54:16Z</dcterms:modified>
  <cp:revision>2</cp:revision>
  <dc:subject/>
  <dc:title>Team name: teamCookie() Team Members: Pranjal Kumar, Kathrina Elangbam Track Chosen: Smart City Problem Statement Title: Where Should We Fix First? Product Name: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