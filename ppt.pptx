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</p:sldIdLst>
  <p:sldSz cx="18288000" cy="10287000"/>
  <p:notesSz cx="7559675" cy="10691813"/>
  <p:embeddedFontLst>
    <p:embeddedFont>
      <p:font typeface="Arial Bold"/>
      <p:regular r:id="rId11"/>
      <p:bold r:id="rId11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font" Target="fonts/Font_1_Arial_Bold_Regular.fntdata"/><Relationship Id="rId12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2C7AD5A-4AD8-4C09-95A2-6D01D12DCCA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480" cy="171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914400" y="2406960"/>
            <a:ext cx="16458480" cy="5965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440" cy="1161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0920" cy="585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440" cy="4690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6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CF8DA5A-7535-4B94-81F6-5D97C5AC235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5680" cy="565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</a:t>
            </a: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Master </a:t>
            </a: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pic"/>
          </p:nvPr>
        </p:nvSpPr>
        <p:spPr>
          <a:xfrm>
            <a:off x="1792440" y="61272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pPr indent="0" algn="l">
              <a:buNone/>
            </a:pPr>
            <a:r>
              <a:rPr lang="en-IN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Double-click to add an Image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5680" cy="80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5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6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2154BCE-ADFA-45D8-B1CA-307A9BA9209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1680" cy="1469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368177F-DF3A-4E13-9824-A549FD976E2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86FCED0-2B67-44AA-B578-D53692B1B90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6680" cy="585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200" cy="585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D1A150F-35D7-4B37-B810-DBB838D50C7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C7F1917-B9C7-4250-9B80-82C74077C75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1680" cy="1361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1680" cy="1499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429E834-E6E1-4847-AB52-BBE79FAD754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7760" cy="4525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7760" cy="4525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6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781A033-99F7-40AF-AFC9-DC809517543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560" cy="639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560" cy="3950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000" cy="639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000" cy="3950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7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PlaceHolder 8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FEADBB2-1C96-4FF8-B33A-2CC56135176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6358815-2624-4379-B213-A8E8C35471C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3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.png"/><Relationship Id="rId6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3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.png"/><Relationship Id="rId6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Relationship Id="rId9" Type="http://schemas.openxmlformats.org/officeDocument/2006/relationships/image" Target="../media/image13.png"/><Relationship Id="rId10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3.png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image" Target="../media/image16.png"/><Relationship Id="rId9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3.png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Group 2"/>
          <p:cNvGrpSpPr/>
          <p:nvPr/>
        </p:nvGrpSpPr>
        <p:grpSpPr>
          <a:xfrm>
            <a:off x="754920" y="343080"/>
            <a:ext cx="1975320" cy="1577880"/>
            <a:chOff x="754920" y="343080"/>
            <a:chExt cx="1975320" cy="1577880"/>
          </a:xfrm>
        </p:grpSpPr>
        <p:sp>
          <p:nvSpPr>
            <p:cNvPr id="62" name="Freeform 3" descr="logo-dsc-light.png"/>
            <p:cNvSpPr/>
            <p:nvPr/>
          </p:nvSpPr>
          <p:spPr>
            <a:xfrm>
              <a:off x="754920" y="343080"/>
              <a:ext cx="1975320" cy="1577880"/>
            </a:xfrm>
            <a:custGeom>
              <a:avLst/>
              <a:gdLst>
                <a:gd name="textAreaLeft" fmla="*/ 0 w 1975320"/>
                <a:gd name="textAreaRight" fmla="*/ 1976040 w 1975320"/>
                <a:gd name="textAreaTop" fmla="*/ 0 h 1577880"/>
                <a:gd name="textAreaBottom" fmla="*/ 1578600 h 1577880"/>
              </a:gdLst>
              <a:ahLst/>
              <a:cxnLst/>
              <a:rect l="textAreaLeft" t="textAreaTop" r="textAreaRight" b="textAreaBottom"/>
              <a:pathLst>
                <a:path w="2634869" h="2104771">
                  <a:moveTo>
                    <a:pt x="0" y="0"/>
                  </a:moveTo>
                  <a:lnTo>
                    <a:pt x="2634869" y="0"/>
                  </a:lnTo>
                  <a:lnTo>
                    <a:pt x="2634869" y="2104771"/>
                  </a:lnTo>
                  <a:lnTo>
                    <a:pt x="0" y="2104771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1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/>
              <a:endParaRPr lang="en-IN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3" name="Group 4"/>
          <p:cNvGrpSpPr/>
          <p:nvPr/>
        </p:nvGrpSpPr>
        <p:grpSpPr>
          <a:xfrm>
            <a:off x="6726240" y="549000"/>
            <a:ext cx="3749040" cy="1166040"/>
            <a:chOff x="6726240" y="549000"/>
            <a:chExt cx="3749040" cy="1166040"/>
          </a:xfrm>
        </p:grpSpPr>
        <p:sp>
          <p:nvSpPr>
            <p:cNvPr id="64" name="Freeform 5" descr="logo-vitap-light.png"/>
            <p:cNvSpPr/>
            <p:nvPr/>
          </p:nvSpPr>
          <p:spPr>
            <a:xfrm>
              <a:off x="6726240" y="549000"/>
              <a:ext cx="3749040" cy="1166040"/>
            </a:xfrm>
            <a:custGeom>
              <a:avLst/>
              <a:gdLst>
                <a:gd name="textAreaLeft" fmla="*/ 0 w 3749040"/>
                <a:gd name="textAreaRight" fmla="*/ 3749760 w 3749040"/>
                <a:gd name="textAreaTop" fmla="*/ 0 h 1166040"/>
                <a:gd name="textAreaBottom" fmla="*/ 1166760 h 1166040"/>
              </a:gdLst>
              <a:ahLst/>
              <a:cxnLst/>
              <a:rect l="textAreaLeft" t="textAreaTop" r="textAreaRight" b="textAreaBottom"/>
              <a:pathLst>
                <a:path w="4999609" h="1555750">
                  <a:moveTo>
                    <a:pt x="0" y="0"/>
                  </a:moveTo>
                  <a:lnTo>
                    <a:pt x="4999609" y="0"/>
                  </a:lnTo>
                  <a:lnTo>
                    <a:pt x="4999609" y="1555750"/>
                  </a:lnTo>
                  <a:lnTo>
                    <a:pt x="0" y="1555750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2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/>
              <a:endParaRPr lang="en-IN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5" name="Group 6"/>
          <p:cNvGrpSpPr/>
          <p:nvPr/>
        </p:nvGrpSpPr>
        <p:grpSpPr>
          <a:xfrm>
            <a:off x="14756400" y="686160"/>
            <a:ext cx="2719080" cy="1028880"/>
            <a:chOff x="14756400" y="686160"/>
            <a:chExt cx="2719080" cy="1028880"/>
          </a:xfrm>
        </p:grpSpPr>
        <p:sp>
          <p:nvSpPr>
            <p:cNvPr id="66" name="Freeform 7" descr="logo-iiec-light.png"/>
            <p:cNvSpPr/>
            <p:nvPr/>
          </p:nvSpPr>
          <p:spPr>
            <a:xfrm>
              <a:off x="14756400" y="686160"/>
              <a:ext cx="2719080" cy="1028880"/>
            </a:xfrm>
            <a:custGeom>
              <a:avLst/>
              <a:gdLst>
                <a:gd name="textAreaLeft" fmla="*/ 0 w 2719080"/>
                <a:gd name="textAreaRight" fmla="*/ 2719800 w 2719080"/>
                <a:gd name="textAreaTop" fmla="*/ 0 h 1028880"/>
                <a:gd name="textAreaBottom" fmla="*/ 1029600 h 1028880"/>
              </a:gdLst>
              <a:ahLst/>
              <a:cxnLst/>
              <a:rect l="textAreaLeft" t="textAreaTop" r="textAreaRight" b="textAreaBottom"/>
              <a:pathLst>
                <a:path w="3626612" h="1372616">
                  <a:moveTo>
                    <a:pt x="0" y="0"/>
                  </a:moveTo>
                  <a:lnTo>
                    <a:pt x="3626612" y="0"/>
                  </a:lnTo>
                  <a:lnTo>
                    <a:pt x="3626612" y="1372616"/>
                  </a:lnTo>
                  <a:lnTo>
                    <a:pt x="0" y="1372616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3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/>
              <a:endParaRPr lang="en-IN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7" name="Group 8"/>
          <p:cNvGrpSpPr/>
          <p:nvPr/>
        </p:nvGrpSpPr>
        <p:grpSpPr>
          <a:xfrm>
            <a:off x="686160" y="2127600"/>
            <a:ext cx="16924320" cy="54000"/>
            <a:chOff x="686160" y="2127600"/>
            <a:chExt cx="16924320" cy="54000"/>
          </a:xfrm>
        </p:grpSpPr>
        <p:sp>
          <p:nvSpPr>
            <p:cNvPr id="68" name="Freeform 9"/>
            <p:cNvSpPr/>
            <p:nvPr/>
          </p:nvSpPr>
          <p:spPr>
            <a:xfrm>
              <a:off x="686160" y="2127600"/>
              <a:ext cx="16924320" cy="54000"/>
            </a:xfrm>
            <a:custGeom>
              <a:avLst/>
              <a:gdLst>
                <a:gd name="textAreaLeft" fmla="*/ 0 w 16924320"/>
                <a:gd name="textAreaRight" fmla="*/ 16925040 w 16924320"/>
                <a:gd name="textAreaTop" fmla="*/ 0 h 54000"/>
                <a:gd name="textAreaBottom" fmla="*/ 54720 h 54000"/>
              </a:gdLst>
              <a:ahLst/>
              <a:cxnLst/>
              <a:rect l="textAreaLeft" t="textAreaTop" r="textAreaRight" b="textAreaBottom"/>
              <a:pathLst>
                <a:path w="22566757" h="73152">
                  <a:moveTo>
                    <a:pt x="0" y="0"/>
                  </a:moveTo>
                  <a:lnTo>
                    <a:pt x="22566757" y="0"/>
                  </a:lnTo>
                  <a:lnTo>
                    <a:pt x="22566757" y="73152"/>
                  </a:lnTo>
                  <a:lnTo>
                    <a:pt x="0" y="73152"/>
                  </a:lnTo>
                  <a:close/>
                </a:path>
              </a:pathLst>
            </a:custGeom>
            <a:solidFill>
              <a:srgbClr val="19E3F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9720" rIns="90000" bIns="9720" anchor="t">
              <a:noAutofit/>
            </a:bodyPr>
            <a:p>
              <a:pPr/>
              <a:endParaRPr lang="en-IN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9" name="TextBox 10"/>
          <p:cNvSpPr/>
          <p:nvPr/>
        </p:nvSpPr>
        <p:spPr>
          <a:xfrm>
            <a:off x="777600" y="2331720"/>
            <a:ext cx="16700400" cy="201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ts val="11889"/>
              </a:lnSpc>
            </a:pPr>
            <a:r>
              <a:rPr lang="en-US" sz="99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DATA</a:t>
            </a:r>
            <a:r>
              <a:rPr lang="en-US" sz="9900" b="0" u="none" strike="noStrike">
                <a:solidFill>
                  <a:srgbClr val="19E3F5"/>
                </a:solidFill>
                <a:effectLst/>
                <a:uFillTx/>
                <a:latin typeface="Arial"/>
                <a:ea typeface="Arial"/>
              </a:rPr>
              <a:t>T</a:t>
            </a:r>
            <a:r>
              <a:rPr lang="en-US" sz="99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HON 2026</a:t>
            </a:r>
            <a:endParaRPr lang="en-IN" sz="9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11"/>
          <p:cNvSpPr/>
          <p:nvPr/>
        </p:nvSpPr>
        <p:spPr>
          <a:xfrm>
            <a:off x="777600" y="4203720"/>
            <a:ext cx="16700400" cy="75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ts val="4323"/>
              </a:lnSpc>
            </a:pP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Arial Bold"/>
                <a:ea typeface="Arial Bold"/>
              </a:rPr>
              <a:t>ROUND 1  ·  IDEA PPT + BASE PROTOTYPE</a:t>
            </a:r>
            <a:endParaRPr lang="en-IN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12"/>
          <p:cNvSpPr/>
          <p:nvPr/>
        </p:nvSpPr>
        <p:spPr>
          <a:xfrm>
            <a:off x="4484160" y="5370480"/>
            <a:ext cx="11631600" cy="274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652680" lvl="1" indent="-326160" defTabSz="914400">
              <a:lnSpc>
                <a:spcPts val="4323"/>
              </a:lnSpc>
              <a:buClr>
                <a:srgbClr val="000000"/>
              </a:buClr>
              <a:buFont typeface="Arial"/>
              <a:buChar char="•"/>
            </a:pPr>
            <a:r>
              <a:rPr lang="en-US" sz="3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Team name: teamCookie()</a:t>
            </a:r>
            <a:endParaRPr lang="en-IN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52680" lvl="1" indent="-326160" defTabSz="914400">
              <a:lnSpc>
                <a:spcPts val="4323"/>
              </a:lnSpc>
              <a:buClr>
                <a:srgbClr val="000000"/>
              </a:buClr>
              <a:buFont typeface="Arial"/>
              <a:buChar char="•"/>
            </a:pPr>
            <a:r>
              <a:rPr lang="en-US" sz="3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Team Members: Pranjal Kumar, Kathrina Elangbam</a:t>
            </a:r>
            <a:endParaRPr lang="en-IN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52680" lvl="1" indent="-326160" defTabSz="914400">
              <a:lnSpc>
                <a:spcPts val="4323"/>
              </a:lnSpc>
              <a:buClr>
                <a:srgbClr val="000000"/>
              </a:buClr>
              <a:buFont typeface="Arial"/>
              <a:buChar char="•"/>
            </a:pPr>
            <a:r>
              <a:rPr lang="en-US" sz="3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Track Chosen: Smart City</a:t>
            </a:r>
            <a:endParaRPr lang="en-IN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52320" lvl="1" indent="-326160" defTabSz="914400">
              <a:lnSpc>
                <a:spcPts val="4323"/>
              </a:lnSpc>
              <a:buClr>
                <a:srgbClr val="000000"/>
              </a:buClr>
              <a:buFont typeface="Arial"/>
              <a:buChar char="•"/>
            </a:pPr>
            <a:r>
              <a:rPr lang="en-US" sz="3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Problem Statement Title: Where Should We Fix First?</a:t>
            </a:r>
            <a:endParaRPr lang="en-IN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52680" lvl="1" indent="-326160" defTabSz="914400">
              <a:lnSpc>
                <a:spcPts val="4323"/>
              </a:lnSpc>
              <a:buClr>
                <a:srgbClr val="000000"/>
              </a:buClr>
              <a:buFont typeface="Arial"/>
              <a:buChar char="•"/>
            </a:pPr>
            <a:r>
              <a:rPr lang="en-US" sz="3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Product Name: Mendwell</a:t>
            </a:r>
            <a:endParaRPr lang="en-IN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Group 2"/>
          <p:cNvGrpSpPr/>
          <p:nvPr/>
        </p:nvGrpSpPr>
        <p:grpSpPr>
          <a:xfrm>
            <a:off x="2676600" y="321840"/>
            <a:ext cx="12902400" cy="1324800"/>
            <a:chOff x="2676600" y="321840"/>
            <a:chExt cx="12902400" cy="1324800"/>
          </a:xfrm>
        </p:grpSpPr>
        <p:sp>
          <p:nvSpPr>
            <p:cNvPr id="73" name="Freeform 3"/>
            <p:cNvSpPr/>
            <p:nvPr/>
          </p:nvSpPr>
          <p:spPr>
            <a:xfrm>
              <a:off x="2676600" y="343080"/>
              <a:ext cx="12902400" cy="1303200"/>
            </a:xfrm>
            <a:custGeom>
              <a:avLst/>
              <a:gdLst>
                <a:gd name="textAreaLeft" fmla="*/ 0 w 12902400"/>
                <a:gd name="textAreaRight" fmla="*/ 12903120 w 12902400"/>
                <a:gd name="textAreaTop" fmla="*/ 0 h 1303200"/>
                <a:gd name="textAreaBottom" fmla="*/ 1303920 h 1303200"/>
              </a:gdLst>
              <a:ahLst/>
              <a:cxnLst/>
              <a:rect l="textAreaLeft" t="textAreaTop" r="textAreaRight" b="textAreaBottom"/>
              <a:pathLst>
                <a:path w="17204161" h="1738718">
                  <a:moveTo>
                    <a:pt x="0" y="0"/>
                  </a:moveTo>
                  <a:lnTo>
                    <a:pt x="17204161" y="0"/>
                  </a:lnTo>
                  <a:lnTo>
                    <a:pt x="17204161" y="1738718"/>
                  </a:lnTo>
                  <a:lnTo>
                    <a:pt x="0" y="1738718"/>
                  </a:lnTo>
                  <a:close/>
                </a:path>
              </a:pathLst>
            </a:custGeom>
            <a:blipFill rotWithShape="0">
              <a:blip r:embed="rId1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/>
              <a:endParaRPr lang="en-IN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4" name="TextBox 4"/>
            <p:cNvSpPr/>
            <p:nvPr/>
          </p:nvSpPr>
          <p:spPr>
            <a:xfrm>
              <a:off x="2676600" y="321840"/>
              <a:ext cx="12902400" cy="1324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algn="ctr" defTabSz="914400">
                <a:lnSpc>
                  <a:spcPts val="5403"/>
                </a:lnSpc>
              </a:pPr>
              <a:r>
                <a:rPr lang="en-US" sz="4500" b="0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PROBLEM &amp; TARGET USER</a:t>
              </a:r>
              <a:endParaRPr lang="en-IN" sz="45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5" name="Group 5"/>
          <p:cNvGrpSpPr/>
          <p:nvPr/>
        </p:nvGrpSpPr>
        <p:grpSpPr>
          <a:xfrm>
            <a:off x="617760" y="205920"/>
            <a:ext cx="1717560" cy="1371960"/>
            <a:chOff x="617760" y="205920"/>
            <a:chExt cx="1717560" cy="1371960"/>
          </a:xfrm>
        </p:grpSpPr>
        <p:sp>
          <p:nvSpPr>
            <p:cNvPr id="76" name="Freeform 6" descr="logo-dsc-light.png"/>
            <p:cNvSpPr/>
            <p:nvPr/>
          </p:nvSpPr>
          <p:spPr>
            <a:xfrm>
              <a:off x="617760" y="205920"/>
              <a:ext cx="1717560" cy="1371960"/>
            </a:xfrm>
            <a:custGeom>
              <a:avLst/>
              <a:gdLst>
                <a:gd name="textAreaLeft" fmla="*/ 0 w 1717560"/>
                <a:gd name="textAreaRight" fmla="*/ 1718280 w 1717560"/>
                <a:gd name="textAreaTop" fmla="*/ 0 h 1371960"/>
                <a:gd name="textAreaBottom" fmla="*/ 1372680 h 1371960"/>
              </a:gdLst>
              <a:ahLst/>
              <a:cxnLst/>
              <a:rect l="textAreaLeft" t="textAreaTop" r="textAreaRight" b="textAreaBottom"/>
              <a:pathLst>
                <a:path w="2291207" h="1830197">
                  <a:moveTo>
                    <a:pt x="0" y="0"/>
                  </a:moveTo>
                  <a:lnTo>
                    <a:pt x="2291207" y="0"/>
                  </a:lnTo>
                  <a:lnTo>
                    <a:pt x="2291207" y="1830197"/>
                  </a:lnTo>
                  <a:lnTo>
                    <a:pt x="0" y="1830197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2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/>
              <a:endParaRPr lang="en-IN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7" name="Group 7"/>
          <p:cNvGrpSpPr/>
          <p:nvPr/>
        </p:nvGrpSpPr>
        <p:grpSpPr>
          <a:xfrm>
            <a:off x="15373800" y="480600"/>
            <a:ext cx="2247840" cy="850320"/>
            <a:chOff x="15373800" y="480600"/>
            <a:chExt cx="2247840" cy="850320"/>
          </a:xfrm>
        </p:grpSpPr>
        <p:sp>
          <p:nvSpPr>
            <p:cNvPr id="78" name="Freeform 8" descr="logo-iiec-light.png"/>
            <p:cNvSpPr/>
            <p:nvPr/>
          </p:nvSpPr>
          <p:spPr>
            <a:xfrm>
              <a:off x="15373800" y="480600"/>
              <a:ext cx="2247840" cy="850320"/>
            </a:xfrm>
            <a:custGeom>
              <a:avLst/>
              <a:gdLst>
                <a:gd name="textAreaLeft" fmla="*/ 0 w 2247840"/>
                <a:gd name="textAreaRight" fmla="*/ 2248560 w 2247840"/>
                <a:gd name="textAreaTop" fmla="*/ 0 h 850320"/>
                <a:gd name="textAreaBottom" fmla="*/ 851040 h 850320"/>
              </a:gdLst>
              <a:ahLst/>
              <a:cxnLst/>
              <a:rect l="textAreaLeft" t="textAreaTop" r="textAreaRight" b="textAreaBottom"/>
              <a:pathLst>
                <a:path w="2998089" h="1134745">
                  <a:moveTo>
                    <a:pt x="0" y="0"/>
                  </a:moveTo>
                  <a:lnTo>
                    <a:pt x="2998089" y="0"/>
                  </a:lnTo>
                  <a:lnTo>
                    <a:pt x="2998089" y="1134745"/>
                  </a:lnTo>
                  <a:lnTo>
                    <a:pt x="0" y="1134745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3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/>
              <a:endParaRPr lang="en-IN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9" name="Group 9"/>
          <p:cNvGrpSpPr/>
          <p:nvPr/>
        </p:nvGrpSpPr>
        <p:grpSpPr>
          <a:xfrm>
            <a:off x="0" y="9540000"/>
            <a:ext cx="18300960" cy="754200"/>
            <a:chOff x="0" y="9540000"/>
            <a:chExt cx="18300960" cy="754200"/>
          </a:xfrm>
        </p:grpSpPr>
        <p:sp>
          <p:nvSpPr>
            <p:cNvPr id="80" name="Freeform 10"/>
            <p:cNvSpPr/>
            <p:nvPr/>
          </p:nvSpPr>
          <p:spPr>
            <a:xfrm>
              <a:off x="0" y="9540000"/>
              <a:ext cx="18300960" cy="754200"/>
            </a:xfrm>
            <a:custGeom>
              <a:avLst/>
              <a:gdLst>
                <a:gd name="textAreaLeft" fmla="*/ 0 w 18300960"/>
                <a:gd name="textAreaRight" fmla="*/ 18301680 w 18300960"/>
                <a:gd name="textAreaTop" fmla="*/ 0 h 754200"/>
                <a:gd name="textAreaBottom" fmla="*/ 754920 h 754200"/>
              </a:gdLst>
              <a:ahLst/>
              <a:cxnLst/>
              <a:rect l="textAreaLeft" t="textAreaTop" r="textAreaRight" b="textAreaBottom"/>
              <a:pathLst>
                <a:path w="24402414" h="1006602">
                  <a:moveTo>
                    <a:pt x="0" y="0"/>
                  </a:moveTo>
                  <a:lnTo>
                    <a:pt x="24402414" y="0"/>
                  </a:lnTo>
                  <a:lnTo>
                    <a:pt x="24402414" y="1006602"/>
                  </a:lnTo>
                  <a:lnTo>
                    <a:pt x="0" y="1006602"/>
                  </a:lnTo>
                  <a:close/>
                </a:path>
              </a:pathLst>
            </a:custGeom>
            <a:solidFill>
              <a:srgbClr val="19E3F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/>
              <a:endParaRPr lang="en-IN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81" name="Group 11"/>
          <p:cNvGrpSpPr/>
          <p:nvPr/>
        </p:nvGrpSpPr>
        <p:grpSpPr>
          <a:xfrm>
            <a:off x="0" y="9525960"/>
            <a:ext cx="18300960" cy="768600"/>
            <a:chOff x="0" y="9525960"/>
            <a:chExt cx="18300960" cy="768600"/>
          </a:xfrm>
        </p:grpSpPr>
        <p:sp>
          <p:nvSpPr>
            <p:cNvPr id="82" name="Freeform 12"/>
            <p:cNvSpPr/>
            <p:nvPr/>
          </p:nvSpPr>
          <p:spPr>
            <a:xfrm>
              <a:off x="0" y="9540000"/>
              <a:ext cx="18300960" cy="754200"/>
            </a:xfrm>
            <a:custGeom>
              <a:avLst/>
              <a:gdLst>
                <a:gd name="textAreaLeft" fmla="*/ 0 w 18300960"/>
                <a:gd name="textAreaRight" fmla="*/ 18301680 w 18300960"/>
                <a:gd name="textAreaTop" fmla="*/ 0 h 754200"/>
                <a:gd name="textAreaBottom" fmla="*/ 754920 h 754200"/>
              </a:gdLst>
              <a:ahLst/>
              <a:cxnLst/>
              <a:rect l="textAreaLeft" t="textAreaTop" r="textAreaRight" b="textAreaBottom"/>
              <a:pathLst>
                <a:path w="24402455" h="1006626">
                  <a:moveTo>
                    <a:pt x="0" y="0"/>
                  </a:moveTo>
                  <a:lnTo>
                    <a:pt x="24402455" y="0"/>
                  </a:lnTo>
                  <a:lnTo>
                    <a:pt x="24402455" y="1006626"/>
                  </a:lnTo>
                  <a:lnTo>
                    <a:pt x="0" y="1006626"/>
                  </a:lnTo>
                  <a:close/>
                </a:path>
              </a:pathLst>
            </a:custGeom>
            <a:blipFill rotWithShape="0">
              <a:blip r:embed="rId4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/>
              <a:endParaRPr lang="en-IN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3" name="TextBox 13"/>
            <p:cNvSpPr/>
            <p:nvPr/>
          </p:nvSpPr>
          <p:spPr>
            <a:xfrm>
              <a:off x="0" y="9525960"/>
              <a:ext cx="18300960" cy="768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algn="ctr" defTabSz="914400">
                <a:lnSpc>
                  <a:spcPts val="2160"/>
                </a:lnSpc>
              </a:pPr>
              <a:r>
                <a:rPr lang="en-US" sz="1800" b="1" u="none" strike="noStrike">
                  <a:solidFill>
                    <a:srgbClr val="000000"/>
                  </a:solidFill>
                  <a:effectLst/>
                  <a:uFillTx/>
                  <a:latin typeface="Arial Bold"/>
                  <a:ea typeface="Arial Bold"/>
                </a:rPr>
                <a:t>DATATHON 2026  ·  Round 1 Idea Submission – Template</a:t>
              </a:r>
              <a:endParaRPr lang="en-IN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84" name="Group 14"/>
          <p:cNvGrpSpPr/>
          <p:nvPr/>
        </p:nvGrpSpPr>
        <p:grpSpPr>
          <a:xfrm>
            <a:off x="16334640" y="9525960"/>
            <a:ext cx="1509120" cy="768600"/>
            <a:chOff x="16334640" y="9525960"/>
            <a:chExt cx="1509120" cy="768600"/>
          </a:xfrm>
        </p:grpSpPr>
        <p:sp>
          <p:nvSpPr>
            <p:cNvPr id="85" name="Freeform 15"/>
            <p:cNvSpPr/>
            <p:nvPr/>
          </p:nvSpPr>
          <p:spPr>
            <a:xfrm>
              <a:off x="16334640" y="9540000"/>
              <a:ext cx="1509120" cy="754200"/>
            </a:xfrm>
            <a:custGeom>
              <a:avLst/>
              <a:gdLst>
                <a:gd name="textAreaLeft" fmla="*/ 0 w 1509120"/>
                <a:gd name="textAreaRight" fmla="*/ 1509840 w 1509120"/>
                <a:gd name="textAreaTop" fmla="*/ 0 h 754200"/>
                <a:gd name="textAreaBottom" fmla="*/ 754920 h 754200"/>
              </a:gdLst>
              <a:ahLst/>
              <a:cxnLst/>
              <a:rect l="textAreaLeft" t="textAreaTop" r="textAreaRight" b="textAreaBottom"/>
              <a:pathLst>
                <a:path w="2013253" h="1006626">
                  <a:moveTo>
                    <a:pt x="0" y="0"/>
                  </a:moveTo>
                  <a:lnTo>
                    <a:pt x="2013253" y="0"/>
                  </a:lnTo>
                  <a:lnTo>
                    <a:pt x="2013253" y="1006626"/>
                  </a:lnTo>
                  <a:lnTo>
                    <a:pt x="0" y="1006626"/>
                  </a:lnTo>
                  <a:close/>
                </a:path>
              </a:pathLst>
            </a:custGeom>
            <a:blipFill rotWithShape="0">
              <a:blip r:embed="rId5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/>
              <a:endParaRPr lang="en-IN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6" name="TextBox 16"/>
            <p:cNvSpPr/>
            <p:nvPr/>
          </p:nvSpPr>
          <p:spPr>
            <a:xfrm>
              <a:off x="16334640" y="9525960"/>
              <a:ext cx="1509120" cy="768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algn="r" defTabSz="914400">
                <a:lnSpc>
                  <a:spcPts val="2341"/>
                </a:lnSpc>
              </a:pPr>
              <a:r>
                <a:rPr lang="en-US" sz="1950" b="1" u="none" strike="noStrike">
                  <a:solidFill>
                    <a:srgbClr val="000000"/>
                  </a:solidFill>
                  <a:effectLst/>
                  <a:uFillTx/>
                  <a:latin typeface="Arial Bold"/>
                  <a:ea typeface="Arial Bold"/>
                </a:rPr>
                <a:t>2</a:t>
              </a:r>
              <a:endParaRPr lang="en-IN" sz="19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7" name="TextBox 17"/>
          <p:cNvSpPr/>
          <p:nvPr/>
        </p:nvSpPr>
        <p:spPr>
          <a:xfrm>
            <a:off x="915120" y="2291760"/>
            <a:ext cx="16425720" cy="75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ts val="5043"/>
              </a:lnSpc>
            </a:pPr>
            <a:r>
              <a:rPr lang="en-US" sz="4200" b="1" u="none" strike="noStrike">
                <a:solidFill>
                  <a:srgbClr val="000000"/>
                </a:solidFill>
                <a:effectLst/>
                <a:uFillTx/>
                <a:latin typeface="Arial Bold"/>
                <a:ea typeface="Arial Bold"/>
              </a:rPr>
              <a:t>❖ </a:t>
            </a:r>
            <a:r>
              <a:rPr lang="en-US" sz="4200" b="1" u="sng" strike="noStrike">
                <a:solidFill>
                  <a:srgbClr val="000000"/>
                </a:solidFill>
                <a:effectLst/>
                <a:uFillTx/>
                <a:latin typeface="Arial Bold"/>
                <a:ea typeface="Arial Bold"/>
              </a:rPr>
              <a:t>Problem &amp; Target User</a:t>
            </a:r>
            <a:endParaRPr lang="en-IN" sz="4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PersonaCard"/>
          <p:cNvSpPr/>
          <p:nvPr/>
        </p:nvSpPr>
        <p:spPr>
          <a:xfrm>
            <a:off x="617760" y="3150000"/>
            <a:ext cx="17051760" cy="819360"/>
          </a:xfrm>
          <a:prstGeom prst="rect">
            <a:avLst/>
          </a:prstGeom>
          <a:solidFill>
            <a:srgbClr val="F2FDFF"/>
          </a:solidFill>
          <a:ln w="12700">
            <a:solidFill>
              <a:srgbClr val="D9D9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0040" tIns="45000" rIns="180000" bIns="45000" anchor="ctr">
            <a:noAutofit/>
          </a:bodyPr>
          <a:p>
            <a:pPr defTabSz="914400">
              <a:lnSpc>
                <a:spcPct val="110000"/>
              </a:lnSpc>
            </a:pPr>
            <a:r>
              <a:rPr lang="en-US" sz="1700" b="1" u="none" strike="noStrike">
                <a:solidFill>
                  <a:srgbClr val="0B9FB0"/>
                </a:solidFill>
                <a:effectLst/>
                <a:uFillTx/>
                <a:latin typeface="Arial"/>
              </a:rPr>
              <a:t>USER:  </a:t>
            </a:r>
            <a:r>
              <a:rPr lang="en-US" sz="17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Municipal roads officer deciding which reported issues get fixed first.   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</a:pPr>
            <a:r>
              <a:rPr lang="en-US" sz="1700" b="1" u="none" strike="noStrike">
                <a:solidFill>
                  <a:srgbClr val="0B9FB0"/>
                </a:solidFill>
                <a:effectLst/>
                <a:uFillTx/>
                <a:latin typeface="Arial"/>
              </a:rPr>
              <a:t>PAIN : </a:t>
            </a:r>
            <a:r>
              <a:rPr lang="en-US" sz="17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Triage follows the loudest complaint, not real severity. No shared ranking across incident logs and complaints.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PersonaAccent"/>
          <p:cNvSpPr/>
          <p:nvPr/>
        </p:nvSpPr>
        <p:spPr>
          <a:xfrm>
            <a:off x="617760" y="3150000"/>
            <a:ext cx="89280" cy="819360"/>
          </a:xfrm>
          <a:prstGeom prst="rect">
            <a:avLst/>
          </a:prstGeom>
          <a:solidFill>
            <a:srgbClr val="19E3F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4640" tIns="45000" rIns="4464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" name="KPI1"/>
          <p:cNvSpPr/>
          <p:nvPr/>
        </p:nvSpPr>
        <p:spPr>
          <a:xfrm>
            <a:off x="617760" y="4079880"/>
            <a:ext cx="4097520" cy="1449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00160" tIns="45000" rIns="14004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3600" b="1" u="none" strike="noStrike">
                <a:solidFill>
                  <a:srgbClr val="0B9FB0"/>
                </a:solidFill>
                <a:effectLst/>
                <a:uFillTx/>
                <a:latin typeface="Arial"/>
              </a:rPr>
              <a:t>32.2 hrs</a:t>
            </a:r>
            <a:endParaRPr lang="en-IN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Arial"/>
              </a:rPr>
              <a:t>Critical avg resolution (matches Low: 32.6 hrs)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KPI1Accent"/>
          <p:cNvSpPr/>
          <p:nvPr/>
        </p:nvSpPr>
        <p:spPr>
          <a:xfrm>
            <a:off x="617760" y="4079880"/>
            <a:ext cx="89280" cy="1449360"/>
          </a:xfrm>
          <a:prstGeom prst="rect">
            <a:avLst/>
          </a:prstGeom>
          <a:solidFill>
            <a:srgbClr val="19E3F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4640" tIns="45000" rIns="4464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2" name="KPI2"/>
          <p:cNvSpPr/>
          <p:nvPr/>
        </p:nvSpPr>
        <p:spPr>
          <a:xfrm>
            <a:off x="4935960" y="4079880"/>
            <a:ext cx="4097520" cy="1449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00160" tIns="45000" rIns="14004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3600" b="1" u="none" strike="noStrike">
                <a:solidFill>
                  <a:srgbClr val="0B9FB0"/>
                </a:solidFill>
                <a:effectLst/>
                <a:uFillTx/>
                <a:latin typeface="Arial"/>
              </a:rPr>
              <a:t>31%</a:t>
            </a:r>
            <a:endParaRPr lang="en-IN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Arial"/>
              </a:rPr>
              <a:t>Critical incidents still unresolved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KPI2Accent"/>
          <p:cNvSpPr/>
          <p:nvPr/>
        </p:nvSpPr>
        <p:spPr>
          <a:xfrm>
            <a:off x="4935960" y="4079880"/>
            <a:ext cx="89280" cy="1449360"/>
          </a:xfrm>
          <a:prstGeom prst="rect">
            <a:avLst/>
          </a:prstGeom>
          <a:solidFill>
            <a:srgbClr val="19E3F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4640" tIns="45000" rIns="4464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" name="KPI3"/>
          <p:cNvSpPr/>
          <p:nvPr/>
        </p:nvSpPr>
        <p:spPr>
          <a:xfrm>
            <a:off x="9254160" y="4079880"/>
            <a:ext cx="4097520" cy="1449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00160" tIns="45000" rIns="14004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3600" b="1" u="none" strike="noStrike">
                <a:solidFill>
                  <a:srgbClr val="0B9FB0"/>
                </a:solidFill>
                <a:effectLst/>
                <a:uFillTx/>
                <a:latin typeface="Arial"/>
              </a:rPr>
              <a:t>2,475</a:t>
            </a:r>
            <a:endParaRPr lang="en-IN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Arial"/>
              </a:rPr>
              <a:t>Injuries recorded in dataset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KPI3Accent"/>
          <p:cNvSpPr/>
          <p:nvPr/>
        </p:nvSpPr>
        <p:spPr>
          <a:xfrm>
            <a:off x="9254160" y="4079880"/>
            <a:ext cx="89280" cy="1449360"/>
          </a:xfrm>
          <a:prstGeom prst="rect">
            <a:avLst/>
          </a:prstGeom>
          <a:solidFill>
            <a:srgbClr val="19E3F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4640" tIns="45000" rIns="4464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" name="KPI4"/>
          <p:cNvSpPr/>
          <p:nvPr/>
        </p:nvSpPr>
        <p:spPr>
          <a:xfrm>
            <a:off x="13572000" y="4079880"/>
            <a:ext cx="4097520" cy="1449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00160" tIns="45000" rIns="14004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3600" b="1" u="none" strike="noStrike">
                <a:solidFill>
                  <a:srgbClr val="0B9FB0"/>
                </a:solidFill>
                <a:effectLst/>
                <a:uFillTx/>
                <a:latin typeface="Arial"/>
              </a:rPr>
              <a:t>1.9%</a:t>
            </a:r>
            <a:endParaRPr lang="en-IN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Arial"/>
              </a:rPr>
              <a:t>Of incidents in top 10 locations (risk is spread, not clustered)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KPI4Accent"/>
          <p:cNvSpPr/>
          <p:nvPr/>
        </p:nvSpPr>
        <p:spPr>
          <a:xfrm>
            <a:off x="13572000" y="4079880"/>
            <a:ext cx="89280" cy="1449360"/>
          </a:xfrm>
          <a:prstGeom prst="rect">
            <a:avLst/>
          </a:prstGeom>
          <a:solidFill>
            <a:srgbClr val="19E3F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4640" tIns="45000" rIns="4464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8" name="ChartCardL"/>
          <p:cNvSpPr/>
          <p:nvPr/>
        </p:nvSpPr>
        <p:spPr>
          <a:xfrm>
            <a:off x="617760" y="5749920"/>
            <a:ext cx="8375400" cy="339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" name="ChartLTitle"/>
          <p:cNvSpPr/>
          <p:nvPr/>
        </p:nvSpPr>
        <p:spPr>
          <a:xfrm>
            <a:off x="917640" y="5879880"/>
            <a:ext cx="7775640" cy="39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Resolution time by severity (hrs)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ChartLAxis"/>
          <p:cNvSpPr/>
          <p:nvPr/>
        </p:nvSpPr>
        <p:spPr>
          <a:xfrm>
            <a:off x="1100160" y="8650080"/>
            <a:ext cx="7399440" cy="15120"/>
          </a:xfrm>
          <a:prstGeom prst="rect">
            <a:avLst/>
          </a:prstGeom>
          <a:solidFill>
            <a:srgbClr val="BFBFB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9160" rIns="90000" bIns="-2916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1" name="BarLCritical"/>
          <p:cNvSpPr/>
          <p:nvPr/>
        </p:nvSpPr>
        <p:spPr>
          <a:xfrm>
            <a:off x="1599840" y="6724080"/>
            <a:ext cx="2049120" cy="1925280"/>
          </a:xfrm>
          <a:prstGeom prst="rect">
            <a:avLst/>
          </a:prstGeom>
          <a:solidFill>
            <a:srgbClr val="19E3F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" name="BarLLow"/>
          <p:cNvSpPr/>
          <p:nvPr/>
        </p:nvSpPr>
        <p:spPr>
          <a:xfrm>
            <a:off x="5400000" y="6699960"/>
            <a:ext cx="2049120" cy="1949400"/>
          </a:xfrm>
          <a:prstGeom prst="rect">
            <a:avLst/>
          </a:prstGeom>
          <a:solidFill>
            <a:srgbClr val="9AEE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" name="BarLCriticalVal"/>
          <p:cNvSpPr/>
          <p:nvPr/>
        </p:nvSpPr>
        <p:spPr>
          <a:xfrm>
            <a:off x="1599840" y="6293880"/>
            <a:ext cx="2049120" cy="39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32.2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BarLLowVal"/>
          <p:cNvSpPr/>
          <p:nvPr/>
        </p:nvSpPr>
        <p:spPr>
          <a:xfrm>
            <a:off x="5400000" y="6270120"/>
            <a:ext cx="2049120" cy="39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32.6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BarLCriticalCat"/>
          <p:cNvSpPr/>
          <p:nvPr/>
        </p:nvSpPr>
        <p:spPr>
          <a:xfrm>
            <a:off x="1599840" y="8700120"/>
            <a:ext cx="2049120" cy="3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Critical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BarLLowCat"/>
          <p:cNvSpPr/>
          <p:nvPr/>
        </p:nvSpPr>
        <p:spPr>
          <a:xfrm>
            <a:off x="5400000" y="8700120"/>
            <a:ext cx="2049120" cy="3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Low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ChartCardR"/>
          <p:cNvSpPr/>
          <p:nvPr/>
        </p:nvSpPr>
        <p:spPr>
          <a:xfrm>
            <a:off x="9294120" y="5749920"/>
            <a:ext cx="8375400" cy="339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" name="ChartRTitle"/>
          <p:cNvSpPr/>
          <p:nvPr/>
        </p:nvSpPr>
        <p:spPr>
          <a:xfrm>
            <a:off x="9594000" y="5879880"/>
            <a:ext cx="7775640" cy="39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Unresolved backlog (%)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ChartRAxis"/>
          <p:cNvSpPr/>
          <p:nvPr/>
        </p:nvSpPr>
        <p:spPr>
          <a:xfrm>
            <a:off x="9900000" y="8650080"/>
            <a:ext cx="6999120" cy="15120"/>
          </a:xfrm>
          <a:prstGeom prst="rect">
            <a:avLst/>
          </a:prstGeom>
          <a:solidFill>
            <a:srgbClr val="BFBFB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9160" rIns="90000" bIns="-2916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0" name="BarRIncidents"/>
          <p:cNvSpPr/>
          <p:nvPr/>
        </p:nvSpPr>
        <p:spPr>
          <a:xfrm>
            <a:off x="10194120" y="7349040"/>
            <a:ext cx="1499400" cy="1300320"/>
          </a:xfrm>
          <a:prstGeom prst="rect">
            <a:avLst/>
          </a:prstGeom>
          <a:solidFill>
            <a:srgbClr val="9AEE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1" name="BarRCritical"/>
          <p:cNvSpPr/>
          <p:nvPr/>
        </p:nvSpPr>
        <p:spPr>
          <a:xfrm>
            <a:off x="12744000" y="7243920"/>
            <a:ext cx="1499400" cy="1405440"/>
          </a:xfrm>
          <a:prstGeom prst="rect">
            <a:avLst/>
          </a:prstGeom>
          <a:solidFill>
            <a:srgbClr val="19E3F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2" name="BarRComplaints"/>
          <p:cNvSpPr/>
          <p:nvPr/>
        </p:nvSpPr>
        <p:spPr>
          <a:xfrm>
            <a:off x="15293880" y="6699960"/>
            <a:ext cx="1499400" cy="1949400"/>
          </a:xfrm>
          <a:prstGeom prst="rect">
            <a:avLst/>
          </a:prstGeom>
          <a:solidFill>
            <a:srgbClr val="0B9FB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3" name="BarRIncidentsVal"/>
          <p:cNvSpPr/>
          <p:nvPr/>
        </p:nvSpPr>
        <p:spPr>
          <a:xfrm>
            <a:off x="10044000" y="6918840"/>
            <a:ext cx="1799280" cy="39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5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28.7%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BarRCriticalVal"/>
          <p:cNvSpPr/>
          <p:nvPr/>
        </p:nvSpPr>
        <p:spPr>
          <a:xfrm>
            <a:off x="12593880" y="6814080"/>
            <a:ext cx="1799280" cy="39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5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31%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BarRComplaintsVal"/>
          <p:cNvSpPr/>
          <p:nvPr/>
        </p:nvSpPr>
        <p:spPr>
          <a:xfrm>
            <a:off x="15144120" y="6270120"/>
            <a:ext cx="1799280" cy="39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5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43%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BarRIncidentsCat"/>
          <p:cNvSpPr/>
          <p:nvPr/>
        </p:nvSpPr>
        <p:spPr>
          <a:xfrm>
            <a:off x="10044000" y="8700120"/>
            <a:ext cx="1799280" cy="3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All incidents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BarRCriticalCat"/>
          <p:cNvSpPr/>
          <p:nvPr/>
        </p:nvSpPr>
        <p:spPr>
          <a:xfrm>
            <a:off x="12593880" y="8700120"/>
            <a:ext cx="1799280" cy="3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Critical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BarRComplaintsCat"/>
          <p:cNvSpPr/>
          <p:nvPr/>
        </p:nvSpPr>
        <p:spPr>
          <a:xfrm>
            <a:off x="15144120" y="8700120"/>
            <a:ext cx="1799280" cy="3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Complaints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9" name="Group 2"/>
          <p:cNvGrpSpPr/>
          <p:nvPr/>
        </p:nvGrpSpPr>
        <p:grpSpPr>
          <a:xfrm>
            <a:off x="2676600" y="321840"/>
            <a:ext cx="12902760" cy="1325160"/>
            <a:chOff x="2676600" y="321840"/>
            <a:chExt cx="12902760" cy="1325160"/>
          </a:xfrm>
        </p:grpSpPr>
        <p:sp>
          <p:nvSpPr>
            <p:cNvPr id="120" name="Freeform 3"/>
            <p:cNvSpPr/>
            <p:nvPr/>
          </p:nvSpPr>
          <p:spPr>
            <a:xfrm>
              <a:off x="2676600" y="343080"/>
              <a:ext cx="12902760" cy="1303560"/>
            </a:xfrm>
            <a:custGeom>
              <a:avLst/>
              <a:gdLst>
                <a:gd name="textAreaLeft" fmla="*/ 0 w 12902760"/>
                <a:gd name="textAreaRight" fmla="*/ 12903120 w 12902760"/>
                <a:gd name="textAreaTop" fmla="*/ 0 h 1303560"/>
                <a:gd name="textAreaBottom" fmla="*/ 1303920 h 1303560"/>
              </a:gdLst>
              <a:ahLst/>
              <a:cxnLst/>
              <a:rect l="textAreaLeft" t="textAreaTop" r="textAreaRight" b="textAreaBottom"/>
              <a:pathLst>
                <a:path w="17204161" h="1738718">
                  <a:moveTo>
                    <a:pt x="0" y="0"/>
                  </a:moveTo>
                  <a:lnTo>
                    <a:pt x="17204161" y="0"/>
                  </a:lnTo>
                  <a:lnTo>
                    <a:pt x="17204161" y="1738718"/>
                  </a:lnTo>
                  <a:lnTo>
                    <a:pt x="0" y="1738718"/>
                  </a:lnTo>
                  <a:close/>
                </a:path>
              </a:pathLst>
            </a:custGeom>
            <a:blipFill rotWithShape="0">
              <a:blip r:embed="rId1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/>
              <a:endParaRPr lang="en-IN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1" name="TextBox 4"/>
            <p:cNvSpPr/>
            <p:nvPr/>
          </p:nvSpPr>
          <p:spPr>
            <a:xfrm>
              <a:off x="2676600" y="321840"/>
              <a:ext cx="12902760" cy="1325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algn="ctr">
                <a:lnSpc>
                  <a:spcPts val="5403"/>
                </a:lnSpc>
              </a:pPr>
              <a:r>
                <a:rPr lang="en-US" sz="4500" b="0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SOLUTION &amp; USP</a:t>
              </a:r>
              <a:endParaRPr lang="en-IN" sz="45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22" name="Group 5"/>
          <p:cNvGrpSpPr/>
          <p:nvPr/>
        </p:nvGrpSpPr>
        <p:grpSpPr>
          <a:xfrm>
            <a:off x="15922080" y="360000"/>
            <a:ext cx="1717920" cy="1372320"/>
            <a:chOff x="15922080" y="360000"/>
            <a:chExt cx="1717920" cy="1372320"/>
          </a:xfrm>
        </p:grpSpPr>
        <p:sp>
          <p:nvSpPr>
            <p:cNvPr id="123" name="Freeform 6" descr="logo-dsc-light.png"/>
            <p:cNvSpPr/>
            <p:nvPr/>
          </p:nvSpPr>
          <p:spPr>
            <a:xfrm>
              <a:off x="15922080" y="360000"/>
              <a:ext cx="1717920" cy="1372320"/>
            </a:xfrm>
            <a:custGeom>
              <a:avLst/>
              <a:gdLst>
                <a:gd name="textAreaLeft" fmla="*/ 0 w 1717920"/>
                <a:gd name="textAreaRight" fmla="*/ 1718280 w 1717920"/>
                <a:gd name="textAreaTop" fmla="*/ 0 h 1372320"/>
                <a:gd name="textAreaBottom" fmla="*/ 1372680 h 1372320"/>
              </a:gdLst>
              <a:ahLst/>
              <a:cxnLst/>
              <a:rect l="textAreaLeft" t="textAreaTop" r="textAreaRight" b="textAreaBottom"/>
              <a:pathLst>
                <a:path w="2291207" h="1830197">
                  <a:moveTo>
                    <a:pt x="0" y="0"/>
                  </a:moveTo>
                  <a:lnTo>
                    <a:pt x="2291207" y="0"/>
                  </a:lnTo>
                  <a:lnTo>
                    <a:pt x="2291207" y="1830197"/>
                  </a:lnTo>
                  <a:lnTo>
                    <a:pt x="0" y="1830197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2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/>
              <a:endParaRPr lang="en-IN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24" name="Group 9"/>
          <p:cNvGrpSpPr/>
          <p:nvPr/>
        </p:nvGrpSpPr>
        <p:grpSpPr>
          <a:xfrm>
            <a:off x="0" y="9540000"/>
            <a:ext cx="18301320" cy="754560"/>
            <a:chOff x="0" y="9540000"/>
            <a:chExt cx="18301320" cy="754560"/>
          </a:xfrm>
        </p:grpSpPr>
        <p:sp>
          <p:nvSpPr>
            <p:cNvPr id="125" name="Freeform 10"/>
            <p:cNvSpPr/>
            <p:nvPr/>
          </p:nvSpPr>
          <p:spPr>
            <a:xfrm>
              <a:off x="0" y="9540000"/>
              <a:ext cx="18301320" cy="754560"/>
            </a:xfrm>
            <a:custGeom>
              <a:avLst/>
              <a:gdLst>
                <a:gd name="textAreaLeft" fmla="*/ 0 w 18301320"/>
                <a:gd name="textAreaRight" fmla="*/ 18301680 w 18301320"/>
                <a:gd name="textAreaTop" fmla="*/ 0 h 754560"/>
                <a:gd name="textAreaBottom" fmla="*/ 754920 h 754560"/>
              </a:gdLst>
              <a:ahLst/>
              <a:cxnLst/>
              <a:rect l="textAreaLeft" t="textAreaTop" r="textAreaRight" b="textAreaBottom"/>
              <a:pathLst>
                <a:path w="24402414" h="1006602">
                  <a:moveTo>
                    <a:pt x="0" y="0"/>
                  </a:moveTo>
                  <a:lnTo>
                    <a:pt x="24402414" y="0"/>
                  </a:lnTo>
                  <a:lnTo>
                    <a:pt x="24402414" y="1006602"/>
                  </a:lnTo>
                  <a:lnTo>
                    <a:pt x="0" y="1006602"/>
                  </a:lnTo>
                  <a:close/>
                </a:path>
              </a:pathLst>
            </a:custGeom>
            <a:solidFill>
              <a:srgbClr val="19E3F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/>
              <a:endParaRPr lang="en-IN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26" name="Group 11"/>
          <p:cNvGrpSpPr/>
          <p:nvPr/>
        </p:nvGrpSpPr>
        <p:grpSpPr>
          <a:xfrm>
            <a:off x="0" y="9525960"/>
            <a:ext cx="18301320" cy="768960"/>
            <a:chOff x="0" y="9525960"/>
            <a:chExt cx="18301320" cy="768960"/>
          </a:xfrm>
        </p:grpSpPr>
        <p:sp>
          <p:nvSpPr>
            <p:cNvPr id="127" name="Freeform 12"/>
            <p:cNvSpPr/>
            <p:nvPr/>
          </p:nvSpPr>
          <p:spPr>
            <a:xfrm>
              <a:off x="0" y="9540000"/>
              <a:ext cx="18301320" cy="754560"/>
            </a:xfrm>
            <a:custGeom>
              <a:avLst/>
              <a:gdLst>
                <a:gd name="textAreaLeft" fmla="*/ 0 w 18301320"/>
                <a:gd name="textAreaRight" fmla="*/ 18301680 w 18301320"/>
                <a:gd name="textAreaTop" fmla="*/ 0 h 754560"/>
                <a:gd name="textAreaBottom" fmla="*/ 754920 h 754560"/>
              </a:gdLst>
              <a:ahLst/>
              <a:cxnLst/>
              <a:rect l="textAreaLeft" t="textAreaTop" r="textAreaRight" b="textAreaBottom"/>
              <a:pathLst>
                <a:path w="24402455" h="1006626">
                  <a:moveTo>
                    <a:pt x="0" y="0"/>
                  </a:moveTo>
                  <a:lnTo>
                    <a:pt x="24402455" y="0"/>
                  </a:lnTo>
                  <a:lnTo>
                    <a:pt x="24402455" y="1006626"/>
                  </a:lnTo>
                  <a:lnTo>
                    <a:pt x="0" y="1006626"/>
                  </a:lnTo>
                  <a:close/>
                </a:path>
              </a:pathLst>
            </a:custGeom>
            <a:blipFill rotWithShape="0">
              <a:blip r:embed="rId3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/>
              <a:endParaRPr lang="en-IN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8" name="TextBox 13"/>
            <p:cNvSpPr/>
            <p:nvPr/>
          </p:nvSpPr>
          <p:spPr>
            <a:xfrm>
              <a:off x="0" y="9525960"/>
              <a:ext cx="18301320" cy="768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algn="ctr">
                <a:lnSpc>
                  <a:spcPts val="2160"/>
                </a:lnSpc>
              </a:pPr>
              <a:r>
                <a:rPr lang="en-US" sz="1800" b="1" u="none" strike="noStrike">
                  <a:solidFill>
                    <a:srgbClr val="000000"/>
                  </a:solidFill>
                  <a:effectLst/>
                  <a:uFillTx/>
                  <a:latin typeface="Arial Bold"/>
                  <a:ea typeface="Arial Bold"/>
                </a:rPr>
                <a:t>DATATHON 2026  ·  Round 1 Idea Submission – Template</a:t>
              </a:r>
              <a:endParaRPr lang="en-IN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29" name="Group 14"/>
          <p:cNvGrpSpPr/>
          <p:nvPr/>
        </p:nvGrpSpPr>
        <p:grpSpPr>
          <a:xfrm>
            <a:off x="16334640" y="9525960"/>
            <a:ext cx="1509480" cy="768960"/>
            <a:chOff x="16334640" y="9525960"/>
            <a:chExt cx="1509480" cy="768960"/>
          </a:xfrm>
        </p:grpSpPr>
        <p:sp>
          <p:nvSpPr>
            <p:cNvPr id="130" name="Freeform 15"/>
            <p:cNvSpPr/>
            <p:nvPr/>
          </p:nvSpPr>
          <p:spPr>
            <a:xfrm>
              <a:off x="16334640" y="9540000"/>
              <a:ext cx="1509480" cy="754560"/>
            </a:xfrm>
            <a:custGeom>
              <a:avLst/>
              <a:gdLst>
                <a:gd name="textAreaLeft" fmla="*/ 0 w 1509480"/>
                <a:gd name="textAreaRight" fmla="*/ 1509840 w 1509480"/>
                <a:gd name="textAreaTop" fmla="*/ 0 h 754560"/>
                <a:gd name="textAreaBottom" fmla="*/ 754920 h 754560"/>
              </a:gdLst>
              <a:ahLst/>
              <a:cxnLst/>
              <a:rect l="textAreaLeft" t="textAreaTop" r="textAreaRight" b="textAreaBottom"/>
              <a:pathLst>
                <a:path w="2013253" h="1006626">
                  <a:moveTo>
                    <a:pt x="0" y="0"/>
                  </a:moveTo>
                  <a:lnTo>
                    <a:pt x="2013253" y="0"/>
                  </a:lnTo>
                  <a:lnTo>
                    <a:pt x="2013253" y="1006626"/>
                  </a:lnTo>
                  <a:lnTo>
                    <a:pt x="0" y="1006626"/>
                  </a:lnTo>
                  <a:close/>
                </a:path>
              </a:pathLst>
            </a:custGeom>
            <a:blipFill rotWithShape="0">
              <a:blip r:embed="rId4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/>
              <a:endParaRPr lang="en-IN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1" name="TextBox 16"/>
            <p:cNvSpPr/>
            <p:nvPr/>
          </p:nvSpPr>
          <p:spPr>
            <a:xfrm>
              <a:off x="16334640" y="9525960"/>
              <a:ext cx="1509480" cy="768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algn="r">
                <a:lnSpc>
                  <a:spcPts val="2341"/>
                </a:lnSpc>
              </a:pPr>
              <a:r>
                <a:rPr lang="en-US" sz="1950" b="1" u="none" strike="noStrike">
                  <a:solidFill>
                    <a:srgbClr val="000000"/>
                  </a:solidFill>
                  <a:effectLst/>
                  <a:uFillTx/>
                  <a:latin typeface="Arial Bold"/>
                  <a:ea typeface="Arial Bold"/>
                </a:rPr>
                <a:t>3</a:t>
              </a:r>
              <a:endParaRPr lang="en-IN" sz="19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32" name="TextBox 17"/>
          <p:cNvSpPr/>
          <p:nvPr/>
        </p:nvSpPr>
        <p:spPr>
          <a:xfrm>
            <a:off x="915120" y="2291760"/>
            <a:ext cx="16426080" cy="75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ts val="5043"/>
              </a:lnSpc>
            </a:pPr>
            <a:r>
              <a:rPr lang="en-US" sz="4200" b="1" u="none" strike="noStrike">
                <a:solidFill>
                  <a:srgbClr val="000000"/>
                </a:solidFill>
                <a:effectLst/>
                <a:uFillTx/>
                <a:latin typeface="Arial Bold"/>
                <a:ea typeface="Arial Bold"/>
              </a:rPr>
              <a:t>❖ </a:t>
            </a:r>
            <a:r>
              <a:rPr lang="en-US" sz="4200" b="1" u="sng" strike="noStrike">
                <a:solidFill>
                  <a:srgbClr val="000000"/>
                </a:solidFill>
                <a:effectLst/>
                <a:uFillTx/>
                <a:latin typeface="Arial Bold"/>
                <a:ea typeface="Arial Bold"/>
              </a:rPr>
              <a:t>Proposed Solution</a:t>
            </a:r>
            <a:endParaRPr lang="en-IN" sz="4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SolutionStrip"/>
          <p:cNvSpPr/>
          <p:nvPr/>
        </p:nvSpPr>
        <p:spPr>
          <a:xfrm>
            <a:off x="617760" y="3120120"/>
            <a:ext cx="17052120" cy="639720"/>
          </a:xfrm>
          <a:prstGeom prst="rect">
            <a:avLst/>
          </a:prstGeom>
          <a:solidFill>
            <a:srgbClr val="F2FDFF"/>
          </a:solidFill>
          <a:ln w="12700">
            <a:solidFill>
              <a:srgbClr val="D9D9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0040" tIns="29880" rIns="180000" bIns="29880" anchor="ctr">
            <a:noAutofit/>
          </a:bodyPr>
          <a:p>
            <a:pPr>
              <a:lnSpc>
                <a:spcPct val="108000"/>
              </a:lnSpc>
            </a:pPr>
            <a:r>
              <a:rPr lang="en-US" sz="1700" b="1" u="none" strike="noStrike">
                <a:solidFill>
                  <a:srgbClr val="0B9FB0"/>
                </a:solidFill>
                <a:effectLst/>
                <a:uFillTx/>
                <a:latin typeface="Arial"/>
              </a:rPr>
              <a:t>SOLUTION  </a:t>
            </a:r>
            <a:r>
              <a:rPr lang="en-US" sz="17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severity-first triage engine that merges incident logs and public complaints into one ranked worklist, so crews fix the most dangerous spots first, not the loudest.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SolutionStripAccent"/>
          <p:cNvSpPr/>
          <p:nvPr/>
        </p:nvSpPr>
        <p:spPr>
          <a:xfrm>
            <a:off x="617760" y="3120120"/>
            <a:ext cx="89640" cy="639720"/>
          </a:xfrm>
          <a:prstGeom prst="rect">
            <a:avLst/>
          </a:prstGeom>
          <a:solidFill>
            <a:srgbClr val="19E3F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StepCard1"/>
          <p:cNvSpPr/>
          <p:nvPr/>
        </p:nvSpPr>
        <p:spPr>
          <a:xfrm>
            <a:off x="617760" y="3920040"/>
            <a:ext cx="4112640" cy="133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80000" tIns="219960" rIns="150120" bIns="60120" anchor="t">
            <a:noAutofit/>
          </a:bodyPr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0B9FB0"/>
                </a:solidFill>
                <a:effectLst/>
                <a:uFillTx/>
                <a:latin typeface="Arial"/>
              </a:rPr>
              <a:t>1 · Ingest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4000"/>
              </a:lnSpc>
              <a:spcBef>
                <a:spcPts val="601"/>
              </a:spcBef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Arial"/>
              </a:rPr>
              <a:t>Incident logs and public complaints merged into one feed.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StepBar1"/>
          <p:cNvSpPr/>
          <p:nvPr/>
        </p:nvSpPr>
        <p:spPr>
          <a:xfrm>
            <a:off x="617760" y="3920040"/>
            <a:ext cx="4112640" cy="79560"/>
          </a:xfrm>
          <a:prstGeom prst="rect">
            <a:avLst/>
          </a:prstGeom>
          <a:solidFill>
            <a:srgbClr val="19E3F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4920" rIns="90000" bIns="3492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StepCard2"/>
          <p:cNvSpPr/>
          <p:nvPr/>
        </p:nvSpPr>
        <p:spPr>
          <a:xfrm>
            <a:off x="4930920" y="3920040"/>
            <a:ext cx="4112640" cy="1339560"/>
          </a:xfrm>
          <a:prstGeom prst="rect">
            <a:avLst/>
          </a:prstGeom>
          <a:solidFill>
            <a:srgbClr val="F2FDFF"/>
          </a:solidFill>
          <a:ln w="12700">
            <a:solidFill>
              <a:srgbClr val="19E3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80000" tIns="219960" rIns="150120" bIns="60120" anchor="t">
            <a:noAutofit/>
          </a:bodyPr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0B9FB0"/>
                </a:solidFill>
                <a:effectLst/>
                <a:uFillTx/>
                <a:latin typeface="Arial"/>
              </a:rPr>
              <a:t>2 · Enrich</a:t>
            </a:r>
            <a:r>
              <a:rPr lang="en-US" sz="1100" b="1" u="none" strike="noStrike">
                <a:solidFill>
                  <a:srgbClr val="0B9FB0"/>
                </a:solidFill>
                <a:effectLst/>
                <a:uFillTx/>
                <a:latin typeface="Arial"/>
              </a:rPr>
              <a:t>   ◆ Traffic API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4000"/>
              </a:lnSpc>
              <a:spcBef>
                <a:spcPts val="601"/>
              </a:spcBef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Arial"/>
              </a:rPr>
              <a:t>A live traffic API adds real-time road exposure to every location.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StepBar2"/>
          <p:cNvSpPr/>
          <p:nvPr/>
        </p:nvSpPr>
        <p:spPr>
          <a:xfrm>
            <a:off x="4930920" y="3920040"/>
            <a:ext cx="4112640" cy="79560"/>
          </a:xfrm>
          <a:prstGeom prst="rect">
            <a:avLst/>
          </a:prstGeom>
          <a:solidFill>
            <a:srgbClr val="0B9FB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4920" rIns="90000" bIns="3492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StepCard3"/>
          <p:cNvSpPr/>
          <p:nvPr/>
        </p:nvSpPr>
        <p:spPr>
          <a:xfrm>
            <a:off x="9244080" y="3920040"/>
            <a:ext cx="4112640" cy="133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80000" tIns="219960" rIns="150120" bIns="60120" anchor="t">
            <a:noAutofit/>
          </a:bodyPr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0B9FB0"/>
                </a:solidFill>
                <a:effectLst/>
                <a:uFillTx/>
                <a:latin typeface="Arial"/>
              </a:rPr>
              <a:t>3 · Score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4000"/>
              </a:lnSpc>
              <a:spcBef>
                <a:spcPts val="601"/>
              </a:spcBef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Arial"/>
              </a:rPr>
              <a:t>Severity, injuries and traffic combine into one priority score.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StepBar3"/>
          <p:cNvSpPr/>
          <p:nvPr/>
        </p:nvSpPr>
        <p:spPr>
          <a:xfrm>
            <a:off x="9244080" y="3920040"/>
            <a:ext cx="4112640" cy="79560"/>
          </a:xfrm>
          <a:prstGeom prst="rect">
            <a:avLst/>
          </a:prstGeom>
          <a:solidFill>
            <a:srgbClr val="19E3F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4920" rIns="90000" bIns="3492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StepCard4"/>
          <p:cNvSpPr/>
          <p:nvPr/>
        </p:nvSpPr>
        <p:spPr>
          <a:xfrm>
            <a:off x="13557240" y="3920040"/>
            <a:ext cx="4112640" cy="133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80000" tIns="219960" rIns="150120" bIns="60120" anchor="t">
            <a:noAutofit/>
          </a:bodyPr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0B9FB0"/>
                </a:solidFill>
                <a:effectLst/>
                <a:uFillTx/>
                <a:latin typeface="Arial"/>
              </a:rPr>
              <a:t>4 · Act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4000"/>
              </a:lnSpc>
              <a:spcBef>
                <a:spcPts val="601"/>
              </a:spcBef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Arial"/>
              </a:rPr>
              <a:t>A ranked worklist tells the officer exactly what to fix first.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StepBar4"/>
          <p:cNvSpPr/>
          <p:nvPr/>
        </p:nvSpPr>
        <p:spPr>
          <a:xfrm>
            <a:off x="13557240" y="3920040"/>
            <a:ext cx="4112640" cy="79560"/>
          </a:xfrm>
          <a:prstGeom prst="rect">
            <a:avLst/>
          </a:prstGeom>
          <a:solidFill>
            <a:srgbClr val="19E3F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4920" rIns="90000" bIns="3492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Box 20"/>
          <p:cNvSpPr/>
          <p:nvPr/>
        </p:nvSpPr>
        <p:spPr>
          <a:xfrm>
            <a:off x="915120" y="5420160"/>
            <a:ext cx="1539684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ts val="5043"/>
              </a:lnSpc>
            </a:pPr>
            <a:r>
              <a:rPr lang="en-US" sz="4200" b="1" u="none" strike="noStrike">
                <a:solidFill>
                  <a:srgbClr val="000000"/>
                </a:solidFill>
                <a:effectLst/>
                <a:uFillTx/>
                <a:latin typeface="Arial Bold"/>
                <a:ea typeface="Arial Bold"/>
              </a:rPr>
              <a:t>❖ </a:t>
            </a:r>
            <a:r>
              <a:rPr lang="en-US" sz="4200" b="1" u="sng" strike="noStrike">
                <a:solidFill>
                  <a:srgbClr val="000000"/>
                </a:solidFill>
                <a:effectLst/>
                <a:uFillTx/>
                <a:latin typeface="Arial Bold"/>
                <a:ea typeface="Arial Bold"/>
              </a:rPr>
              <a:t>USP</a:t>
            </a:r>
            <a:endParaRPr lang="en-IN" sz="4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USPCardHead"/>
          <p:cNvSpPr/>
          <p:nvPr/>
        </p:nvSpPr>
        <p:spPr>
          <a:xfrm>
            <a:off x="617760" y="6230160"/>
            <a:ext cx="5497200" cy="2849760"/>
          </a:xfrm>
          <a:prstGeom prst="rect">
            <a:avLst/>
          </a:prstGeom>
          <a:solidFill>
            <a:srgbClr val="19E3F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920" tIns="259920" rIns="240120" bIns="200160" anchor="t">
            <a:noAutofit/>
          </a:bodyPr>
          <a:p>
            <a:pPr>
              <a:lnSpc>
                <a:spcPct val="100000"/>
              </a:lnSpc>
            </a:pPr>
            <a:r>
              <a:rPr lang="en-US" sz="1300" b="1" u="none" strike="noStrike">
                <a:solidFill>
                  <a:srgbClr val="063B42"/>
                </a:solidFill>
                <a:effectLst/>
                <a:uFillTx/>
                <a:latin typeface="Arial"/>
              </a:rPr>
              <a:t>★ KEY USP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700"/>
              </a:spcBef>
            </a:pPr>
            <a:r>
              <a:rPr lang="en-US" sz="2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Live Traffic API</a:t>
            </a:r>
            <a:endParaRPr lang="en-IN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  <a:spcBef>
                <a:spcPts val="901"/>
              </a:spcBef>
            </a:pPr>
            <a:r>
              <a:rPr lang="en-US" sz="1500" b="0" u="none" strike="noStrike">
                <a:solidFill>
                  <a:srgbClr val="05343B"/>
                </a:solidFill>
                <a:effectLst/>
                <a:uFillTx/>
                <a:latin typeface="Arial"/>
              </a:rPr>
              <a:t>Priority is weighted by real-time traffic volume. A hazard on a busy arterial outranks the same hazard on a quiet lane, so we fix by real exposure, not by who complains most.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USPCard2"/>
          <p:cNvSpPr/>
          <p:nvPr/>
        </p:nvSpPr>
        <p:spPr>
          <a:xfrm>
            <a:off x="6395400" y="6230160"/>
            <a:ext cx="5497200" cy="2849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99880" tIns="299880" rIns="240120" bIns="200160" anchor="t">
            <a:no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One Shared Ranking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  <a:spcBef>
                <a:spcPts val="901"/>
              </a:spcBef>
            </a:pPr>
            <a:r>
              <a:rPr lang="en-US" sz="1500" b="0" u="none" strike="noStrike">
                <a:solidFill>
                  <a:srgbClr val="333333"/>
                </a:solidFill>
                <a:effectLst/>
                <a:uFillTx/>
                <a:latin typeface="Arial"/>
              </a:rPr>
              <a:t>Incident logs and complaints are scored on a single scale. No more triage by whoever shouts loudest, and no blind spots between the two systems.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USPCard2Accent"/>
          <p:cNvSpPr/>
          <p:nvPr/>
        </p:nvSpPr>
        <p:spPr>
          <a:xfrm>
            <a:off x="6395400" y="6230160"/>
            <a:ext cx="89640" cy="2849760"/>
          </a:xfrm>
          <a:prstGeom prst="rect">
            <a:avLst/>
          </a:prstGeom>
          <a:solidFill>
            <a:srgbClr val="19E3F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USPCard3"/>
          <p:cNvSpPr/>
          <p:nvPr/>
        </p:nvSpPr>
        <p:spPr>
          <a:xfrm>
            <a:off x="12172680" y="6230160"/>
            <a:ext cx="5497200" cy="2849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99880" tIns="299880" rIns="240120" bIns="200160" anchor="t">
            <a:no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Risk, Not Report Count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  <a:spcBef>
                <a:spcPts val="901"/>
              </a:spcBef>
            </a:pPr>
            <a:r>
              <a:rPr lang="en-US" sz="1500" b="0" u="none" strike="noStrike">
                <a:solidFill>
                  <a:srgbClr val="333333"/>
                </a:solidFill>
                <a:effectLst/>
                <a:uFillTx/>
                <a:latin typeface="Arial"/>
              </a:rPr>
              <a:t>The obvious approach sorts by number of reports or date filed. We rank by real risk: severity x injuries x people exposed on the road.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USPCard3Accent"/>
          <p:cNvSpPr/>
          <p:nvPr/>
        </p:nvSpPr>
        <p:spPr>
          <a:xfrm>
            <a:off x="12172680" y="6230160"/>
            <a:ext cx="89640" cy="2849760"/>
          </a:xfrm>
          <a:prstGeom prst="rect">
            <a:avLst/>
          </a:prstGeom>
          <a:solidFill>
            <a:srgbClr val="19E3F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49" name="Group 1"/>
          <p:cNvGrpSpPr/>
          <p:nvPr/>
        </p:nvGrpSpPr>
        <p:grpSpPr>
          <a:xfrm>
            <a:off x="442440" y="360000"/>
            <a:ext cx="1717560" cy="1371960"/>
            <a:chOff x="442440" y="360000"/>
            <a:chExt cx="1717560" cy="1371960"/>
          </a:xfrm>
        </p:grpSpPr>
        <p:sp>
          <p:nvSpPr>
            <p:cNvPr id="150" name="Freeform 6" descr="logo-dsc-light.png"/>
            <p:cNvSpPr/>
            <p:nvPr/>
          </p:nvSpPr>
          <p:spPr>
            <a:xfrm>
              <a:off x="442440" y="360000"/>
              <a:ext cx="1717560" cy="1371960"/>
            </a:xfrm>
            <a:custGeom>
              <a:avLst/>
              <a:gdLst>
                <a:gd name="textAreaLeft" fmla="*/ 0 w 1717560"/>
                <a:gd name="textAreaRight" fmla="*/ 1718280 w 1717560"/>
                <a:gd name="textAreaTop" fmla="*/ 0 h 1371960"/>
                <a:gd name="textAreaBottom" fmla="*/ 1372680 h 1371960"/>
              </a:gdLst>
              <a:ahLst/>
              <a:cxnLst/>
              <a:rect l="textAreaLeft" t="textAreaTop" r="textAreaRight" b="textAreaBottom"/>
              <a:pathLst>
                <a:path w="2291207" h="1830197">
                  <a:moveTo>
                    <a:pt x="0" y="0"/>
                  </a:moveTo>
                  <a:lnTo>
                    <a:pt x="2291207" y="0"/>
                  </a:lnTo>
                  <a:lnTo>
                    <a:pt x="2291207" y="1830197"/>
                  </a:lnTo>
                  <a:lnTo>
                    <a:pt x="0" y="1830197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5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/>
              <a:endParaRPr lang="en-IN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1" name="Group 2"/>
          <p:cNvGrpSpPr/>
          <p:nvPr/>
        </p:nvGrpSpPr>
        <p:grpSpPr>
          <a:xfrm>
            <a:off x="2676600" y="321840"/>
            <a:ext cx="12902760" cy="1325160"/>
            <a:chOff x="2676600" y="321840"/>
            <a:chExt cx="12902760" cy="1325160"/>
          </a:xfrm>
        </p:grpSpPr>
        <p:sp>
          <p:nvSpPr>
            <p:cNvPr id="152" name="Freeform 3"/>
            <p:cNvSpPr/>
            <p:nvPr/>
          </p:nvSpPr>
          <p:spPr>
            <a:xfrm>
              <a:off x="2676600" y="343080"/>
              <a:ext cx="12902760" cy="1303560"/>
            </a:xfrm>
            <a:custGeom>
              <a:avLst/>
              <a:gdLst>
                <a:gd name="textAreaLeft" fmla="*/ 0 w 12902760"/>
                <a:gd name="textAreaRight" fmla="*/ 12903120 w 12902760"/>
                <a:gd name="textAreaTop" fmla="*/ 0 h 1303560"/>
                <a:gd name="textAreaBottom" fmla="*/ 1303920 h 1303560"/>
              </a:gdLst>
              <a:ahLst/>
              <a:cxnLst/>
              <a:rect l="textAreaLeft" t="textAreaTop" r="textAreaRight" b="textAreaBottom"/>
              <a:pathLst>
                <a:path w="17204161" h="1738718">
                  <a:moveTo>
                    <a:pt x="0" y="0"/>
                  </a:moveTo>
                  <a:lnTo>
                    <a:pt x="17204161" y="0"/>
                  </a:lnTo>
                  <a:lnTo>
                    <a:pt x="17204161" y="1738718"/>
                  </a:lnTo>
                  <a:lnTo>
                    <a:pt x="0" y="1738718"/>
                  </a:lnTo>
                  <a:close/>
                </a:path>
              </a:pathLst>
            </a:custGeom>
            <a:blipFill rotWithShape="0">
              <a:blip r:embed="rId1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/>
              <a:endParaRPr lang="en-IN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3" name="TextBox 4"/>
            <p:cNvSpPr/>
            <p:nvPr/>
          </p:nvSpPr>
          <p:spPr>
            <a:xfrm>
              <a:off x="2676600" y="321840"/>
              <a:ext cx="12902760" cy="1325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algn="ctr">
                <a:lnSpc>
                  <a:spcPts val="5403"/>
                </a:lnSpc>
              </a:pPr>
              <a:r>
                <a:rPr lang="en-US" sz="4500" b="0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DATASET &amp; INSIGHTS</a:t>
              </a:r>
              <a:endParaRPr lang="en-IN" sz="45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54" name="Group 5"/>
          <p:cNvGrpSpPr/>
          <p:nvPr/>
        </p:nvGrpSpPr>
        <p:grpSpPr>
          <a:xfrm>
            <a:off x="15922080" y="427680"/>
            <a:ext cx="1717920" cy="1372320"/>
            <a:chOff x="15922080" y="427680"/>
            <a:chExt cx="1717920" cy="1372320"/>
          </a:xfrm>
        </p:grpSpPr>
        <p:sp>
          <p:nvSpPr>
            <p:cNvPr id="155" name="Freeform 6" descr="logo-dsc-light.png"/>
            <p:cNvSpPr/>
            <p:nvPr/>
          </p:nvSpPr>
          <p:spPr>
            <a:xfrm>
              <a:off x="15922080" y="427680"/>
              <a:ext cx="1717920" cy="1372320"/>
            </a:xfrm>
            <a:custGeom>
              <a:avLst/>
              <a:gdLst>
                <a:gd name="textAreaLeft" fmla="*/ 0 w 1717920"/>
                <a:gd name="textAreaRight" fmla="*/ 1718280 w 1717920"/>
                <a:gd name="textAreaTop" fmla="*/ 0 h 1372320"/>
                <a:gd name="textAreaBottom" fmla="*/ 1372680 h 1372320"/>
              </a:gdLst>
              <a:ahLst/>
              <a:cxnLst/>
              <a:rect l="textAreaLeft" t="textAreaTop" r="textAreaRight" b="textAreaBottom"/>
              <a:pathLst>
                <a:path w="2291207" h="1830197">
                  <a:moveTo>
                    <a:pt x="0" y="0"/>
                  </a:moveTo>
                  <a:lnTo>
                    <a:pt x="2291207" y="0"/>
                  </a:lnTo>
                  <a:lnTo>
                    <a:pt x="2291207" y="1830197"/>
                  </a:lnTo>
                  <a:lnTo>
                    <a:pt x="0" y="1830197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2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/>
              <a:endParaRPr lang="en-IN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56" name="Group 9"/>
          <p:cNvGrpSpPr/>
          <p:nvPr/>
        </p:nvGrpSpPr>
        <p:grpSpPr>
          <a:xfrm>
            <a:off x="0" y="9540000"/>
            <a:ext cx="18301320" cy="754560"/>
            <a:chOff x="0" y="9540000"/>
            <a:chExt cx="18301320" cy="754560"/>
          </a:xfrm>
        </p:grpSpPr>
        <p:sp>
          <p:nvSpPr>
            <p:cNvPr id="157" name="Freeform 10"/>
            <p:cNvSpPr/>
            <p:nvPr/>
          </p:nvSpPr>
          <p:spPr>
            <a:xfrm>
              <a:off x="0" y="9540000"/>
              <a:ext cx="18301320" cy="754560"/>
            </a:xfrm>
            <a:custGeom>
              <a:avLst/>
              <a:gdLst>
                <a:gd name="textAreaLeft" fmla="*/ 0 w 18301320"/>
                <a:gd name="textAreaRight" fmla="*/ 18301680 w 18301320"/>
                <a:gd name="textAreaTop" fmla="*/ 0 h 754560"/>
                <a:gd name="textAreaBottom" fmla="*/ 754920 h 754560"/>
              </a:gdLst>
              <a:ahLst/>
              <a:cxnLst/>
              <a:rect l="textAreaLeft" t="textAreaTop" r="textAreaRight" b="textAreaBottom"/>
              <a:pathLst>
                <a:path w="24402414" h="1006602">
                  <a:moveTo>
                    <a:pt x="0" y="0"/>
                  </a:moveTo>
                  <a:lnTo>
                    <a:pt x="24402414" y="0"/>
                  </a:lnTo>
                  <a:lnTo>
                    <a:pt x="24402414" y="1006602"/>
                  </a:lnTo>
                  <a:lnTo>
                    <a:pt x="0" y="1006602"/>
                  </a:lnTo>
                  <a:close/>
                </a:path>
              </a:pathLst>
            </a:custGeom>
            <a:solidFill>
              <a:srgbClr val="19E3F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/>
              <a:endParaRPr lang="en-IN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58" name="Group 11"/>
          <p:cNvGrpSpPr/>
          <p:nvPr/>
        </p:nvGrpSpPr>
        <p:grpSpPr>
          <a:xfrm>
            <a:off x="0" y="9525960"/>
            <a:ext cx="18301320" cy="768960"/>
            <a:chOff x="0" y="9525960"/>
            <a:chExt cx="18301320" cy="768960"/>
          </a:xfrm>
        </p:grpSpPr>
        <p:sp>
          <p:nvSpPr>
            <p:cNvPr id="159" name="Freeform 12"/>
            <p:cNvSpPr/>
            <p:nvPr/>
          </p:nvSpPr>
          <p:spPr>
            <a:xfrm>
              <a:off x="0" y="9540000"/>
              <a:ext cx="18301320" cy="754560"/>
            </a:xfrm>
            <a:custGeom>
              <a:avLst/>
              <a:gdLst>
                <a:gd name="textAreaLeft" fmla="*/ 0 w 18301320"/>
                <a:gd name="textAreaRight" fmla="*/ 18301680 w 18301320"/>
                <a:gd name="textAreaTop" fmla="*/ 0 h 754560"/>
                <a:gd name="textAreaBottom" fmla="*/ 754920 h 754560"/>
              </a:gdLst>
              <a:ahLst/>
              <a:cxnLst/>
              <a:rect l="textAreaLeft" t="textAreaTop" r="textAreaRight" b="textAreaBottom"/>
              <a:pathLst>
                <a:path w="24402455" h="1006626">
                  <a:moveTo>
                    <a:pt x="0" y="0"/>
                  </a:moveTo>
                  <a:lnTo>
                    <a:pt x="24402455" y="0"/>
                  </a:lnTo>
                  <a:lnTo>
                    <a:pt x="24402455" y="1006626"/>
                  </a:lnTo>
                  <a:lnTo>
                    <a:pt x="0" y="1006626"/>
                  </a:lnTo>
                  <a:close/>
                </a:path>
              </a:pathLst>
            </a:custGeom>
            <a:blipFill rotWithShape="0">
              <a:blip r:embed="rId3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/>
              <a:endParaRPr lang="en-IN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0" name="TextBox 13"/>
            <p:cNvSpPr/>
            <p:nvPr/>
          </p:nvSpPr>
          <p:spPr>
            <a:xfrm>
              <a:off x="0" y="9525960"/>
              <a:ext cx="18301320" cy="768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algn="ctr">
                <a:lnSpc>
                  <a:spcPts val="2160"/>
                </a:lnSpc>
              </a:pPr>
              <a:r>
                <a:rPr lang="en-US" sz="1800" b="1" u="none" strike="noStrike">
                  <a:solidFill>
                    <a:srgbClr val="000000"/>
                  </a:solidFill>
                  <a:effectLst/>
                  <a:uFillTx/>
                  <a:latin typeface="Arial Bold"/>
                  <a:ea typeface="Arial Bold"/>
                </a:rPr>
                <a:t>DATATHON 2026  ·  Round 1 Idea Submission – Template</a:t>
              </a:r>
              <a:endParaRPr lang="en-IN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61" name="Group 14"/>
          <p:cNvGrpSpPr/>
          <p:nvPr/>
        </p:nvGrpSpPr>
        <p:grpSpPr>
          <a:xfrm>
            <a:off x="16334640" y="9525960"/>
            <a:ext cx="1509480" cy="768960"/>
            <a:chOff x="16334640" y="9525960"/>
            <a:chExt cx="1509480" cy="768960"/>
          </a:xfrm>
        </p:grpSpPr>
        <p:sp>
          <p:nvSpPr>
            <p:cNvPr id="162" name="Freeform 15"/>
            <p:cNvSpPr/>
            <p:nvPr/>
          </p:nvSpPr>
          <p:spPr>
            <a:xfrm>
              <a:off x="16334640" y="9540000"/>
              <a:ext cx="1509480" cy="754560"/>
            </a:xfrm>
            <a:custGeom>
              <a:avLst/>
              <a:gdLst>
                <a:gd name="textAreaLeft" fmla="*/ 0 w 1509480"/>
                <a:gd name="textAreaRight" fmla="*/ 1509840 w 1509480"/>
                <a:gd name="textAreaTop" fmla="*/ 0 h 754560"/>
                <a:gd name="textAreaBottom" fmla="*/ 754920 h 754560"/>
              </a:gdLst>
              <a:ahLst/>
              <a:cxnLst/>
              <a:rect l="textAreaLeft" t="textAreaTop" r="textAreaRight" b="textAreaBottom"/>
              <a:pathLst>
                <a:path w="2013253" h="1006626">
                  <a:moveTo>
                    <a:pt x="0" y="0"/>
                  </a:moveTo>
                  <a:lnTo>
                    <a:pt x="2013253" y="0"/>
                  </a:lnTo>
                  <a:lnTo>
                    <a:pt x="2013253" y="1006626"/>
                  </a:lnTo>
                  <a:lnTo>
                    <a:pt x="0" y="1006626"/>
                  </a:lnTo>
                  <a:close/>
                </a:path>
              </a:pathLst>
            </a:custGeom>
            <a:blipFill rotWithShape="0">
              <a:blip r:embed="rId4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/>
              <a:endParaRPr lang="en-IN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3" name="TextBox 16"/>
            <p:cNvSpPr/>
            <p:nvPr/>
          </p:nvSpPr>
          <p:spPr>
            <a:xfrm>
              <a:off x="16334640" y="9525960"/>
              <a:ext cx="1509480" cy="768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algn="r">
                <a:lnSpc>
                  <a:spcPts val="2341"/>
                </a:lnSpc>
              </a:pPr>
              <a:r>
                <a:rPr lang="en-US" sz="1950" b="1" u="none" strike="noStrike">
                  <a:solidFill>
                    <a:srgbClr val="000000"/>
                  </a:solidFill>
                  <a:effectLst/>
                  <a:uFillTx/>
                  <a:latin typeface="Arial Bold"/>
                  <a:ea typeface="Arial Bold"/>
                </a:rPr>
                <a:t>4</a:t>
              </a:r>
              <a:endParaRPr lang="en-IN" sz="19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64" name="TextBox 17"/>
          <p:cNvSpPr/>
          <p:nvPr/>
        </p:nvSpPr>
        <p:spPr>
          <a:xfrm>
            <a:off x="915120" y="2291760"/>
            <a:ext cx="16426080" cy="75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ts val="5043"/>
              </a:lnSpc>
            </a:pPr>
            <a:r>
              <a:rPr lang="en-US" sz="4200" b="1" u="none" strike="noStrike">
                <a:solidFill>
                  <a:srgbClr val="000000"/>
                </a:solidFill>
                <a:effectLst/>
                <a:uFillTx/>
                <a:latin typeface="Arial Bold"/>
                <a:ea typeface="Arial Bold"/>
              </a:rPr>
              <a:t>❖ </a:t>
            </a:r>
            <a:r>
              <a:rPr lang="en-US" sz="4200" b="1" u="sng" strike="noStrike">
                <a:solidFill>
                  <a:srgbClr val="000000"/>
                </a:solidFill>
                <a:effectLst/>
                <a:uFillTx/>
                <a:latin typeface="Arial Bold"/>
                <a:ea typeface="Arial Bold"/>
              </a:rPr>
              <a:t>Dataset &amp; Insights</a:t>
            </a:r>
            <a:endParaRPr lang="en-IN" sz="4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Src0"/>
          <p:cNvSpPr/>
          <p:nvPr/>
        </p:nvSpPr>
        <p:spPr>
          <a:xfrm>
            <a:off x="617760" y="3139920"/>
            <a:ext cx="5497200" cy="1499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SrcAcc0"/>
          <p:cNvSpPr/>
          <p:nvPr/>
        </p:nvSpPr>
        <p:spPr>
          <a:xfrm>
            <a:off x="617760" y="3139920"/>
            <a:ext cx="89640" cy="1499760"/>
          </a:xfrm>
          <a:prstGeom prst="rect">
            <a:avLst/>
          </a:prstGeom>
          <a:solidFill>
            <a:srgbClr val="19E3F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SrcTxt0"/>
          <p:cNvSpPr/>
          <p:nvPr/>
        </p:nvSpPr>
        <p:spPr>
          <a:xfrm>
            <a:off x="617760" y="3139920"/>
            <a:ext cx="5497200" cy="149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99880" tIns="79920" rIns="240120" bIns="79920" anchor="ctr">
            <a:noAutofit/>
          </a:bodyPr>
          <a:p>
            <a:pPr>
              <a:lnSpc>
                <a:spcPct val="100000"/>
              </a:lnSpc>
            </a:pPr>
            <a:r>
              <a:rPr lang="en-US" sz="2600" b="1" u="none" strike="noStrike">
                <a:solidFill>
                  <a:srgbClr val="0B9FB0"/>
                </a:solidFill>
                <a:effectLst/>
                <a:uFillTx/>
                <a:latin typeface="Arial"/>
              </a:rPr>
              <a:t>1,000  </a:t>
            </a:r>
            <a:r>
              <a:rPr lang="en-US" sz="17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Locations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6000"/>
              </a:lnSpc>
              <a:spcBef>
                <a:spcPts val="400"/>
              </a:spcBef>
            </a:pPr>
            <a:r>
              <a:rPr lang="en-US" sz="1250" b="0" u="none" strike="noStrike">
                <a:solidFill>
                  <a:srgbClr val="333333"/>
                </a:solidFill>
                <a:effectLst/>
                <a:uFillTx/>
                <a:latin typeface="Arial"/>
              </a:rPr>
              <a:t>road type and condition, pedestrian activity, near school/hospital, lat and long</a:t>
            </a:r>
            <a:endParaRPr lang="en-IN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Src1"/>
          <p:cNvSpPr/>
          <p:nvPr/>
        </p:nvSpPr>
        <p:spPr>
          <a:xfrm>
            <a:off x="6395400" y="3139920"/>
            <a:ext cx="5497200" cy="1499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SrcAcc1"/>
          <p:cNvSpPr/>
          <p:nvPr/>
        </p:nvSpPr>
        <p:spPr>
          <a:xfrm>
            <a:off x="6395400" y="3139920"/>
            <a:ext cx="89640" cy="1499760"/>
          </a:xfrm>
          <a:prstGeom prst="rect">
            <a:avLst/>
          </a:prstGeom>
          <a:solidFill>
            <a:srgbClr val="19E3F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SrcTxt1"/>
          <p:cNvSpPr/>
          <p:nvPr/>
        </p:nvSpPr>
        <p:spPr>
          <a:xfrm>
            <a:off x="6395400" y="3139920"/>
            <a:ext cx="5497200" cy="149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99880" tIns="79920" rIns="240120" bIns="79920" anchor="ctr">
            <a:noAutofit/>
          </a:bodyPr>
          <a:p>
            <a:pPr>
              <a:lnSpc>
                <a:spcPct val="100000"/>
              </a:lnSpc>
            </a:pPr>
            <a:r>
              <a:rPr lang="en-US" sz="2600" b="1" u="none" strike="noStrike">
                <a:solidFill>
                  <a:srgbClr val="0B9FB0"/>
                </a:solidFill>
                <a:effectLst/>
                <a:uFillTx/>
                <a:latin typeface="Arial"/>
              </a:rPr>
              <a:t>10,000  </a:t>
            </a:r>
            <a:r>
              <a:rPr lang="en-US" sz="17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Incidents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6000"/>
              </a:lnSpc>
              <a:spcBef>
                <a:spcPts val="400"/>
              </a:spcBef>
            </a:pPr>
            <a:r>
              <a:rPr lang="en-US" sz="1250" b="0" u="none" strike="noStrike">
                <a:solidFill>
                  <a:srgbClr val="333333"/>
                </a:solidFill>
                <a:effectLst/>
                <a:uFillTx/>
                <a:latin typeface="Arial"/>
              </a:rPr>
              <a:t>severity, injuries, resolution hours and resolved flag, across Jan to Dec 2025</a:t>
            </a:r>
            <a:endParaRPr lang="en-IN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Src2"/>
          <p:cNvSpPr/>
          <p:nvPr/>
        </p:nvSpPr>
        <p:spPr>
          <a:xfrm>
            <a:off x="12172680" y="3139920"/>
            <a:ext cx="5497200" cy="1499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SrcAcc2"/>
          <p:cNvSpPr/>
          <p:nvPr/>
        </p:nvSpPr>
        <p:spPr>
          <a:xfrm>
            <a:off x="12172680" y="3139920"/>
            <a:ext cx="89640" cy="1499760"/>
          </a:xfrm>
          <a:prstGeom prst="rect">
            <a:avLst/>
          </a:prstGeom>
          <a:solidFill>
            <a:srgbClr val="19E3F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SrcTxt2"/>
          <p:cNvSpPr/>
          <p:nvPr/>
        </p:nvSpPr>
        <p:spPr>
          <a:xfrm>
            <a:off x="12172680" y="3139920"/>
            <a:ext cx="5497200" cy="149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99880" tIns="79920" rIns="240120" bIns="79920" anchor="ctr">
            <a:noAutofit/>
          </a:bodyPr>
          <a:p>
            <a:pPr>
              <a:lnSpc>
                <a:spcPct val="100000"/>
              </a:lnSpc>
            </a:pPr>
            <a:r>
              <a:rPr lang="en-US" sz="2600" b="1" u="none" strike="noStrike">
                <a:solidFill>
                  <a:srgbClr val="0B9FB0"/>
                </a:solidFill>
                <a:effectLst/>
                <a:uFillTx/>
                <a:latin typeface="Arial"/>
              </a:rPr>
              <a:t>8,000  </a:t>
            </a:r>
            <a:r>
              <a:rPr lang="en-US" sz="17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complaints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6000"/>
              </a:lnSpc>
              <a:spcBef>
                <a:spcPts val="400"/>
              </a:spcBef>
            </a:pPr>
            <a:r>
              <a:rPr lang="en-US" sz="1250" b="0" u="none" strike="noStrike">
                <a:solidFill>
                  <a:srgbClr val="333333"/>
                </a:solidFill>
                <a:effectLst/>
                <a:uFillTx/>
                <a:latin typeface="Arial"/>
              </a:rPr>
              <a:t>category, reported priority, status and days to resolution</a:t>
            </a:r>
            <a:endParaRPr lang="en-IN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ChartCard"/>
          <p:cNvSpPr/>
          <p:nvPr/>
        </p:nvSpPr>
        <p:spPr>
          <a:xfrm>
            <a:off x="617760" y="4820040"/>
            <a:ext cx="9099720" cy="4329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ChartTitle"/>
          <p:cNvSpPr/>
          <p:nvPr/>
        </p:nvSpPr>
        <p:spPr>
          <a:xfrm>
            <a:off x="817560" y="4950000"/>
            <a:ext cx="8699760" cy="75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Resolution time is flat across severity (hrs)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00"/>
              </a:spcBef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Arial"/>
              </a:rPr>
              <a:t>Critical spots are fixed no faster than Low.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Axis"/>
          <p:cNvSpPr/>
          <p:nvPr/>
        </p:nvSpPr>
        <p:spPr>
          <a:xfrm>
            <a:off x="1317600" y="8650080"/>
            <a:ext cx="7899480" cy="15480"/>
          </a:xfrm>
          <a:prstGeom prst="rect">
            <a:avLst/>
          </a:prstGeom>
          <a:solidFill>
            <a:srgbClr val="BFBFB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9160" rIns="90000" bIns="-2916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Bar0"/>
          <p:cNvSpPr/>
          <p:nvPr/>
        </p:nvSpPr>
        <p:spPr>
          <a:xfrm>
            <a:off x="1317600" y="5995440"/>
            <a:ext cx="1499760" cy="2654280"/>
          </a:xfrm>
          <a:prstGeom prst="rect">
            <a:avLst/>
          </a:prstGeom>
          <a:solidFill>
            <a:srgbClr val="9AEE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Val0"/>
          <p:cNvSpPr/>
          <p:nvPr/>
        </p:nvSpPr>
        <p:spPr>
          <a:xfrm>
            <a:off x="1317600" y="5565600"/>
            <a:ext cx="149976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algn="ctr">
              <a:lnSpc>
                <a:spcPct val="100000"/>
              </a:lnSpc>
            </a:pPr>
            <a:r>
              <a:rPr lang="en-US" sz="15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32.6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Cat0"/>
          <p:cNvSpPr/>
          <p:nvPr/>
        </p:nvSpPr>
        <p:spPr>
          <a:xfrm>
            <a:off x="1317600" y="8709840"/>
            <a:ext cx="149976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Low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Bar1"/>
          <p:cNvSpPr/>
          <p:nvPr/>
        </p:nvSpPr>
        <p:spPr>
          <a:xfrm>
            <a:off x="3450960" y="6068880"/>
            <a:ext cx="1499760" cy="2580840"/>
          </a:xfrm>
          <a:prstGeom prst="rect">
            <a:avLst/>
          </a:prstGeom>
          <a:solidFill>
            <a:srgbClr val="9AEE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Val1"/>
          <p:cNvSpPr/>
          <p:nvPr/>
        </p:nvSpPr>
        <p:spPr>
          <a:xfrm>
            <a:off x="3450960" y="5638680"/>
            <a:ext cx="149976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algn="ctr">
              <a:lnSpc>
                <a:spcPct val="100000"/>
              </a:lnSpc>
            </a:pPr>
            <a:r>
              <a:rPr lang="en-US" sz="15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31.7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Cat1"/>
          <p:cNvSpPr/>
          <p:nvPr/>
        </p:nvSpPr>
        <p:spPr>
          <a:xfrm>
            <a:off x="3450960" y="8709840"/>
            <a:ext cx="149976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Medium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Bar2"/>
          <p:cNvSpPr/>
          <p:nvPr/>
        </p:nvSpPr>
        <p:spPr>
          <a:xfrm>
            <a:off x="5584320" y="5987160"/>
            <a:ext cx="1499760" cy="2662200"/>
          </a:xfrm>
          <a:prstGeom prst="rect">
            <a:avLst/>
          </a:prstGeom>
          <a:solidFill>
            <a:srgbClr val="19E3F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Val2"/>
          <p:cNvSpPr/>
          <p:nvPr/>
        </p:nvSpPr>
        <p:spPr>
          <a:xfrm>
            <a:off x="5584320" y="5557320"/>
            <a:ext cx="149976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algn="ctr">
              <a:lnSpc>
                <a:spcPct val="100000"/>
              </a:lnSpc>
            </a:pPr>
            <a:r>
              <a:rPr lang="en-US" sz="15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32.7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Cat2"/>
          <p:cNvSpPr/>
          <p:nvPr/>
        </p:nvSpPr>
        <p:spPr>
          <a:xfrm>
            <a:off x="5584320" y="8709840"/>
            <a:ext cx="149976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High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Bar3"/>
          <p:cNvSpPr/>
          <p:nvPr/>
        </p:nvSpPr>
        <p:spPr>
          <a:xfrm>
            <a:off x="7717680" y="6109560"/>
            <a:ext cx="1499760" cy="2540160"/>
          </a:xfrm>
          <a:prstGeom prst="rect">
            <a:avLst/>
          </a:prstGeom>
          <a:solidFill>
            <a:srgbClr val="0B9FB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" name="Val3"/>
          <p:cNvSpPr/>
          <p:nvPr/>
        </p:nvSpPr>
        <p:spPr>
          <a:xfrm>
            <a:off x="7717680" y="5679360"/>
            <a:ext cx="149976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algn="ctr">
              <a:lnSpc>
                <a:spcPct val="100000"/>
              </a:lnSpc>
            </a:pPr>
            <a:r>
              <a:rPr lang="en-US" sz="15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31.2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Cat3"/>
          <p:cNvSpPr/>
          <p:nvPr/>
        </p:nvSpPr>
        <p:spPr>
          <a:xfrm>
            <a:off x="7717680" y="8709840"/>
            <a:ext cx="149976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Critical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DivCard"/>
          <p:cNvSpPr/>
          <p:nvPr/>
        </p:nvSpPr>
        <p:spPr>
          <a:xfrm>
            <a:off x="10017720" y="4820040"/>
            <a:ext cx="7652160" cy="4329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DivAcc"/>
          <p:cNvSpPr/>
          <p:nvPr/>
        </p:nvSpPr>
        <p:spPr>
          <a:xfrm>
            <a:off x="10017720" y="4820040"/>
            <a:ext cx="89640" cy="4329720"/>
          </a:xfrm>
          <a:prstGeom prst="rect">
            <a:avLst/>
          </a:prstGeom>
          <a:solidFill>
            <a:srgbClr val="0B9FB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" name="DivTitle"/>
          <p:cNvSpPr/>
          <p:nvPr/>
        </p:nvSpPr>
        <p:spPr>
          <a:xfrm>
            <a:off x="10277640" y="4950000"/>
            <a:ext cx="715212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Complaints vs real risk  (Module 3)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DivHead"/>
          <p:cNvSpPr/>
          <p:nvPr/>
        </p:nvSpPr>
        <p:spPr>
          <a:xfrm>
            <a:off x="10277640" y="5439960"/>
            <a:ext cx="7152120" cy="89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en-US" sz="3000" b="1" u="none" strike="noStrike">
                <a:solidFill>
                  <a:srgbClr val="0B9FB0"/>
                </a:solidFill>
                <a:effectLst/>
                <a:uFillTx/>
                <a:latin typeface="Arial"/>
              </a:rPr>
              <a:t>Nearly 1 in 2  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locations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4000"/>
              </a:lnSpc>
              <a:spcBef>
                <a:spcPts val="300"/>
              </a:spcBef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Arial"/>
              </a:rPr>
              <a:t>have complaints that do not match real incident risk.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Seg0"/>
          <p:cNvSpPr/>
          <p:nvPr/>
        </p:nvSpPr>
        <p:spPr>
          <a:xfrm>
            <a:off x="10277640" y="6770160"/>
            <a:ext cx="1825560" cy="359640"/>
          </a:xfrm>
          <a:prstGeom prst="rect">
            <a:avLst/>
          </a:prstGeom>
          <a:solidFill>
            <a:srgbClr val="9AEE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Seg1"/>
          <p:cNvSpPr/>
          <p:nvPr/>
        </p:nvSpPr>
        <p:spPr>
          <a:xfrm>
            <a:off x="12103560" y="6770160"/>
            <a:ext cx="3644280" cy="359640"/>
          </a:xfrm>
          <a:prstGeom prst="rect">
            <a:avLst/>
          </a:prstGeom>
          <a:solidFill>
            <a:srgbClr val="19E3F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Seg2"/>
          <p:cNvSpPr/>
          <p:nvPr/>
        </p:nvSpPr>
        <p:spPr>
          <a:xfrm>
            <a:off x="15748560" y="6770160"/>
            <a:ext cx="1661400" cy="359640"/>
          </a:xfrm>
          <a:prstGeom prst="rect">
            <a:avLst/>
          </a:prstGeom>
          <a:solidFill>
            <a:srgbClr val="0B9FB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" name="Chip0"/>
          <p:cNvSpPr/>
          <p:nvPr/>
        </p:nvSpPr>
        <p:spPr>
          <a:xfrm>
            <a:off x="10277640" y="7409880"/>
            <a:ext cx="229680" cy="229680"/>
          </a:xfrm>
          <a:prstGeom prst="rect">
            <a:avLst/>
          </a:prstGeom>
          <a:solidFill>
            <a:srgbClr val="9AEE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Leg0"/>
          <p:cNvSpPr/>
          <p:nvPr/>
        </p:nvSpPr>
        <p:spPr>
          <a:xfrm>
            <a:off x="10637640" y="7369920"/>
            <a:ext cx="6772320" cy="51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en-US" sz="135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25.6%  </a:t>
            </a:r>
            <a:r>
              <a:rPr lang="en-US" sz="1350" b="0" u="none" strike="noStrike">
                <a:solidFill>
                  <a:srgbClr val="333333"/>
                </a:solidFill>
                <a:effectLst/>
                <a:uFillTx/>
                <a:latin typeface="Arial"/>
              </a:rPr>
              <a:t>Over-reported: loud complaints, low real risk</a:t>
            </a:r>
            <a:endParaRPr lang="en-IN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Chip1"/>
          <p:cNvSpPr/>
          <p:nvPr/>
        </p:nvSpPr>
        <p:spPr>
          <a:xfrm>
            <a:off x="10277640" y="7930080"/>
            <a:ext cx="229680" cy="229680"/>
          </a:xfrm>
          <a:prstGeom prst="rect">
            <a:avLst/>
          </a:prstGeom>
          <a:solidFill>
            <a:srgbClr val="19E3F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Leg1"/>
          <p:cNvSpPr/>
          <p:nvPr/>
        </p:nvSpPr>
        <p:spPr>
          <a:xfrm>
            <a:off x="10637640" y="7890120"/>
            <a:ext cx="6772320" cy="51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en-US" sz="135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51.1%  </a:t>
            </a:r>
            <a:r>
              <a:rPr lang="en-US" sz="1350" b="0" u="none" strike="noStrike">
                <a:solidFill>
                  <a:srgbClr val="333333"/>
                </a:solidFill>
                <a:effectLst/>
                <a:uFillTx/>
                <a:latin typeface="Arial"/>
              </a:rPr>
              <a:t>Aligned: complaints track real risk</a:t>
            </a:r>
            <a:endParaRPr lang="en-IN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Chip2"/>
          <p:cNvSpPr/>
          <p:nvPr/>
        </p:nvSpPr>
        <p:spPr>
          <a:xfrm>
            <a:off x="10277640" y="8449920"/>
            <a:ext cx="229680" cy="229680"/>
          </a:xfrm>
          <a:prstGeom prst="rect">
            <a:avLst/>
          </a:prstGeom>
          <a:solidFill>
            <a:srgbClr val="0B9FB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" name="Leg2"/>
          <p:cNvSpPr/>
          <p:nvPr/>
        </p:nvSpPr>
        <p:spPr>
          <a:xfrm>
            <a:off x="10637640" y="8409960"/>
            <a:ext cx="6772320" cy="51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en-US" sz="135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23.3%  </a:t>
            </a:r>
            <a:r>
              <a:rPr lang="en-US" sz="1350" b="0" u="none" strike="noStrike">
                <a:solidFill>
                  <a:srgbClr val="333333"/>
                </a:solidFill>
                <a:effectLst/>
                <a:uFillTx/>
                <a:latin typeface="Arial"/>
              </a:rPr>
              <a:t>Under-reported: real risk, few complaints</a:t>
            </a:r>
            <a:endParaRPr lang="en-IN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02" name="Group 3"/>
          <p:cNvGrpSpPr/>
          <p:nvPr/>
        </p:nvGrpSpPr>
        <p:grpSpPr>
          <a:xfrm>
            <a:off x="618120" y="206280"/>
            <a:ext cx="1717560" cy="1371960"/>
            <a:chOff x="618120" y="206280"/>
            <a:chExt cx="1717560" cy="1371960"/>
          </a:xfrm>
        </p:grpSpPr>
        <p:sp>
          <p:nvSpPr>
            <p:cNvPr id="203" name="Freeform 6" descr="logo-dsc-light.png"/>
            <p:cNvSpPr/>
            <p:nvPr/>
          </p:nvSpPr>
          <p:spPr>
            <a:xfrm>
              <a:off x="618120" y="206280"/>
              <a:ext cx="1717560" cy="1371960"/>
            </a:xfrm>
            <a:custGeom>
              <a:avLst/>
              <a:gdLst>
                <a:gd name="textAreaLeft" fmla="*/ 0 w 1717560"/>
                <a:gd name="textAreaRight" fmla="*/ 1718280 w 1717560"/>
                <a:gd name="textAreaTop" fmla="*/ 0 h 1371960"/>
                <a:gd name="textAreaBottom" fmla="*/ 1372680 h 1371960"/>
              </a:gdLst>
              <a:ahLst/>
              <a:cxnLst/>
              <a:rect l="textAreaLeft" t="textAreaTop" r="textAreaRight" b="textAreaBottom"/>
              <a:pathLst>
                <a:path w="2291207" h="1830197">
                  <a:moveTo>
                    <a:pt x="0" y="0"/>
                  </a:moveTo>
                  <a:lnTo>
                    <a:pt x="2291207" y="0"/>
                  </a:lnTo>
                  <a:lnTo>
                    <a:pt x="2291207" y="1830197"/>
                  </a:lnTo>
                  <a:lnTo>
                    <a:pt x="0" y="1830197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5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/>
              <a:endParaRPr lang="en-IN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4" name="Group 2"/>
          <p:cNvGrpSpPr/>
          <p:nvPr/>
        </p:nvGrpSpPr>
        <p:grpSpPr>
          <a:xfrm>
            <a:off x="2676600" y="321840"/>
            <a:ext cx="12902400" cy="1324800"/>
            <a:chOff x="2676600" y="321840"/>
            <a:chExt cx="12902400" cy="1324800"/>
          </a:xfrm>
        </p:grpSpPr>
        <p:sp>
          <p:nvSpPr>
            <p:cNvPr id="205" name="Freeform 3"/>
            <p:cNvSpPr/>
            <p:nvPr/>
          </p:nvSpPr>
          <p:spPr>
            <a:xfrm>
              <a:off x="2676600" y="343080"/>
              <a:ext cx="12902400" cy="1303200"/>
            </a:xfrm>
            <a:custGeom>
              <a:avLst/>
              <a:gdLst>
                <a:gd name="textAreaLeft" fmla="*/ 0 w 12902400"/>
                <a:gd name="textAreaRight" fmla="*/ 12903120 w 12902400"/>
                <a:gd name="textAreaTop" fmla="*/ 0 h 1303200"/>
                <a:gd name="textAreaBottom" fmla="*/ 1303920 h 1303200"/>
              </a:gdLst>
              <a:ahLst/>
              <a:cxnLst/>
              <a:rect l="textAreaLeft" t="textAreaTop" r="textAreaRight" b="textAreaBottom"/>
              <a:pathLst>
                <a:path w="17204161" h="1738718">
                  <a:moveTo>
                    <a:pt x="0" y="0"/>
                  </a:moveTo>
                  <a:lnTo>
                    <a:pt x="17204161" y="0"/>
                  </a:lnTo>
                  <a:lnTo>
                    <a:pt x="17204161" y="1738718"/>
                  </a:lnTo>
                  <a:lnTo>
                    <a:pt x="0" y="1738718"/>
                  </a:lnTo>
                  <a:close/>
                </a:path>
              </a:pathLst>
            </a:custGeom>
            <a:blipFill rotWithShape="0">
              <a:blip r:embed="rId1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/>
              <a:endParaRPr lang="en-IN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6" name="TextBox 4"/>
            <p:cNvSpPr/>
            <p:nvPr/>
          </p:nvSpPr>
          <p:spPr>
            <a:xfrm>
              <a:off x="2676600" y="321840"/>
              <a:ext cx="12902400" cy="1324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algn="ctr" defTabSz="914400">
                <a:lnSpc>
                  <a:spcPts val="5403"/>
                </a:lnSpc>
              </a:pPr>
              <a:r>
                <a:rPr lang="en-US" sz="4500" b="0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ML MODEL</a:t>
              </a:r>
              <a:endParaRPr lang="en-IN" sz="45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207" name="Group 5"/>
          <p:cNvGrpSpPr/>
          <p:nvPr/>
        </p:nvGrpSpPr>
        <p:grpSpPr>
          <a:xfrm>
            <a:off x="617760" y="205920"/>
            <a:ext cx="1717560" cy="1371960"/>
            <a:chOff x="617760" y="205920"/>
            <a:chExt cx="1717560" cy="1371960"/>
          </a:xfrm>
        </p:grpSpPr>
        <p:sp>
          <p:nvSpPr>
            <p:cNvPr id="208" name="Freeform 6" descr="logo-dsc-light.png"/>
            <p:cNvSpPr/>
            <p:nvPr/>
          </p:nvSpPr>
          <p:spPr>
            <a:xfrm>
              <a:off x="617760" y="205920"/>
              <a:ext cx="1717560" cy="1371960"/>
            </a:xfrm>
            <a:custGeom>
              <a:avLst/>
              <a:gdLst>
                <a:gd name="textAreaLeft" fmla="*/ 0 w 1717560"/>
                <a:gd name="textAreaRight" fmla="*/ 1718280 w 1717560"/>
                <a:gd name="textAreaTop" fmla="*/ 0 h 1371960"/>
                <a:gd name="textAreaBottom" fmla="*/ 1372680 h 1371960"/>
              </a:gdLst>
              <a:ahLst/>
              <a:cxnLst/>
              <a:rect l="textAreaLeft" t="textAreaTop" r="textAreaRight" b="textAreaBottom"/>
              <a:pathLst>
                <a:path w="2291207" h="1830197">
                  <a:moveTo>
                    <a:pt x="0" y="0"/>
                  </a:moveTo>
                  <a:lnTo>
                    <a:pt x="2291207" y="0"/>
                  </a:lnTo>
                  <a:lnTo>
                    <a:pt x="2291207" y="1830197"/>
                  </a:lnTo>
                  <a:lnTo>
                    <a:pt x="0" y="1830197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2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/>
              <a:endParaRPr lang="en-IN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209" name="Group 7"/>
          <p:cNvGrpSpPr/>
          <p:nvPr/>
        </p:nvGrpSpPr>
        <p:grpSpPr>
          <a:xfrm>
            <a:off x="15373800" y="480600"/>
            <a:ext cx="2247840" cy="850320"/>
            <a:chOff x="15373800" y="480600"/>
            <a:chExt cx="2247840" cy="850320"/>
          </a:xfrm>
        </p:grpSpPr>
        <p:sp>
          <p:nvSpPr>
            <p:cNvPr id="210" name="Freeform 8" descr="logo-iiec-light.png"/>
            <p:cNvSpPr/>
            <p:nvPr/>
          </p:nvSpPr>
          <p:spPr>
            <a:xfrm>
              <a:off x="15373800" y="480600"/>
              <a:ext cx="2247840" cy="850320"/>
            </a:xfrm>
            <a:custGeom>
              <a:avLst/>
              <a:gdLst>
                <a:gd name="textAreaLeft" fmla="*/ 0 w 2247840"/>
                <a:gd name="textAreaRight" fmla="*/ 2248560 w 2247840"/>
                <a:gd name="textAreaTop" fmla="*/ 0 h 850320"/>
                <a:gd name="textAreaBottom" fmla="*/ 851040 h 850320"/>
              </a:gdLst>
              <a:ahLst/>
              <a:cxnLst/>
              <a:rect l="textAreaLeft" t="textAreaTop" r="textAreaRight" b="textAreaBottom"/>
              <a:pathLst>
                <a:path w="2998089" h="1134745">
                  <a:moveTo>
                    <a:pt x="0" y="0"/>
                  </a:moveTo>
                  <a:lnTo>
                    <a:pt x="2998089" y="0"/>
                  </a:lnTo>
                  <a:lnTo>
                    <a:pt x="2998089" y="1134745"/>
                  </a:lnTo>
                  <a:lnTo>
                    <a:pt x="0" y="1134745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3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/>
              <a:endParaRPr lang="en-IN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211" name="Group 9"/>
          <p:cNvGrpSpPr/>
          <p:nvPr/>
        </p:nvGrpSpPr>
        <p:grpSpPr>
          <a:xfrm>
            <a:off x="0" y="9540000"/>
            <a:ext cx="18300960" cy="754200"/>
            <a:chOff x="0" y="9540000"/>
            <a:chExt cx="18300960" cy="754200"/>
          </a:xfrm>
        </p:grpSpPr>
        <p:sp>
          <p:nvSpPr>
            <p:cNvPr id="212" name="Freeform 10"/>
            <p:cNvSpPr/>
            <p:nvPr/>
          </p:nvSpPr>
          <p:spPr>
            <a:xfrm>
              <a:off x="0" y="9540000"/>
              <a:ext cx="18300960" cy="754200"/>
            </a:xfrm>
            <a:custGeom>
              <a:avLst/>
              <a:gdLst>
                <a:gd name="textAreaLeft" fmla="*/ 0 w 18300960"/>
                <a:gd name="textAreaRight" fmla="*/ 18301680 w 18300960"/>
                <a:gd name="textAreaTop" fmla="*/ 0 h 754200"/>
                <a:gd name="textAreaBottom" fmla="*/ 754920 h 754200"/>
              </a:gdLst>
              <a:ahLst/>
              <a:cxnLst/>
              <a:rect l="textAreaLeft" t="textAreaTop" r="textAreaRight" b="textAreaBottom"/>
              <a:pathLst>
                <a:path w="24402414" h="1006602">
                  <a:moveTo>
                    <a:pt x="0" y="0"/>
                  </a:moveTo>
                  <a:lnTo>
                    <a:pt x="24402414" y="0"/>
                  </a:lnTo>
                  <a:lnTo>
                    <a:pt x="24402414" y="1006602"/>
                  </a:lnTo>
                  <a:lnTo>
                    <a:pt x="0" y="1006602"/>
                  </a:lnTo>
                  <a:close/>
                </a:path>
              </a:pathLst>
            </a:custGeom>
            <a:solidFill>
              <a:srgbClr val="19E3F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/>
              <a:endParaRPr lang="en-IN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213" name="Group 11"/>
          <p:cNvGrpSpPr/>
          <p:nvPr/>
        </p:nvGrpSpPr>
        <p:grpSpPr>
          <a:xfrm>
            <a:off x="0" y="9525960"/>
            <a:ext cx="18300960" cy="768600"/>
            <a:chOff x="0" y="9525960"/>
            <a:chExt cx="18300960" cy="768600"/>
          </a:xfrm>
        </p:grpSpPr>
        <p:sp>
          <p:nvSpPr>
            <p:cNvPr id="214" name="Freeform 12"/>
            <p:cNvSpPr/>
            <p:nvPr/>
          </p:nvSpPr>
          <p:spPr>
            <a:xfrm>
              <a:off x="0" y="9540000"/>
              <a:ext cx="18300960" cy="754200"/>
            </a:xfrm>
            <a:custGeom>
              <a:avLst/>
              <a:gdLst>
                <a:gd name="textAreaLeft" fmla="*/ 0 w 18300960"/>
                <a:gd name="textAreaRight" fmla="*/ 18301680 w 18300960"/>
                <a:gd name="textAreaTop" fmla="*/ 0 h 754200"/>
                <a:gd name="textAreaBottom" fmla="*/ 754920 h 754200"/>
              </a:gdLst>
              <a:ahLst/>
              <a:cxnLst/>
              <a:rect l="textAreaLeft" t="textAreaTop" r="textAreaRight" b="textAreaBottom"/>
              <a:pathLst>
                <a:path w="24402455" h="1006626">
                  <a:moveTo>
                    <a:pt x="0" y="0"/>
                  </a:moveTo>
                  <a:lnTo>
                    <a:pt x="24402455" y="0"/>
                  </a:lnTo>
                  <a:lnTo>
                    <a:pt x="24402455" y="1006626"/>
                  </a:lnTo>
                  <a:lnTo>
                    <a:pt x="0" y="1006626"/>
                  </a:lnTo>
                  <a:close/>
                </a:path>
              </a:pathLst>
            </a:custGeom>
            <a:blipFill rotWithShape="0">
              <a:blip r:embed="rId4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/>
              <a:endParaRPr lang="en-IN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5" name="TextBox 13"/>
            <p:cNvSpPr/>
            <p:nvPr/>
          </p:nvSpPr>
          <p:spPr>
            <a:xfrm>
              <a:off x="0" y="9525960"/>
              <a:ext cx="18300960" cy="768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algn="ctr" defTabSz="914400">
                <a:lnSpc>
                  <a:spcPts val="2160"/>
                </a:lnSpc>
              </a:pPr>
              <a:r>
                <a:rPr lang="en-US" sz="1800" b="1" u="none" strike="noStrike">
                  <a:solidFill>
                    <a:srgbClr val="000000"/>
                  </a:solidFill>
                  <a:effectLst/>
                  <a:uFillTx/>
                  <a:latin typeface="Arial Bold"/>
                  <a:ea typeface="Arial Bold"/>
                </a:rPr>
                <a:t>DATATHON 2026  ·  Round 1 Idea Submission – Template</a:t>
              </a:r>
              <a:endParaRPr lang="en-IN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216" name="Group 14"/>
          <p:cNvGrpSpPr/>
          <p:nvPr/>
        </p:nvGrpSpPr>
        <p:grpSpPr>
          <a:xfrm>
            <a:off x="16334640" y="9525960"/>
            <a:ext cx="1509120" cy="768600"/>
            <a:chOff x="16334640" y="9525960"/>
            <a:chExt cx="1509120" cy="768600"/>
          </a:xfrm>
        </p:grpSpPr>
        <p:sp>
          <p:nvSpPr>
            <p:cNvPr id="217" name="Freeform 15"/>
            <p:cNvSpPr/>
            <p:nvPr/>
          </p:nvSpPr>
          <p:spPr>
            <a:xfrm>
              <a:off x="16334640" y="9540000"/>
              <a:ext cx="1509120" cy="754200"/>
            </a:xfrm>
            <a:custGeom>
              <a:avLst/>
              <a:gdLst>
                <a:gd name="textAreaLeft" fmla="*/ 0 w 1509120"/>
                <a:gd name="textAreaRight" fmla="*/ 1509840 w 1509120"/>
                <a:gd name="textAreaTop" fmla="*/ 0 h 754200"/>
                <a:gd name="textAreaBottom" fmla="*/ 754920 h 754200"/>
              </a:gdLst>
              <a:ahLst/>
              <a:cxnLst/>
              <a:rect l="textAreaLeft" t="textAreaTop" r="textAreaRight" b="textAreaBottom"/>
              <a:pathLst>
                <a:path w="2013253" h="1006626">
                  <a:moveTo>
                    <a:pt x="0" y="0"/>
                  </a:moveTo>
                  <a:lnTo>
                    <a:pt x="2013253" y="0"/>
                  </a:lnTo>
                  <a:lnTo>
                    <a:pt x="2013253" y="1006626"/>
                  </a:lnTo>
                  <a:lnTo>
                    <a:pt x="0" y="1006626"/>
                  </a:lnTo>
                  <a:close/>
                </a:path>
              </a:pathLst>
            </a:custGeom>
            <a:blipFill rotWithShape="0">
              <a:blip r:embed="rId5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/>
              <a:endParaRPr lang="en-IN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8" name="TextBox 16"/>
            <p:cNvSpPr/>
            <p:nvPr/>
          </p:nvSpPr>
          <p:spPr>
            <a:xfrm>
              <a:off x="16334640" y="9525960"/>
              <a:ext cx="1509120" cy="768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algn="r" defTabSz="914400">
                <a:lnSpc>
                  <a:spcPts val="2341"/>
                </a:lnSpc>
              </a:pPr>
              <a:r>
                <a:rPr lang="en-US" sz="1950" b="1" u="none" strike="noStrike">
                  <a:solidFill>
                    <a:srgbClr val="000000"/>
                  </a:solidFill>
                  <a:effectLst/>
                  <a:uFillTx/>
                  <a:latin typeface="Arial Bold"/>
                  <a:ea typeface="Arial Bold"/>
                </a:rPr>
                <a:t>5</a:t>
              </a:r>
              <a:endParaRPr lang="en-IN" sz="19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19" name="Freeform 17"/>
          <p:cNvSpPr/>
          <p:nvPr/>
        </p:nvSpPr>
        <p:spPr>
          <a:xfrm>
            <a:off x="832680" y="3233160"/>
            <a:ext cx="7562880" cy="1951560"/>
          </a:xfrm>
          <a:custGeom>
            <a:avLst/>
            <a:gdLst>
              <a:gd name="textAreaLeft" fmla="*/ 0 w 7562880"/>
              <a:gd name="textAreaRight" fmla="*/ 7563600 w 7562880"/>
              <a:gd name="textAreaTop" fmla="*/ 0 h 1951560"/>
              <a:gd name="textAreaBottom" fmla="*/ 1952280 h 1951560"/>
            </a:gdLst>
            <a:ahLst/>
            <a:cxnLst/>
            <a:rect l="textAreaLeft" t="textAreaTop" r="textAreaRight" b="textAreaBottom"/>
            <a:pathLst>
              <a:path w="7563478" h="1952323">
                <a:moveTo>
                  <a:pt x="0" y="0"/>
                </a:moveTo>
                <a:lnTo>
                  <a:pt x="7563478" y="0"/>
                </a:lnTo>
                <a:lnTo>
                  <a:pt x="7563478" y="1952323"/>
                </a:lnTo>
                <a:lnTo>
                  <a:pt x="0" y="195232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6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" name="Freeform 18"/>
          <p:cNvSpPr/>
          <p:nvPr/>
        </p:nvSpPr>
        <p:spPr>
          <a:xfrm>
            <a:off x="9966600" y="3251880"/>
            <a:ext cx="6222240" cy="1882080"/>
          </a:xfrm>
          <a:custGeom>
            <a:avLst/>
            <a:gdLst>
              <a:gd name="textAreaLeft" fmla="*/ 0 w 6222240"/>
              <a:gd name="textAreaRight" fmla="*/ 6222960 w 6222240"/>
              <a:gd name="textAreaTop" fmla="*/ 0 h 1882080"/>
              <a:gd name="textAreaBottom" fmla="*/ 1882800 h 1882080"/>
            </a:gdLst>
            <a:ahLst/>
            <a:cxnLst/>
            <a:rect l="textAreaLeft" t="textAreaTop" r="textAreaRight" b="textAreaBottom"/>
            <a:pathLst>
              <a:path w="6223011" h="1882698">
                <a:moveTo>
                  <a:pt x="0" y="0"/>
                </a:moveTo>
                <a:lnTo>
                  <a:pt x="6223011" y="0"/>
                </a:lnTo>
                <a:lnTo>
                  <a:pt x="6223011" y="1882698"/>
                </a:lnTo>
                <a:lnTo>
                  <a:pt x="0" y="1882698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7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" name="Freeform 19"/>
          <p:cNvSpPr/>
          <p:nvPr/>
        </p:nvSpPr>
        <p:spPr>
          <a:xfrm>
            <a:off x="715680" y="6179400"/>
            <a:ext cx="7246800" cy="2425680"/>
          </a:xfrm>
          <a:custGeom>
            <a:avLst/>
            <a:gdLst>
              <a:gd name="textAreaLeft" fmla="*/ 0 w 7246800"/>
              <a:gd name="textAreaRight" fmla="*/ 7247520 w 7246800"/>
              <a:gd name="textAreaTop" fmla="*/ 0 h 2425680"/>
              <a:gd name="textAreaBottom" fmla="*/ 2426400 h 2425680"/>
            </a:gdLst>
            <a:ahLst/>
            <a:cxnLst/>
            <a:rect l="textAreaLeft" t="textAreaTop" r="textAreaRight" b="textAreaBottom"/>
            <a:pathLst>
              <a:path w="7247661" h="2426323">
                <a:moveTo>
                  <a:pt x="0" y="0"/>
                </a:moveTo>
                <a:lnTo>
                  <a:pt x="7247661" y="0"/>
                </a:lnTo>
                <a:lnTo>
                  <a:pt x="7247661" y="2426323"/>
                </a:lnTo>
                <a:lnTo>
                  <a:pt x="0" y="242632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8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" name="Freeform 20"/>
          <p:cNvSpPr/>
          <p:nvPr/>
        </p:nvSpPr>
        <p:spPr>
          <a:xfrm>
            <a:off x="9966600" y="6166440"/>
            <a:ext cx="5223960" cy="3268800"/>
          </a:xfrm>
          <a:custGeom>
            <a:avLst/>
            <a:gdLst>
              <a:gd name="textAreaLeft" fmla="*/ 0 w 5223960"/>
              <a:gd name="textAreaRight" fmla="*/ 5224680 w 5223960"/>
              <a:gd name="textAreaTop" fmla="*/ 0 h 3268800"/>
              <a:gd name="textAreaBottom" fmla="*/ 3269520 h 3268800"/>
            </a:gdLst>
            <a:ahLst/>
            <a:cxnLst/>
            <a:rect l="textAreaLeft" t="textAreaTop" r="textAreaRight" b="textAreaBottom"/>
            <a:pathLst>
              <a:path w="5224820" h="3269455">
                <a:moveTo>
                  <a:pt x="0" y="0"/>
                </a:moveTo>
                <a:lnTo>
                  <a:pt x="5224820" y="0"/>
                </a:lnTo>
                <a:lnTo>
                  <a:pt x="5224820" y="3269454"/>
                </a:lnTo>
                <a:lnTo>
                  <a:pt x="0" y="326945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9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Box 21"/>
          <p:cNvSpPr/>
          <p:nvPr/>
        </p:nvSpPr>
        <p:spPr>
          <a:xfrm>
            <a:off x="715680" y="1691640"/>
            <a:ext cx="16425720" cy="75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ts val="5043"/>
              </a:lnSpc>
            </a:pPr>
            <a:r>
              <a:rPr lang="en-US" sz="4200" b="1" u="none" strike="noStrike">
                <a:solidFill>
                  <a:srgbClr val="000000"/>
                </a:solidFill>
                <a:effectLst/>
                <a:uFillTx/>
                <a:latin typeface="Arial Bold"/>
                <a:ea typeface="Arial Bold"/>
              </a:rPr>
              <a:t>❖ </a:t>
            </a:r>
            <a:r>
              <a:rPr lang="en-US" sz="4200" b="1" u="sng" strike="noStrike">
                <a:solidFill>
                  <a:srgbClr val="000000"/>
                </a:solidFill>
                <a:effectLst/>
                <a:uFillTx/>
                <a:latin typeface="Arial Bold"/>
                <a:ea typeface="Arial Bold"/>
              </a:rPr>
              <a:t>ML Approach</a:t>
            </a:r>
            <a:endParaRPr lang="en-IN" sz="4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Box 22"/>
          <p:cNvSpPr/>
          <p:nvPr/>
        </p:nvSpPr>
        <p:spPr>
          <a:xfrm>
            <a:off x="832680" y="2718720"/>
            <a:ext cx="5844600" cy="51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ts val="3844"/>
              </a:lnSpc>
            </a:pPr>
            <a:r>
              <a:rPr lang="en-US" sz="3209" b="1" u="none" strike="noStrike">
                <a:solidFill>
                  <a:srgbClr val="000000"/>
                </a:solidFill>
                <a:effectLst/>
                <a:uFillTx/>
                <a:latin typeface="Arial Bold"/>
                <a:ea typeface="Arial Bold"/>
              </a:rPr>
              <a:t>Module 1: Uncertainty Bands</a:t>
            </a:r>
            <a:endParaRPr lang="en-IN" sz="320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Box 23"/>
          <p:cNvSpPr/>
          <p:nvPr/>
        </p:nvSpPr>
        <p:spPr>
          <a:xfrm>
            <a:off x="9943920" y="2566440"/>
            <a:ext cx="5844600" cy="51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ts val="3844"/>
              </a:lnSpc>
            </a:pPr>
            <a:r>
              <a:rPr lang="en-US" sz="3209" b="1" u="none" strike="noStrike">
                <a:solidFill>
                  <a:srgbClr val="000000"/>
                </a:solidFill>
                <a:effectLst/>
                <a:uFillTx/>
                <a:latin typeface="Arial Bold"/>
                <a:ea typeface="Arial Bold"/>
              </a:rPr>
              <a:t>Module 2: Calibrated Risk</a:t>
            </a:r>
            <a:endParaRPr lang="en-IN" sz="320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Box 24"/>
          <p:cNvSpPr/>
          <p:nvPr/>
        </p:nvSpPr>
        <p:spPr>
          <a:xfrm>
            <a:off x="832680" y="5461560"/>
            <a:ext cx="5844600" cy="51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ts val="3844"/>
              </a:lnSpc>
            </a:pPr>
            <a:r>
              <a:rPr lang="en-US" sz="3209" b="1" u="none" strike="noStrike">
                <a:solidFill>
                  <a:srgbClr val="000000"/>
                </a:solidFill>
                <a:effectLst/>
                <a:uFillTx/>
                <a:latin typeface="Arial Bold"/>
                <a:ea typeface="Arial Bold"/>
              </a:rPr>
              <a:t>Module 3: Blind-Spot Detector</a:t>
            </a:r>
            <a:endParaRPr lang="en-IN" sz="320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Box 25"/>
          <p:cNvSpPr/>
          <p:nvPr/>
        </p:nvSpPr>
        <p:spPr>
          <a:xfrm>
            <a:off x="9943920" y="5480640"/>
            <a:ext cx="5844600" cy="51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ts val="3844"/>
              </a:lnSpc>
            </a:pPr>
            <a:r>
              <a:rPr lang="en-US" sz="3209" b="1" u="sng" strike="noStrike">
                <a:solidFill>
                  <a:srgbClr val="000000"/>
                </a:solidFill>
                <a:effectLst/>
                <a:uFillTx/>
                <a:latin typeface="Arial Bold"/>
                <a:ea typeface="Arial Bold"/>
              </a:rPr>
              <a:t>How Output Is Used:</a:t>
            </a:r>
            <a:endParaRPr lang="en-IN" sz="320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8" name="Group 2"/>
          <p:cNvGrpSpPr/>
          <p:nvPr/>
        </p:nvGrpSpPr>
        <p:grpSpPr>
          <a:xfrm>
            <a:off x="2676600" y="321840"/>
            <a:ext cx="12902760" cy="1325160"/>
            <a:chOff x="2676600" y="321840"/>
            <a:chExt cx="12902760" cy="1325160"/>
          </a:xfrm>
        </p:grpSpPr>
        <p:sp>
          <p:nvSpPr>
            <p:cNvPr id="229" name="Freeform 3"/>
            <p:cNvSpPr/>
            <p:nvPr/>
          </p:nvSpPr>
          <p:spPr>
            <a:xfrm>
              <a:off x="2676600" y="343080"/>
              <a:ext cx="12902760" cy="1303560"/>
            </a:xfrm>
            <a:custGeom>
              <a:avLst/>
              <a:gdLst>
                <a:gd name="textAreaLeft" fmla="*/ 0 w 12902760"/>
                <a:gd name="textAreaRight" fmla="*/ 12903120 w 12902760"/>
                <a:gd name="textAreaTop" fmla="*/ 0 h 1303560"/>
                <a:gd name="textAreaBottom" fmla="*/ 1303920 h 1303560"/>
              </a:gdLst>
              <a:ahLst/>
              <a:cxnLst/>
              <a:rect l="textAreaLeft" t="textAreaTop" r="textAreaRight" b="textAreaBottom"/>
              <a:pathLst>
                <a:path w="17204161" h="1738718">
                  <a:moveTo>
                    <a:pt x="0" y="0"/>
                  </a:moveTo>
                  <a:lnTo>
                    <a:pt x="17204161" y="0"/>
                  </a:lnTo>
                  <a:lnTo>
                    <a:pt x="17204161" y="1738718"/>
                  </a:lnTo>
                  <a:lnTo>
                    <a:pt x="0" y="1738718"/>
                  </a:lnTo>
                  <a:close/>
                </a:path>
              </a:pathLst>
            </a:custGeom>
            <a:blipFill rotWithShape="0">
              <a:blip r:embed="rId1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/>
              <a:endParaRPr lang="en-IN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30" name="TextBox 4"/>
            <p:cNvSpPr/>
            <p:nvPr/>
          </p:nvSpPr>
          <p:spPr>
            <a:xfrm>
              <a:off x="2676600" y="321840"/>
              <a:ext cx="12902760" cy="1325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algn="ctr">
                <a:lnSpc>
                  <a:spcPts val="5403"/>
                </a:lnSpc>
              </a:pPr>
              <a:r>
                <a:rPr lang="en-US" sz="4500" b="0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BASE PROTOTYPE &amp; MVP</a:t>
              </a:r>
              <a:endParaRPr lang="en-IN" sz="45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231" name="Group 5"/>
          <p:cNvGrpSpPr/>
          <p:nvPr/>
        </p:nvGrpSpPr>
        <p:grpSpPr>
          <a:xfrm>
            <a:off x="617760" y="205920"/>
            <a:ext cx="1717920" cy="1372320"/>
            <a:chOff x="617760" y="205920"/>
            <a:chExt cx="1717920" cy="1372320"/>
          </a:xfrm>
        </p:grpSpPr>
        <p:sp>
          <p:nvSpPr>
            <p:cNvPr id="232" name="Freeform 6" descr="logo-dsc-light.png"/>
            <p:cNvSpPr/>
            <p:nvPr/>
          </p:nvSpPr>
          <p:spPr>
            <a:xfrm>
              <a:off x="617760" y="205920"/>
              <a:ext cx="1717920" cy="1372320"/>
            </a:xfrm>
            <a:custGeom>
              <a:avLst/>
              <a:gdLst>
                <a:gd name="textAreaLeft" fmla="*/ 0 w 1717920"/>
                <a:gd name="textAreaRight" fmla="*/ 1718280 w 1717920"/>
                <a:gd name="textAreaTop" fmla="*/ 0 h 1372320"/>
                <a:gd name="textAreaBottom" fmla="*/ 1372680 h 1372320"/>
              </a:gdLst>
              <a:ahLst/>
              <a:cxnLst/>
              <a:rect l="textAreaLeft" t="textAreaTop" r="textAreaRight" b="textAreaBottom"/>
              <a:pathLst>
                <a:path w="2291207" h="1830197">
                  <a:moveTo>
                    <a:pt x="0" y="0"/>
                  </a:moveTo>
                  <a:lnTo>
                    <a:pt x="2291207" y="0"/>
                  </a:lnTo>
                  <a:lnTo>
                    <a:pt x="2291207" y="1830197"/>
                  </a:lnTo>
                  <a:lnTo>
                    <a:pt x="0" y="1830197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2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/>
              <a:endParaRPr lang="en-IN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233" name="Group 7"/>
          <p:cNvGrpSpPr/>
          <p:nvPr/>
        </p:nvGrpSpPr>
        <p:grpSpPr>
          <a:xfrm>
            <a:off x="15373800" y="480600"/>
            <a:ext cx="2248200" cy="850680"/>
            <a:chOff x="15373800" y="480600"/>
            <a:chExt cx="2248200" cy="850680"/>
          </a:xfrm>
        </p:grpSpPr>
        <p:sp>
          <p:nvSpPr>
            <p:cNvPr id="234" name="Freeform 8" descr="logo-iiec-light.png"/>
            <p:cNvSpPr/>
            <p:nvPr/>
          </p:nvSpPr>
          <p:spPr>
            <a:xfrm>
              <a:off x="15373800" y="480600"/>
              <a:ext cx="2248200" cy="850680"/>
            </a:xfrm>
            <a:custGeom>
              <a:avLst/>
              <a:gdLst>
                <a:gd name="textAreaLeft" fmla="*/ 0 w 2248200"/>
                <a:gd name="textAreaRight" fmla="*/ 2248560 w 2248200"/>
                <a:gd name="textAreaTop" fmla="*/ 0 h 850680"/>
                <a:gd name="textAreaBottom" fmla="*/ 851040 h 850680"/>
              </a:gdLst>
              <a:ahLst/>
              <a:cxnLst/>
              <a:rect l="textAreaLeft" t="textAreaTop" r="textAreaRight" b="textAreaBottom"/>
              <a:pathLst>
                <a:path w="2998089" h="1134745">
                  <a:moveTo>
                    <a:pt x="0" y="0"/>
                  </a:moveTo>
                  <a:lnTo>
                    <a:pt x="2998089" y="0"/>
                  </a:lnTo>
                  <a:lnTo>
                    <a:pt x="2998089" y="1134745"/>
                  </a:lnTo>
                  <a:lnTo>
                    <a:pt x="0" y="1134745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3"/>
              <a:srcRect/>
              <a:stretch>
                <a:fillRect t="-16694" r="-33338" b="-16694"/>
              </a:stretch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/>
              <a:endParaRPr lang="en-IN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235" name="Group 9"/>
          <p:cNvGrpSpPr/>
          <p:nvPr/>
        </p:nvGrpSpPr>
        <p:grpSpPr>
          <a:xfrm>
            <a:off x="0" y="9540000"/>
            <a:ext cx="18301320" cy="754560"/>
            <a:chOff x="0" y="9540000"/>
            <a:chExt cx="18301320" cy="754560"/>
          </a:xfrm>
        </p:grpSpPr>
        <p:sp>
          <p:nvSpPr>
            <p:cNvPr id="236" name="Freeform 10"/>
            <p:cNvSpPr/>
            <p:nvPr/>
          </p:nvSpPr>
          <p:spPr>
            <a:xfrm>
              <a:off x="0" y="9540000"/>
              <a:ext cx="18301320" cy="754560"/>
            </a:xfrm>
            <a:custGeom>
              <a:avLst/>
              <a:gdLst>
                <a:gd name="textAreaLeft" fmla="*/ 0 w 18301320"/>
                <a:gd name="textAreaRight" fmla="*/ 18301680 w 18301320"/>
                <a:gd name="textAreaTop" fmla="*/ 0 h 754560"/>
                <a:gd name="textAreaBottom" fmla="*/ 754920 h 754560"/>
              </a:gdLst>
              <a:ahLst/>
              <a:cxnLst/>
              <a:rect l="textAreaLeft" t="textAreaTop" r="textAreaRight" b="textAreaBottom"/>
              <a:pathLst>
                <a:path w="24402414" h="1006602">
                  <a:moveTo>
                    <a:pt x="0" y="0"/>
                  </a:moveTo>
                  <a:lnTo>
                    <a:pt x="24402414" y="0"/>
                  </a:lnTo>
                  <a:lnTo>
                    <a:pt x="24402414" y="1006602"/>
                  </a:lnTo>
                  <a:lnTo>
                    <a:pt x="0" y="1006602"/>
                  </a:lnTo>
                  <a:close/>
                </a:path>
              </a:pathLst>
            </a:custGeom>
            <a:solidFill>
              <a:srgbClr val="19E3F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/>
              <a:endParaRPr lang="en-IN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237" name="Group 11"/>
          <p:cNvGrpSpPr/>
          <p:nvPr/>
        </p:nvGrpSpPr>
        <p:grpSpPr>
          <a:xfrm>
            <a:off x="0" y="9525960"/>
            <a:ext cx="18301320" cy="768960"/>
            <a:chOff x="0" y="9525960"/>
            <a:chExt cx="18301320" cy="768960"/>
          </a:xfrm>
        </p:grpSpPr>
        <p:sp>
          <p:nvSpPr>
            <p:cNvPr id="238" name="Freeform 12"/>
            <p:cNvSpPr/>
            <p:nvPr/>
          </p:nvSpPr>
          <p:spPr>
            <a:xfrm>
              <a:off x="0" y="9540000"/>
              <a:ext cx="18301320" cy="754560"/>
            </a:xfrm>
            <a:custGeom>
              <a:avLst/>
              <a:gdLst>
                <a:gd name="textAreaLeft" fmla="*/ 0 w 18301320"/>
                <a:gd name="textAreaRight" fmla="*/ 18301680 w 18301320"/>
                <a:gd name="textAreaTop" fmla="*/ 0 h 754560"/>
                <a:gd name="textAreaBottom" fmla="*/ 754920 h 754560"/>
              </a:gdLst>
              <a:ahLst/>
              <a:cxnLst/>
              <a:rect l="textAreaLeft" t="textAreaTop" r="textAreaRight" b="textAreaBottom"/>
              <a:pathLst>
                <a:path w="24402455" h="1006626">
                  <a:moveTo>
                    <a:pt x="0" y="0"/>
                  </a:moveTo>
                  <a:lnTo>
                    <a:pt x="24402455" y="0"/>
                  </a:lnTo>
                  <a:lnTo>
                    <a:pt x="24402455" y="1006626"/>
                  </a:lnTo>
                  <a:lnTo>
                    <a:pt x="0" y="1006626"/>
                  </a:lnTo>
                  <a:close/>
                </a:path>
              </a:pathLst>
            </a:custGeom>
            <a:blipFill rotWithShape="0">
              <a:blip r:embed="rId4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/>
              <a:endParaRPr lang="en-IN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39" name="TextBox 13"/>
            <p:cNvSpPr/>
            <p:nvPr/>
          </p:nvSpPr>
          <p:spPr>
            <a:xfrm>
              <a:off x="0" y="9525960"/>
              <a:ext cx="18301320" cy="768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algn="ctr">
                <a:lnSpc>
                  <a:spcPts val="2160"/>
                </a:lnSpc>
              </a:pPr>
              <a:r>
                <a:rPr lang="en-US" sz="1800" b="1" u="none" strike="noStrike">
                  <a:solidFill>
                    <a:srgbClr val="000000"/>
                  </a:solidFill>
                  <a:effectLst/>
                  <a:uFillTx/>
                  <a:latin typeface="Arial Bold"/>
                  <a:ea typeface="Arial Bold"/>
                </a:rPr>
                <a:t>DATATHON 2026  ·  Round 1 Idea Submission – Template</a:t>
              </a:r>
              <a:endParaRPr lang="en-IN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240" name="Group 14"/>
          <p:cNvGrpSpPr/>
          <p:nvPr/>
        </p:nvGrpSpPr>
        <p:grpSpPr>
          <a:xfrm>
            <a:off x="16334640" y="9525960"/>
            <a:ext cx="1509480" cy="768960"/>
            <a:chOff x="16334640" y="9525960"/>
            <a:chExt cx="1509480" cy="768960"/>
          </a:xfrm>
        </p:grpSpPr>
        <p:sp>
          <p:nvSpPr>
            <p:cNvPr id="241" name="Freeform 15"/>
            <p:cNvSpPr/>
            <p:nvPr/>
          </p:nvSpPr>
          <p:spPr>
            <a:xfrm>
              <a:off x="16334640" y="9540000"/>
              <a:ext cx="1509480" cy="754560"/>
            </a:xfrm>
            <a:custGeom>
              <a:avLst/>
              <a:gdLst>
                <a:gd name="textAreaLeft" fmla="*/ 0 w 1509480"/>
                <a:gd name="textAreaRight" fmla="*/ 1509840 w 1509480"/>
                <a:gd name="textAreaTop" fmla="*/ 0 h 754560"/>
                <a:gd name="textAreaBottom" fmla="*/ 754920 h 754560"/>
              </a:gdLst>
              <a:ahLst/>
              <a:cxnLst/>
              <a:rect l="textAreaLeft" t="textAreaTop" r="textAreaRight" b="textAreaBottom"/>
              <a:pathLst>
                <a:path w="2013253" h="1006626">
                  <a:moveTo>
                    <a:pt x="0" y="0"/>
                  </a:moveTo>
                  <a:lnTo>
                    <a:pt x="2013253" y="0"/>
                  </a:lnTo>
                  <a:lnTo>
                    <a:pt x="2013253" y="1006626"/>
                  </a:lnTo>
                  <a:lnTo>
                    <a:pt x="0" y="1006626"/>
                  </a:lnTo>
                  <a:close/>
                </a:path>
              </a:pathLst>
            </a:custGeom>
            <a:blipFill rotWithShape="0">
              <a:blip r:embed="rId5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/>
              <a:endParaRPr lang="en-IN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42" name="TextBox 16"/>
            <p:cNvSpPr/>
            <p:nvPr/>
          </p:nvSpPr>
          <p:spPr>
            <a:xfrm>
              <a:off x="16334640" y="9525960"/>
              <a:ext cx="1509480" cy="768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algn="r">
                <a:lnSpc>
                  <a:spcPts val="2341"/>
                </a:lnSpc>
              </a:pPr>
              <a:r>
                <a:rPr lang="en-US" sz="1950" b="1" u="none" strike="noStrike">
                  <a:solidFill>
                    <a:srgbClr val="000000"/>
                  </a:solidFill>
                  <a:effectLst/>
                  <a:uFillTx/>
                  <a:latin typeface="Arial Bold"/>
                  <a:ea typeface="Arial Bold"/>
                </a:rPr>
                <a:t>6</a:t>
              </a:r>
              <a:endParaRPr lang="en-IN" sz="19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43" name="TextBox 17"/>
          <p:cNvSpPr/>
          <p:nvPr/>
        </p:nvSpPr>
        <p:spPr>
          <a:xfrm>
            <a:off x="915120" y="2291760"/>
            <a:ext cx="16426080" cy="75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ts val="5043"/>
              </a:lnSpc>
            </a:pPr>
            <a:r>
              <a:rPr lang="en-US" sz="4200" b="1" u="none" strike="noStrike">
                <a:solidFill>
                  <a:srgbClr val="000000"/>
                </a:solidFill>
                <a:effectLst/>
                <a:uFillTx/>
                <a:latin typeface="Arial Bold"/>
                <a:ea typeface="Arial Bold"/>
              </a:rPr>
              <a:t>❖ </a:t>
            </a:r>
            <a:r>
              <a:rPr lang="en-US" sz="4200" b="1" u="sng" strike="noStrike">
                <a:solidFill>
                  <a:srgbClr val="000000"/>
                </a:solidFill>
                <a:effectLst/>
                <a:uFillTx/>
                <a:latin typeface="Arial Bold"/>
                <a:ea typeface="Arial Bold"/>
              </a:rPr>
              <a:t>Base Prototype (Round 1)</a:t>
            </a:r>
            <a:endParaRPr lang="en-IN" sz="4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BuiltCard0"/>
          <p:cNvSpPr/>
          <p:nvPr/>
        </p:nvSpPr>
        <p:spPr>
          <a:xfrm>
            <a:off x="617760" y="3139920"/>
            <a:ext cx="5497200" cy="1399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BuiltAcc0"/>
          <p:cNvSpPr/>
          <p:nvPr/>
        </p:nvSpPr>
        <p:spPr>
          <a:xfrm>
            <a:off x="617760" y="3139920"/>
            <a:ext cx="89640" cy="1399680"/>
          </a:xfrm>
          <a:prstGeom prst="rect">
            <a:avLst/>
          </a:prstGeom>
          <a:solidFill>
            <a:srgbClr val="19E3F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BuiltTxt0"/>
          <p:cNvSpPr/>
          <p:nvPr/>
        </p:nvSpPr>
        <p:spPr>
          <a:xfrm>
            <a:off x="617760" y="3139920"/>
            <a:ext cx="5497200" cy="13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99880" tIns="69840" rIns="240120" bIns="69840" anchor="ctr">
            <a:noAutofit/>
          </a:bodyPr>
          <a:p>
            <a:pPr>
              <a:lnSpc>
                <a:spcPct val="100000"/>
              </a:lnSpc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Priority ranking   </a:t>
            </a:r>
            <a:r>
              <a:rPr lang="en-US" sz="1100" b="1" u="none" strike="noStrike">
                <a:solidFill>
                  <a:srgbClr val="0B9FB0"/>
                </a:solidFill>
                <a:effectLst/>
                <a:uFillTx/>
                <a:latin typeface="Arial"/>
              </a:rPr>
              <a:t>Module 1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6000"/>
              </a:lnSpc>
              <a:spcBef>
                <a:spcPts val="499"/>
              </a:spcBef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Arial"/>
              </a:rPr>
              <a:t>Every location scored and ranked by real risk, with a confidence band so teams see how sure the model is.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BuiltCard1"/>
          <p:cNvSpPr/>
          <p:nvPr/>
        </p:nvSpPr>
        <p:spPr>
          <a:xfrm>
            <a:off x="6395400" y="3139920"/>
            <a:ext cx="5497200" cy="1399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BuiltAcc1"/>
          <p:cNvSpPr/>
          <p:nvPr/>
        </p:nvSpPr>
        <p:spPr>
          <a:xfrm>
            <a:off x="6395400" y="3139920"/>
            <a:ext cx="89640" cy="1399680"/>
          </a:xfrm>
          <a:prstGeom prst="rect">
            <a:avLst/>
          </a:prstGeom>
          <a:solidFill>
            <a:srgbClr val="19E3F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BuiltTxt1"/>
          <p:cNvSpPr/>
          <p:nvPr/>
        </p:nvSpPr>
        <p:spPr>
          <a:xfrm>
            <a:off x="6395400" y="3139920"/>
            <a:ext cx="5497200" cy="13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99880" tIns="69840" rIns="240120" bIns="69840" anchor="ctr">
            <a:noAutofit/>
          </a:bodyPr>
          <a:p>
            <a:pPr>
              <a:lnSpc>
                <a:spcPct val="100000"/>
              </a:lnSpc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Blind-spot map   </a:t>
            </a:r>
            <a:r>
              <a:rPr lang="en-US" sz="1100" b="1" u="none" strike="noStrike">
                <a:solidFill>
                  <a:srgbClr val="0B9FB0"/>
                </a:solidFill>
                <a:effectLst/>
                <a:uFillTx/>
                <a:latin typeface="Arial"/>
              </a:rPr>
              <a:t>Module 3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6000"/>
              </a:lnSpc>
              <a:spcBef>
                <a:spcPts val="499"/>
              </a:spcBef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Arial"/>
              </a:rPr>
              <a:t>Flags where complaints and real incident risk disagree, surfacing under-reported danger spots.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BuiltCard2"/>
          <p:cNvSpPr/>
          <p:nvPr/>
        </p:nvSpPr>
        <p:spPr>
          <a:xfrm>
            <a:off x="12172680" y="3139920"/>
            <a:ext cx="5497200" cy="1399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BuiltAcc2"/>
          <p:cNvSpPr/>
          <p:nvPr/>
        </p:nvSpPr>
        <p:spPr>
          <a:xfrm>
            <a:off x="12172680" y="3139920"/>
            <a:ext cx="89640" cy="1399680"/>
          </a:xfrm>
          <a:prstGeom prst="rect">
            <a:avLst/>
          </a:prstGeom>
          <a:solidFill>
            <a:srgbClr val="19E3F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BuiltTxt2"/>
          <p:cNvSpPr/>
          <p:nvPr/>
        </p:nvSpPr>
        <p:spPr>
          <a:xfrm>
            <a:off x="12172680" y="3139920"/>
            <a:ext cx="5497200" cy="13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99880" tIns="69840" rIns="240120" bIns="69840" anchor="ctr">
            <a:noAutofit/>
          </a:bodyPr>
          <a:p>
            <a:pPr>
              <a:lnSpc>
                <a:spcPct val="100000"/>
              </a:lnSpc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Web dashboard   </a:t>
            </a:r>
            <a:r>
              <a:rPr lang="en-US" sz="1100" b="1" u="none" strike="noStrike">
                <a:solidFill>
                  <a:srgbClr val="0B9FB0"/>
                </a:solidFill>
                <a:effectLst/>
                <a:uFillTx/>
                <a:latin typeface="Arial"/>
              </a:rPr>
              <a:t>Built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6000"/>
              </a:lnSpc>
              <a:spcBef>
                <a:spcPts val="499"/>
              </a:spcBef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Arial"/>
              </a:rPr>
              <a:t>A simple ranked map and list over the dataset, ready to explore all 1,000 locations.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Box 19"/>
          <p:cNvSpPr/>
          <p:nvPr/>
        </p:nvSpPr>
        <p:spPr>
          <a:xfrm>
            <a:off x="915120" y="4719960"/>
            <a:ext cx="16426080" cy="75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ts val="5043"/>
              </a:lnSpc>
            </a:pPr>
            <a:r>
              <a:rPr lang="en-US" sz="4200" b="1" u="none" strike="noStrike">
                <a:solidFill>
                  <a:srgbClr val="000000"/>
                </a:solidFill>
                <a:effectLst/>
                <a:uFillTx/>
                <a:latin typeface="Arial Bold"/>
                <a:ea typeface="Arial Bold"/>
              </a:rPr>
              <a:t>❖ </a:t>
            </a:r>
            <a:r>
              <a:rPr lang="en-US" sz="4200" b="1" u="sng" strike="noStrike">
                <a:solidFill>
                  <a:srgbClr val="000000"/>
                </a:solidFill>
                <a:effectLst/>
                <a:uFillTx/>
                <a:latin typeface="Arial Bold"/>
                <a:ea typeface="Arial Bold"/>
              </a:rPr>
              <a:t>MVP for Round 2</a:t>
            </a:r>
            <a:r>
              <a:rPr lang="en-US" sz="4200" b="0" u="none" strike="noStrike">
                <a:solidFill>
                  <a:srgbClr val="555555"/>
                </a:solidFill>
                <a:effectLst/>
                <a:uFillTx/>
                <a:latin typeface="Arial"/>
                <a:ea typeface="Arial"/>
              </a:rPr>
              <a:t>   (Mandatory)</a:t>
            </a:r>
            <a:endParaRPr lang="en-IN" sz="4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Mod2Card"/>
          <p:cNvSpPr/>
          <p:nvPr/>
        </p:nvSpPr>
        <p:spPr>
          <a:xfrm>
            <a:off x="617760" y="5559840"/>
            <a:ext cx="8326080" cy="2049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Mod2Acc"/>
          <p:cNvSpPr/>
          <p:nvPr/>
        </p:nvSpPr>
        <p:spPr>
          <a:xfrm>
            <a:off x="617760" y="5559840"/>
            <a:ext cx="89640" cy="2049480"/>
          </a:xfrm>
          <a:prstGeom prst="rect">
            <a:avLst/>
          </a:prstGeom>
          <a:solidFill>
            <a:srgbClr val="19E3F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Mod2Txt"/>
          <p:cNvSpPr/>
          <p:nvPr/>
        </p:nvSpPr>
        <p:spPr>
          <a:xfrm>
            <a:off x="617760" y="5559840"/>
            <a:ext cx="8326080" cy="20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20040" tIns="119880" rIns="280080" bIns="119880" anchor="ctr">
            <a:noAutofit/>
          </a:bodyPr>
          <a:p>
            <a:pPr>
              <a:lnSpc>
                <a:spcPct val="100000"/>
              </a:lnSpc>
            </a:pPr>
            <a:r>
              <a:rPr lang="en-US" sz="19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What Module 2 adds   </a:t>
            </a:r>
            <a:r>
              <a:rPr lang="en-US" sz="1200" b="1" u="none" strike="noStrike">
                <a:solidFill>
                  <a:srgbClr val="0B9FB0"/>
                </a:solidFill>
                <a:effectLst/>
                <a:uFillTx/>
                <a:latin typeface="Arial"/>
              </a:rPr>
              <a:t>Live exposure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2000"/>
              </a:lnSpc>
              <a:spcBef>
                <a:spcPts val="700"/>
              </a:spcBef>
            </a:pPr>
            <a:r>
              <a:rPr lang="en-US" sz="1450" b="0" u="none" strike="noStrike">
                <a:solidFill>
                  <a:srgbClr val="333333"/>
                </a:solidFill>
                <a:effectLst/>
                <a:uFillTx/>
                <a:latin typeface="Arial"/>
              </a:rPr>
              <a:t>Brings in how many people are actually on each road, so a hazard on a busy route outranks the same hazard on a quiet lane. Priority stops being static and reflects who is at risk right now.</a:t>
            </a:r>
            <a:endParaRPr lang="en-IN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TomTomCard"/>
          <p:cNvSpPr/>
          <p:nvPr/>
        </p:nvSpPr>
        <p:spPr>
          <a:xfrm>
            <a:off x="9344160" y="5559840"/>
            <a:ext cx="8326080" cy="2049480"/>
          </a:xfrm>
          <a:prstGeom prst="rect">
            <a:avLst/>
          </a:prstGeom>
          <a:solidFill>
            <a:srgbClr val="19E3F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TomTomTxt"/>
          <p:cNvSpPr/>
          <p:nvPr/>
        </p:nvSpPr>
        <p:spPr>
          <a:xfrm>
            <a:off x="9344160" y="5559840"/>
            <a:ext cx="8326080" cy="20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20040" tIns="119880" rIns="280080" bIns="119880" anchor="ctr">
            <a:noAutofit/>
          </a:bodyPr>
          <a:p>
            <a:pPr>
              <a:lnSpc>
                <a:spcPct val="100000"/>
              </a:lnSpc>
            </a:pPr>
            <a:r>
              <a:rPr lang="en-US" sz="19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What the TomTom Traffic API does</a:t>
            </a:r>
            <a:endParaRPr lang="en-IN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2000"/>
              </a:lnSpc>
              <a:spcBef>
                <a:spcPts val="700"/>
              </a:spcBef>
            </a:pPr>
            <a:r>
              <a:rPr lang="en-US" sz="1450" b="0" u="none" strike="noStrike">
                <a:solidFill>
                  <a:srgbClr val="05343B"/>
                </a:solidFill>
                <a:effectLst/>
                <a:uFillTx/>
                <a:latin typeface="Arial"/>
              </a:rPr>
              <a:t>Feeds live traffic volume and congestion for every location, turning the ranking into a real-time, exposure-weighted worklist and showing the officer which hazards hit the most road users at any moment.</a:t>
            </a:r>
            <a:endParaRPr lang="en-IN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FlowCard0"/>
          <p:cNvSpPr/>
          <p:nvPr/>
        </p:nvSpPr>
        <p:spPr>
          <a:xfrm>
            <a:off x="617760" y="7760160"/>
            <a:ext cx="5350680" cy="1239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FlowBar0"/>
          <p:cNvSpPr/>
          <p:nvPr/>
        </p:nvSpPr>
        <p:spPr>
          <a:xfrm>
            <a:off x="617760" y="7760160"/>
            <a:ext cx="89640" cy="1239480"/>
          </a:xfrm>
          <a:prstGeom prst="rect">
            <a:avLst/>
          </a:prstGeom>
          <a:solidFill>
            <a:srgbClr val="0B9FB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" name="FlowTxt0"/>
          <p:cNvSpPr/>
          <p:nvPr/>
        </p:nvSpPr>
        <p:spPr>
          <a:xfrm>
            <a:off x="617760" y="7760160"/>
            <a:ext cx="5350680" cy="123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99880" tIns="69840" rIns="240120" bIns="69840" anchor="ctr">
            <a:noAutofit/>
          </a:bodyPr>
          <a:p>
            <a:pPr>
              <a:lnSpc>
                <a:spcPct val="100000"/>
              </a:lnSpc>
            </a:pPr>
            <a:r>
              <a:rPr lang="en-US" sz="1300" b="1" u="none" strike="noStrike">
                <a:solidFill>
                  <a:srgbClr val="0B9FB0"/>
                </a:solidFill>
                <a:effectLst/>
                <a:uFillTx/>
                <a:latin typeface="Arial"/>
              </a:rPr>
              <a:t>INPUT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6000"/>
              </a:lnSpc>
              <a:spcBef>
                <a:spcPts val="400"/>
              </a:spcBef>
            </a:pPr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Incident logs, complaints and live TomTom traffic</a:t>
            </a:r>
            <a:endParaRPr lang="en-IN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FlowCard1"/>
          <p:cNvSpPr/>
          <p:nvPr/>
        </p:nvSpPr>
        <p:spPr>
          <a:xfrm>
            <a:off x="6468480" y="7760160"/>
            <a:ext cx="5350680" cy="1239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FlowBar1"/>
          <p:cNvSpPr/>
          <p:nvPr/>
        </p:nvSpPr>
        <p:spPr>
          <a:xfrm>
            <a:off x="6468480" y="7760160"/>
            <a:ext cx="89640" cy="1239480"/>
          </a:xfrm>
          <a:prstGeom prst="rect">
            <a:avLst/>
          </a:prstGeom>
          <a:solidFill>
            <a:srgbClr val="0B9FB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" name="FlowTxt1"/>
          <p:cNvSpPr/>
          <p:nvPr/>
        </p:nvSpPr>
        <p:spPr>
          <a:xfrm>
            <a:off x="6468480" y="7760160"/>
            <a:ext cx="5350680" cy="123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99880" tIns="69840" rIns="240120" bIns="69840" anchor="ctr">
            <a:noAutofit/>
          </a:bodyPr>
          <a:p>
            <a:pPr>
              <a:lnSpc>
                <a:spcPct val="100000"/>
              </a:lnSpc>
            </a:pPr>
            <a:r>
              <a:rPr lang="en-US" sz="1300" b="1" u="none" strike="noStrike">
                <a:solidFill>
                  <a:srgbClr val="0B9FB0"/>
                </a:solidFill>
                <a:effectLst/>
                <a:uFillTx/>
                <a:latin typeface="Arial"/>
              </a:rPr>
              <a:t>OUTPUT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6000"/>
              </a:lnSpc>
              <a:spcBef>
                <a:spcPts val="400"/>
              </a:spcBef>
            </a:pPr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One ranked, confidence-scored worklist on a map</a:t>
            </a:r>
            <a:endParaRPr lang="en-IN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FlowCard2"/>
          <p:cNvSpPr/>
          <p:nvPr/>
        </p:nvSpPr>
        <p:spPr>
          <a:xfrm>
            <a:off x="12319560" y="7760160"/>
            <a:ext cx="5350680" cy="1239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FlowBar2"/>
          <p:cNvSpPr/>
          <p:nvPr/>
        </p:nvSpPr>
        <p:spPr>
          <a:xfrm>
            <a:off x="12319560" y="7760160"/>
            <a:ext cx="89640" cy="1239480"/>
          </a:xfrm>
          <a:prstGeom prst="rect">
            <a:avLst/>
          </a:prstGeom>
          <a:solidFill>
            <a:srgbClr val="0B9FB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" name="FlowTxt2"/>
          <p:cNvSpPr/>
          <p:nvPr/>
        </p:nvSpPr>
        <p:spPr>
          <a:xfrm>
            <a:off x="12319560" y="7760160"/>
            <a:ext cx="5350680" cy="123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99880" tIns="69840" rIns="240120" bIns="69840" anchor="ctr">
            <a:noAutofit/>
          </a:bodyPr>
          <a:p>
            <a:pPr>
              <a:lnSpc>
                <a:spcPct val="100000"/>
              </a:lnSpc>
            </a:pPr>
            <a:r>
              <a:rPr lang="en-US" sz="1300" b="1" u="none" strike="noStrike">
                <a:solidFill>
                  <a:srgbClr val="0B9FB0"/>
                </a:solidFill>
                <a:effectLst/>
                <a:uFillTx/>
                <a:latin typeface="Arial"/>
              </a:rPr>
              <a:t>ACTION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6000"/>
              </a:lnSpc>
              <a:spcBef>
                <a:spcPts val="400"/>
              </a:spcBef>
            </a:pPr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Crews dispatched to the highest-risk spots first</a:t>
            </a:r>
            <a:endParaRPr lang="en-IN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Arrow0"/>
          <p:cNvSpPr/>
          <p:nvPr/>
        </p:nvSpPr>
        <p:spPr>
          <a:xfrm>
            <a:off x="5968440" y="7760160"/>
            <a:ext cx="499680" cy="123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2400" b="1" u="none" strike="noStrike">
                <a:solidFill>
                  <a:srgbClr val="0B9FB0"/>
                </a:solidFill>
                <a:effectLst/>
                <a:uFillTx/>
                <a:latin typeface="Arial"/>
              </a:rPr>
              <a:t>▸</a:t>
            </a:r>
            <a:endParaRPr lang="en-IN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Arrow1"/>
          <p:cNvSpPr/>
          <p:nvPr/>
        </p:nvSpPr>
        <p:spPr>
          <a:xfrm>
            <a:off x="11819520" y="7760160"/>
            <a:ext cx="499680" cy="123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2400" b="1" u="none" strike="noStrike">
                <a:solidFill>
                  <a:srgbClr val="0B9FB0"/>
                </a:solidFill>
                <a:effectLst/>
                <a:uFillTx/>
                <a:latin typeface="Arial"/>
              </a:rPr>
              <a:t>▸</a:t>
            </a:r>
            <a:endParaRPr lang="en-IN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0" name="Group 2"/>
          <p:cNvGrpSpPr/>
          <p:nvPr/>
        </p:nvGrpSpPr>
        <p:grpSpPr>
          <a:xfrm>
            <a:off x="2676600" y="321840"/>
            <a:ext cx="12902400" cy="1324800"/>
            <a:chOff x="2676600" y="321840"/>
            <a:chExt cx="12902400" cy="1324800"/>
          </a:xfrm>
        </p:grpSpPr>
        <p:sp>
          <p:nvSpPr>
            <p:cNvPr id="271" name="Freeform 3"/>
            <p:cNvSpPr/>
            <p:nvPr/>
          </p:nvSpPr>
          <p:spPr>
            <a:xfrm>
              <a:off x="2676600" y="343080"/>
              <a:ext cx="12902400" cy="1303200"/>
            </a:xfrm>
            <a:custGeom>
              <a:avLst/>
              <a:gdLst>
                <a:gd name="textAreaLeft" fmla="*/ 0 w 12902400"/>
                <a:gd name="textAreaRight" fmla="*/ 12903120 w 12902400"/>
                <a:gd name="textAreaTop" fmla="*/ 0 h 1303200"/>
                <a:gd name="textAreaBottom" fmla="*/ 1303920 h 1303200"/>
              </a:gdLst>
              <a:ahLst/>
              <a:cxnLst/>
              <a:rect l="textAreaLeft" t="textAreaTop" r="textAreaRight" b="textAreaBottom"/>
              <a:pathLst>
                <a:path w="17204161" h="1738718">
                  <a:moveTo>
                    <a:pt x="0" y="0"/>
                  </a:moveTo>
                  <a:lnTo>
                    <a:pt x="17204161" y="0"/>
                  </a:lnTo>
                  <a:lnTo>
                    <a:pt x="17204161" y="1738718"/>
                  </a:lnTo>
                  <a:lnTo>
                    <a:pt x="0" y="1738718"/>
                  </a:lnTo>
                  <a:close/>
                </a:path>
              </a:pathLst>
            </a:custGeom>
            <a:blipFill rotWithShape="0">
              <a:blip r:embed="rId1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/>
              <a:endParaRPr lang="en-IN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72" name="TextBox 4"/>
            <p:cNvSpPr/>
            <p:nvPr/>
          </p:nvSpPr>
          <p:spPr>
            <a:xfrm>
              <a:off x="2676600" y="321840"/>
              <a:ext cx="12902400" cy="1324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algn="ctr" defTabSz="914400">
                <a:lnSpc>
                  <a:spcPts val="5403"/>
                </a:lnSpc>
              </a:pPr>
              <a:r>
                <a:rPr lang="en-US" sz="4500" b="0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TECHNICAL APPROACH</a:t>
              </a:r>
              <a:endParaRPr lang="en-IN" sz="45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273" name="Group 5"/>
          <p:cNvGrpSpPr/>
          <p:nvPr/>
        </p:nvGrpSpPr>
        <p:grpSpPr>
          <a:xfrm>
            <a:off x="617760" y="205920"/>
            <a:ext cx="1717560" cy="1371960"/>
            <a:chOff x="617760" y="205920"/>
            <a:chExt cx="1717560" cy="1371960"/>
          </a:xfrm>
        </p:grpSpPr>
        <p:sp>
          <p:nvSpPr>
            <p:cNvPr id="274" name="Freeform 6" descr="logo-dsc-light.png"/>
            <p:cNvSpPr/>
            <p:nvPr/>
          </p:nvSpPr>
          <p:spPr>
            <a:xfrm>
              <a:off x="617760" y="205920"/>
              <a:ext cx="1717560" cy="1371960"/>
            </a:xfrm>
            <a:custGeom>
              <a:avLst/>
              <a:gdLst>
                <a:gd name="textAreaLeft" fmla="*/ 0 w 1717560"/>
                <a:gd name="textAreaRight" fmla="*/ 1718280 w 1717560"/>
                <a:gd name="textAreaTop" fmla="*/ 0 h 1371960"/>
                <a:gd name="textAreaBottom" fmla="*/ 1372680 h 1371960"/>
              </a:gdLst>
              <a:ahLst/>
              <a:cxnLst/>
              <a:rect l="textAreaLeft" t="textAreaTop" r="textAreaRight" b="textAreaBottom"/>
              <a:pathLst>
                <a:path w="2291207" h="1830197">
                  <a:moveTo>
                    <a:pt x="0" y="0"/>
                  </a:moveTo>
                  <a:lnTo>
                    <a:pt x="2291207" y="0"/>
                  </a:lnTo>
                  <a:lnTo>
                    <a:pt x="2291207" y="1830197"/>
                  </a:lnTo>
                  <a:lnTo>
                    <a:pt x="0" y="1830197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2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/>
              <a:endParaRPr lang="en-IN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275" name="Group 7"/>
          <p:cNvGrpSpPr/>
          <p:nvPr/>
        </p:nvGrpSpPr>
        <p:grpSpPr>
          <a:xfrm>
            <a:off x="15373800" y="480600"/>
            <a:ext cx="2247840" cy="850320"/>
            <a:chOff x="15373800" y="480600"/>
            <a:chExt cx="2247840" cy="850320"/>
          </a:xfrm>
        </p:grpSpPr>
        <p:sp>
          <p:nvSpPr>
            <p:cNvPr id="276" name="Freeform 8" descr="logo-iiec-light.png"/>
            <p:cNvSpPr/>
            <p:nvPr/>
          </p:nvSpPr>
          <p:spPr>
            <a:xfrm>
              <a:off x="15373800" y="480600"/>
              <a:ext cx="2247840" cy="850320"/>
            </a:xfrm>
            <a:custGeom>
              <a:avLst/>
              <a:gdLst>
                <a:gd name="textAreaLeft" fmla="*/ 0 w 2247840"/>
                <a:gd name="textAreaRight" fmla="*/ 2248560 w 2247840"/>
                <a:gd name="textAreaTop" fmla="*/ 0 h 850320"/>
                <a:gd name="textAreaBottom" fmla="*/ 851040 h 850320"/>
              </a:gdLst>
              <a:ahLst/>
              <a:cxnLst/>
              <a:rect l="textAreaLeft" t="textAreaTop" r="textAreaRight" b="textAreaBottom"/>
              <a:pathLst>
                <a:path w="2998089" h="1134745">
                  <a:moveTo>
                    <a:pt x="0" y="0"/>
                  </a:moveTo>
                  <a:lnTo>
                    <a:pt x="2998089" y="0"/>
                  </a:lnTo>
                  <a:lnTo>
                    <a:pt x="2998089" y="1134745"/>
                  </a:lnTo>
                  <a:lnTo>
                    <a:pt x="0" y="1134745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3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/>
              <a:endParaRPr lang="en-IN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277" name="Group 9"/>
          <p:cNvGrpSpPr/>
          <p:nvPr/>
        </p:nvGrpSpPr>
        <p:grpSpPr>
          <a:xfrm>
            <a:off x="0" y="9540000"/>
            <a:ext cx="18300960" cy="754200"/>
            <a:chOff x="0" y="9540000"/>
            <a:chExt cx="18300960" cy="754200"/>
          </a:xfrm>
        </p:grpSpPr>
        <p:sp>
          <p:nvSpPr>
            <p:cNvPr id="278" name="Freeform 10"/>
            <p:cNvSpPr/>
            <p:nvPr/>
          </p:nvSpPr>
          <p:spPr>
            <a:xfrm>
              <a:off x="0" y="9540000"/>
              <a:ext cx="18300960" cy="754200"/>
            </a:xfrm>
            <a:custGeom>
              <a:avLst/>
              <a:gdLst>
                <a:gd name="textAreaLeft" fmla="*/ 0 w 18300960"/>
                <a:gd name="textAreaRight" fmla="*/ 18301680 w 18300960"/>
                <a:gd name="textAreaTop" fmla="*/ 0 h 754200"/>
                <a:gd name="textAreaBottom" fmla="*/ 754920 h 754200"/>
              </a:gdLst>
              <a:ahLst/>
              <a:cxnLst/>
              <a:rect l="textAreaLeft" t="textAreaTop" r="textAreaRight" b="textAreaBottom"/>
              <a:pathLst>
                <a:path w="24402414" h="1006602">
                  <a:moveTo>
                    <a:pt x="0" y="0"/>
                  </a:moveTo>
                  <a:lnTo>
                    <a:pt x="24402414" y="0"/>
                  </a:lnTo>
                  <a:lnTo>
                    <a:pt x="24402414" y="1006602"/>
                  </a:lnTo>
                  <a:lnTo>
                    <a:pt x="0" y="1006602"/>
                  </a:lnTo>
                  <a:close/>
                </a:path>
              </a:pathLst>
            </a:custGeom>
            <a:solidFill>
              <a:srgbClr val="19E3F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/>
              <a:endParaRPr lang="en-IN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279" name="Group 11"/>
          <p:cNvGrpSpPr/>
          <p:nvPr/>
        </p:nvGrpSpPr>
        <p:grpSpPr>
          <a:xfrm>
            <a:off x="0" y="9525960"/>
            <a:ext cx="18300960" cy="768600"/>
            <a:chOff x="0" y="9525960"/>
            <a:chExt cx="18300960" cy="768600"/>
          </a:xfrm>
        </p:grpSpPr>
        <p:sp>
          <p:nvSpPr>
            <p:cNvPr id="280" name="Freeform 12"/>
            <p:cNvSpPr/>
            <p:nvPr/>
          </p:nvSpPr>
          <p:spPr>
            <a:xfrm>
              <a:off x="0" y="9540000"/>
              <a:ext cx="18300960" cy="754200"/>
            </a:xfrm>
            <a:custGeom>
              <a:avLst/>
              <a:gdLst>
                <a:gd name="textAreaLeft" fmla="*/ 0 w 18300960"/>
                <a:gd name="textAreaRight" fmla="*/ 18301680 w 18300960"/>
                <a:gd name="textAreaTop" fmla="*/ 0 h 754200"/>
                <a:gd name="textAreaBottom" fmla="*/ 754920 h 754200"/>
              </a:gdLst>
              <a:ahLst/>
              <a:cxnLst/>
              <a:rect l="textAreaLeft" t="textAreaTop" r="textAreaRight" b="textAreaBottom"/>
              <a:pathLst>
                <a:path w="24402455" h="1006626">
                  <a:moveTo>
                    <a:pt x="0" y="0"/>
                  </a:moveTo>
                  <a:lnTo>
                    <a:pt x="24402455" y="0"/>
                  </a:lnTo>
                  <a:lnTo>
                    <a:pt x="24402455" y="1006626"/>
                  </a:lnTo>
                  <a:lnTo>
                    <a:pt x="0" y="1006626"/>
                  </a:lnTo>
                  <a:close/>
                </a:path>
              </a:pathLst>
            </a:custGeom>
            <a:blipFill rotWithShape="0">
              <a:blip r:embed="rId4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/>
              <a:endParaRPr lang="en-IN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81" name="TextBox 13"/>
            <p:cNvSpPr/>
            <p:nvPr/>
          </p:nvSpPr>
          <p:spPr>
            <a:xfrm>
              <a:off x="0" y="9525960"/>
              <a:ext cx="18300960" cy="768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algn="ctr" defTabSz="914400">
                <a:lnSpc>
                  <a:spcPts val="2160"/>
                </a:lnSpc>
              </a:pPr>
              <a:r>
                <a:rPr lang="en-US" sz="1800" b="1" u="none" strike="noStrike">
                  <a:solidFill>
                    <a:srgbClr val="000000"/>
                  </a:solidFill>
                  <a:effectLst/>
                  <a:uFillTx/>
                  <a:latin typeface="Arial Bold"/>
                  <a:ea typeface="Arial Bold"/>
                </a:rPr>
                <a:t>DATATHON 2026  ·  Round 1 Idea Submission – Template</a:t>
              </a:r>
              <a:endParaRPr lang="en-IN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282" name="Group 14"/>
          <p:cNvGrpSpPr/>
          <p:nvPr/>
        </p:nvGrpSpPr>
        <p:grpSpPr>
          <a:xfrm>
            <a:off x="16334640" y="9525960"/>
            <a:ext cx="1509120" cy="768600"/>
            <a:chOff x="16334640" y="9525960"/>
            <a:chExt cx="1509120" cy="768600"/>
          </a:xfrm>
        </p:grpSpPr>
        <p:sp>
          <p:nvSpPr>
            <p:cNvPr id="283" name="Freeform 15"/>
            <p:cNvSpPr/>
            <p:nvPr/>
          </p:nvSpPr>
          <p:spPr>
            <a:xfrm>
              <a:off x="16334640" y="9540000"/>
              <a:ext cx="1509120" cy="754200"/>
            </a:xfrm>
            <a:custGeom>
              <a:avLst/>
              <a:gdLst>
                <a:gd name="textAreaLeft" fmla="*/ 0 w 1509120"/>
                <a:gd name="textAreaRight" fmla="*/ 1509840 w 1509120"/>
                <a:gd name="textAreaTop" fmla="*/ 0 h 754200"/>
                <a:gd name="textAreaBottom" fmla="*/ 754920 h 754200"/>
              </a:gdLst>
              <a:ahLst/>
              <a:cxnLst/>
              <a:rect l="textAreaLeft" t="textAreaTop" r="textAreaRight" b="textAreaBottom"/>
              <a:pathLst>
                <a:path w="2013253" h="1006626">
                  <a:moveTo>
                    <a:pt x="0" y="0"/>
                  </a:moveTo>
                  <a:lnTo>
                    <a:pt x="2013253" y="0"/>
                  </a:lnTo>
                  <a:lnTo>
                    <a:pt x="2013253" y="1006626"/>
                  </a:lnTo>
                  <a:lnTo>
                    <a:pt x="0" y="1006626"/>
                  </a:lnTo>
                  <a:close/>
                </a:path>
              </a:pathLst>
            </a:custGeom>
            <a:blipFill rotWithShape="0">
              <a:blip r:embed="rId5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/>
              <a:endParaRPr lang="en-IN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84" name="TextBox 16"/>
            <p:cNvSpPr/>
            <p:nvPr/>
          </p:nvSpPr>
          <p:spPr>
            <a:xfrm>
              <a:off x="16334640" y="9525960"/>
              <a:ext cx="1509120" cy="768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algn="r" defTabSz="914400">
                <a:lnSpc>
                  <a:spcPts val="2341"/>
                </a:lnSpc>
              </a:pPr>
              <a:r>
                <a:rPr lang="en-US" sz="1950" b="1" u="none" strike="noStrike">
                  <a:solidFill>
                    <a:srgbClr val="000000"/>
                  </a:solidFill>
                  <a:effectLst/>
                  <a:uFillTx/>
                  <a:latin typeface="Arial Bold"/>
                  <a:ea typeface="Arial Bold"/>
                </a:rPr>
                <a:t>7</a:t>
              </a:r>
              <a:endParaRPr lang="en-IN" sz="19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85" name="Freeform 17"/>
          <p:cNvSpPr/>
          <p:nvPr/>
        </p:nvSpPr>
        <p:spPr>
          <a:xfrm>
            <a:off x="1476720" y="6338520"/>
            <a:ext cx="13083480" cy="2575080"/>
          </a:xfrm>
          <a:custGeom>
            <a:avLst/>
            <a:gdLst>
              <a:gd name="textAreaLeft" fmla="*/ 0 w 13083480"/>
              <a:gd name="textAreaRight" fmla="*/ 13084200 w 13083480"/>
              <a:gd name="textAreaTop" fmla="*/ 0 h 2575080"/>
              <a:gd name="textAreaBottom" fmla="*/ 2575800 h 2575080"/>
            </a:gdLst>
            <a:ahLst/>
            <a:cxnLst/>
            <a:rect l="textAreaLeft" t="textAreaTop" r="textAreaRight" b="textAreaBottom"/>
            <a:pathLst>
              <a:path w="13084230" h="2575958">
                <a:moveTo>
                  <a:pt x="0" y="0"/>
                </a:moveTo>
                <a:lnTo>
                  <a:pt x="13084230" y="0"/>
                </a:lnTo>
                <a:lnTo>
                  <a:pt x="13084230" y="2575958"/>
                </a:lnTo>
                <a:lnTo>
                  <a:pt x="0" y="2575958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6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6" name="Freeform 18"/>
          <p:cNvSpPr/>
          <p:nvPr/>
        </p:nvSpPr>
        <p:spPr>
          <a:xfrm>
            <a:off x="15647400" y="1436040"/>
            <a:ext cx="1701000" cy="7960680"/>
          </a:xfrm>
          <a:custGeom>
            <a:avLst/>
            <a:gdLst>
              <a:gd name="textAreaLeft" fmla="*/ 0 w 1701000"/>
              <a:gd name="textAreaRight" fmla="*/ 1701720 w 1701000"/>
              <a:gd name="textAreaTop" fmla="*/ 0 h 7960680"/>
              <a:gd name="textAreaBottom" fmla="*/ 7961400 h 7960680"/>
            </a:gdLst>
            <a:ahLst/>
            <a:cxnLst/>
            <a:rect l="textAreaLeft" t="textAreaTop" r="textAreaRight" b="textAreaBottom"/>
            <a:pathLst>
              <a:path w="1701693" h="7961490">
                <a:moveTo>
                  <a:pt x="0" y="0"/>
                </a:moveTo>
                <a:lnTo>
                  <a:pt x="1701693" y="0"/>
                </a:lnTo>
                <a:lnTo>
                  <a:pt x="1701693" y="7961491"/>
                </a:lnTo>
                <a:lnTo>
                  <a:pt x="0" y="7961491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7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7" name="Freeform 19"/>
          <p:cNvSpPr/>
          <p:nvPr/>
        </p:nvSpPr>
        <p:spPr>
          <a:xfrm>
            <a:off x="1476720" y="3042720"/>
            <a:ext cx="12563280" cy="3085200"/>
          </a:xfrm>
          <a:custGeom>
            <a:avLst/>
            <a:gdLst>
              <a:gd name="textAreaLeft" fmla="*/ 0 w 12563280"/>
              <a:gd name="textAreaRight" fmla="*/ 12564000 w 12563280"/>
              <a:gd name="textAreaTop" fmla="*/ 0 h 3085200"/>
              <a:gd name="textAreaBottom" fmla="*/ 3085920 h 3085200"/>
            </a:gdLst>
            <a:ahLst/>
            <a:cxnLst/>
            <a:rect l="textAreaLeft" t="textAreaTop" r="textAreaRight" b="textAreaBottom"/>
            <a:pathLst>
              <a:path w="12563993" h="3086031">
                <a:moveTo>
                  <a:pt x="0" y="0"/>
                </a:moveTo>
                <a:lnTo>
                  <a:pt x="12563992" y="0"/>
                </a:lnTo>
                <a:lnTo>
                  <a:pt x="12563992" y="3086031"/>
                </a:lnTo>
                <a:lnTo>
                  <a:pt x="0" y="3086031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8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Box 20"/>
          <p:cNvSpPr/>
          <p:nvPr/>
        </p:nvSpPr>
        <p:spPr>
          <a:xfrm>
            <a:off x="915120" y="2291760"/>
            <a:ext cx="16425720" cy="75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ts val="5043"/>
              </a:lnSpc>
            </a:pPr>
            <a:r>
              <a:rPr lang="en-US" sz="4200" b="1" u="none" strike="noStrike">
                <a:solidFill>
                  <a:srgbClr val="000000"/>
                </a:solidFill>
                <a:effectLst/>
                <a:uFillTx/>
                <a:latin typeface="Arial Bold"/>
                <a:ea typeface="Arial Bold"/>
              </a:rPr>
              <a:t>❖ </a:t>
            </a:r>
            <a:r>
              <a:rPr lang="en-US" sz="4200" b="1" u="sng" strike="noStrike">
                <a:solidFill>
                  <a:srgbClr val="000000"/>
                </a:solidFill>
                <a:effectLst/>
                <a:uFillTx/>
                <a:latin typeface="Arial Bold"/>
                <a:ea typeface="Arial Bold"/>
              </a:rPr>
              <a:t>Technical Approach</a:t>
            </a:r>
            <a:endParaRPr lang="en-IN" sz="4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9" name="Group 2"/>
          <p:cNvGrpSpPr/>
          <p:nvPr/>
        </p:nvGrpSpPr>
        <p:grpSpPr>
          <a:xfrm>
            <a:off x="2676600" y="321840"/>
            <a:ext cx="12902760" cy="1325160"/>
            <a:chOff x="2676600" y="321840"/>
            <a:chExt cx="12902760" cy="1325160"/>
          </a:xfrm>
        </p:grpSpPr>
        <p:sp>
          <p:nvSpPr>
            <p:cNvPr id="290" name="Freeform 3"/>
            <p:cNvSpPr/>
            <p:nvPr/>
          </p:nvSpPr>
          <p:spPr>
            <a:xfrm>
              <a:off x="2676600" y="343080"/>
              <a:ext cx="12902760" cy="1303560"/>
            </a:xfrm>
            <a:custGeom>
              <a:avLst/>
              <a:gdLst>
                <a:gd name="textAreaLeft" fmla="*/ 0 w 12902760"/>
                <a:gd name="textAreaRight" fmla="*/ 12903120 w 12902760"/>
                <a:gd name="textAreaTop" fmla="*/ 0 h 1303560"/>
                <a:gd name="textAreaBottom" fmla="*/ 1303920 h 1303560"/>
              </a:gdLst>
              <a:ahLst/>
              <a:cxnLst/>
              <a:rect l="textAreaLeft" t="textAreaTop" r="textAreaRight" b="textAreaBottom"/>
              <a:pathLst>
                <a:path w="17204161" h="1738718">
                  <a:moveTo>
                    <a:pt x="0" y="0"/>
                  </a:moveTo>
                  <a:lnTo>
                    <a:pt x="17204161" y="0"/>
                  </a:lnTo>
                  <a:lnTo>
                    <a:pt x="17204161" y="1738718"/>
                  </a:lnTo>
                  <a:lnTo>
                    <a:pt x="0" y="1738718"/>
                  </a:lnTo>
                  <a:close/>
                </a:path>
              </a:pathLst>
            </a:custGeom>
            <a:blipFill rotWithShape="0">
              <a:blip r:embed="rId1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/>
              <a:endParaRPr lang="en-IN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91" name="TextBox 4"/>
            <p:cNvSpPr/>
            <p:nvPr/>
          </p:nvSpPr>
          <p:spPr>
            <a:xfrm>
              <a:off x="2676600" y="321840"/>
              <a:ext cx="12902760" cy="1325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algn="ctr">
                <a:lnSpc>
                  <a:spcPts val="5403"/>
                </a:lnSpc>
              </a:pPr>
              <a:r>
                <a:rPr lang="en-US" sz="4500" b="0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FEASIBILITY &amp; IMPACT</a:t>
              </a:r>
              <a:endParaRPr lang="en-IN" sz="45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292" name="Group 5"/>
          <p:cNvGrpSpPr/>
          <p:nvPr/>
        </p:nvGrpSpPr>
        <p:grpSpPr>
          <a:xfrm>
            <a:off x="617760" y="205920"/>
            <a:ext cx="1717920" cy="1372320"/>
            <a:chOff x="617760" y="205920"/>
            <a:chExt cx="1717920" cy="1372320"/>
          </a:xfrm>
        </p:grpSpPr>
        <p:sp>
          <p:nvSpPr>
            <p:cNvPr id="293" name="Freeform 6" descr="logo-dsc-light.png"/>
            <p:cNvSpPr/>
            <p:nvPr/>
          </p:nvSpPr>
          <p:spPr>
            <a:xfrm>
              <a:off x="617760" y="205920"/>
              <a:ext cx="1717920" cy="1372320"/>
            </a:xfrm>
            <a:custGeom>
              <a:avLst/>
              <a:gdLst>
                <a:gd name="textAreaLeft" fmla="*/ 0 w 1717920"/>
                <a:gd name="textAreaRight" fmla="*/ 1718280 w 1717920"/>
                <a:gd name="textAreaTop" fmla="*/ 0 h 1372320"/>
                <a:gd name="textAreaBottom" fmla="*/ 1372680 h 1372320"/>
              </a:gdLst>
              <a:ahLst/>
              <a:cxnLst/>
              <a:rect l="textAreaLeft" t="textAreaTop" r="textAreaRight" b="textAreaBottom"/>
              <a:pathLst>
                <a:path w="2291207" h="1830197">
                  <a:moveTo>
                    <a:pt x="0" y="0"/>
                  </a:moveTo>
                  <a:lnTo>
                    <a:pt x="2291207" y="0"/>
                  </a:lnTo>
                  <a:lnTo>
                    <a:pt x="2291207" y="1830197"/>
                  </a:lnTo>
                  <a:lnTo>
                    <a:pt x="0" y="1830197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2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/>
              <a:endParaRPr lang="en-IN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294" name="Group 7"/>
          <p:cNvGrpSpPr/>
          <p:nvPr/>
        </p:nvGrpSpPr>
        <p:grpSpPr>
          <a:xfrm>
            <a:off x="15373800" y="480600"/>
            <a:ext cx="2248200" cy="850680"/>
            <a:chOff x="15373800" y="480600"/>
            <a:chExt cx="2248200" cy="850680"/>
          </a:xfrm>
        </p:grpSpPr>
        <p:sp>
          <p:nvSpPr>
            <p:cNvPr id="295" name="Freeform 8" descr="logo-iiec-light.png"/>
            <p:cNvSpPr/>
            <p:nvPr/>
          </p:nvSpPr>
          <p:spPr>
            <a:xfrm>
              <a:off x="15373800" y="480600"/>
              <a:ext cx="2248200" cy="850680"/>
            </a:xfrm>
            <a:custGeom>
              <a:avLst/>
              <a:gdLst>
                <a:gd name="textAreaLeft" fmla="*/ 0 w 2248200"/>
                <a:gd name="textAreaRight" fmla="*/ 2248560 w 2248200"/>
                <a:gd name="textAreaTop" fmla="*/ 0 h 850680"/>
                <a:gd name="textAreaBottom" fmla="*/ 851040 h 850680"/>
              </a:gdLst>
              <a:ahLst/>
              <a:cxnLst/>
              <a:rect l="textAreaLeft" t="textAreaTop" r="textAreaRight" b="textAreaBottom"/>
              <a:pathLst>
                <a:path w="2998089" h="1134745">
                  <a:moveTo>
                    <a:pt x="0" y="0"/>
                  </a:moveTo>
                  <a:lnTo>
                    <a:pt x="2998089" y="0"/>
                  </a:lnTo>
                  <a:lnTo>
                    <a:pt x="2998089" y="1134745"/>
                  </a:lnTo>
                  <a:lnTo>
                    <a:pt x="0" y="1134745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3"/>
              <a:srcRect/>
              <a:stretch>
                <a:fillRect t="-16694" r="-33338" b="-16694"/>
              </a:stretch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/>
              <a:endParaRPr lang="en-IN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296" name="Group 9"/>
          <p:cNvGrpSpPr/>
          <p:nvPr/>
        </p:nvGrpSpPr>
        <p:grpSpPr>
          <a:xfrm>
            <a:off x="0" y="9540000"/>
            <a:ext cx="18301320" cy="754560"/>
            <a:chOff x="0" y="9540000"/>
            <a:chExt cx="18301320" cy="754560"/>
          </a:xfrm>
        </p:grpSpPr>
        <p:sp>
          <p:nvSpPr>
            <p:cNvPr id="297" name="Freeform 10"/>
            <p:cNvSpPr/>
            <p:nvPr/>
          </p:nvSpPr>
          <p:spPr>
            <a:xfrm>
              <a:off x="0" y="9540000"/>
              <a:ext cx="18301320" cy="754560"/>
            </a:xfrm>
            <a:custGeom>
              <a:avLst/>
              <a:gdLst>
                <a:gd name="textAreaLeft" fmla="*/ 0 w 18301320"/>
                <a:gd name="textAreaRight" fmla="*/ 18301680 w 18301320"/>
                <a:gd name="textAreaTop" fmla="*/ 0 h 754560"/>
                <a:gd name="textAreaBottom" fmla="*/ 754920 h 754560"/>
              </a:gdLst>
              <a:ahLst/>
              <a:cxnLst/>
              <a:rect l="textAreaLeft" t="textAreaTop" r="textAreaRight" b="textAreaBottom"/>
              <a:pathLst>
                <a:path w="24402414" h="1006602">
                  <a:moveTo>
                    <a:pt x="0" y="0"/>
                  </a:moveTo>
                  <a:lnTo>
                    <a:pt x="24402414" y="0"/>
                  </a:lnTo>
                  <a:lnTo>
                    <a:pt x="24402414" y="1006602"/>
                  </a:lnTo>
                  <a:lnTo>
                    <a:pt x="0" y="1006602"/>
                  </a:lnTo>
                  <a:close/>
                </a:path>
              </a:pathLst>
            </a:custGeom>
            <a:solidFill>
              <a:srgbClr val="19E3F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/>
              <a:endParaRPr lang="en-IN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298" name="Group 11"/>
          <p:cNvGrpSpPr/>
          <p:nvPr/>
        </p:nvGrpSpPr>
        <p:grpSpPr>
          <a:xfrm>
            <a:off x="0" y="9525960"/>
            <a:ext cx="18301320" cy="768960"/>
            <a:chOff x="0" y="9525960"/>
            <a:chExt cx="18301320" cy="768960"/>
          </a:xfrm>
        </p:grpSpPr>
        <p:sp>
          <p:nvSpPr>
            <p:cNvPr id="299" name="Freeform 12"/>
            <p:cNvSpPr/>
            <p:nvPr/>
          </p:nvSpPr>
          <p:spPr>
            <a:xfrm>
              <a:off x="0" y="9540000"/>
              <a:ext cx="18301320" cy="754560"/>
            </a:xfrm>
            <a:custGeom>
              <a:avLst/>
              <a:gdLst>
                <a:gd name="textAreaLeft" fmla="*/ 0 w 18301320"/>
                <a:gd name="textAreaRight" fmla="*/ 18301680 w 18301320"/>
                <a:gd name="textAreaTop" fmla="*/ 0 h 754560"/>
                <a:gd name="textAreaBottom" fmla="*/ 754920 h 754560"/>
              </a:gdLst>
              <a:ahLst/>
              <a:cxnLst/>
              <a:rect l="textAreaLeft" t="textAreaTop" r="textAreaRight" b="textAreaBottom"/>
              <a:pathLst>
                <a:path w="24402455" h="1006626">
                  <a:moveTo>
                    <a:pt x="0" y="0"/>
                  </a:moveTo>
                  <a:lnTo>
                    <a:pt x="24402455" y="0"/>
                  </a:lnTo>
                  <a:lnTo>
                    <a:pt x="24402455" y="1006626"/>
                  </a:lnTo>
                  <a:lnTo>
                    <a:pt x="0" y="1006626"/>
                  </a:lnTo>
                  <a:close/>
                </a:path>
              </a:pathLst>
            </a:custGeom>
            <a:blipFill rotWithShape="0">
              <a:blip r:embed="rId4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/>
              <a:endParaRPr lang="en-IN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00" name="TextBox 13"/>
            <p:cNvSpPr/>
            <p:nvPr/>
          </p:nvSpPr>
          <p:spPr>
            <a:xfrm>
              <a:off x="0" y="9525960"/>
              <a:ext cx="18301320" cy="768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algn="ctr">
                <a:lnSpc>
                  <a:spcPts val="2160"/>
                </a:lnSpc>
              </a:pPr>
              <a:r>
                <a:rPr lang="en-US" sz="1800" b="1" u="none" strike="noStrike">
                  <a:solidFill>
                    <a:srgbClr val="000000"/>
                  </a:solidFill>
                  <a:effectLst/>
                  <a:uFillTx/>
                  <a:latin typeface="Arial Bold"/>
                  <a:ea typeface="Arial Bold"/>
                </a:rPr>
                <a:t>DATATHON 2026  ·  Round 1 Idea Submission – Template</a:t>
              </a:r>
              <a:endParaRPr lang="en-IN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301" name="Group 14"/>
          <p:cNvGrpSpPr/>
          <p:nvPr/>
        </p:nvGrpSpPr>
        <p:grpSpPr>
          <a:xfrm>
            <a:off x="16334640" y="9525960"/>
            <a:ext cx="1509480" cy="768960"/>
            <a:chOff x="16334640" y="9525960"/>
            <a:chExt cx="1509480" cy="768960"/>
          </a:xfrm>
        </p:grpSpPr>
        <p:sp>
          <p:nvSpPr>
            <p:cNvPr id="302" name="Freeform 15"/>
            <p:cNvSpPr/>
            <p:nvPr/>
          </p:nvSpPr>
          <p:spPr>
            <a:xfrm>
              <a:off x="16334640" y="9540000"/>
              <a:ext cx="1509480" cy="754560"/>
            </a:xfrm>
            <a:custGeom>
              <a:avLst/>
              <a:gdLst>
                <a:gd name="textAreaLeft" fmla="*/ 0 w 1509480"/>
                <a:gd name="textAreaRight" fmla="*/ 1509840 w 1509480"/>
                <a:gd name="textAreaTop" fmla="*/ 0 h 754560"/>
                <a:gd name="textAreaBottom" fmla="*/ 754920 h 754560"/>
              </a:gdLst>
              <a:ahLst/>
              <a:cxnLst/>
              <a:rect l="textAreaLeft" t="textAreaTop" r="textAreaRight" b="textAreaBottom"/>
              <a:pathLst>
                <a:path w="2013253" h="1006626">
                  <a:moveTo>
                    <a:pt x="0" y="0"/>
                  </a:moveTo>
                  <a:lnTo>
                    <a:pt x="2013253" y="0"/>
                  </a:lnTo>
                  <a:lnTo>
                    <a:pt x="2013253" y="1006626"/>
                  </a:lnTo>
                  <a:lnTo>
                    <a:pt x="0" y="1006626"/>
                  </a:lnTo>
                  <a:close/>
                </a:path>
              </a:pathLst>
            </a:custGeom>
            <a:blipFill rotWithShape="0">
              <a:blip r:embed="rId5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/>
              <a:endParaRPr lang="en-IN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03" name="TextBox 16"/>
            <p:cNvSpPr/>
            <p:nvPr/>
          </p:nvSpPr>
          <p:spPr>
            <a:xfrm>
              <a:off x="16334640" y="9525960"/>
              <a:ext cx="1509480" cy="768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algn="r">
                <a:lnSpc>
                  <a:spcPts val="2341"/>
                </a:lnSpc>
              </a:pPr>
              <a:r>
                <a:rPr lang="en-US" sz="1950" b="1" u="none" strike="noStrike">
                  <a:solidFill>
                    <a:srgbClr val="000000"/>
                  </a:solidFill>
                  <a:effectLst/>
                  <a:uFillTx/>
                  <a:latin typeface="Arial Bold"/>
                  <a:ea typeface="Arial Bold"/>
                </a:rPr>
                <a:t>8</a:t>
              </a:r>
              <a:endParaRPr lang="en-IN" sz="19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304" name="TextBox 17"/>
          <p:cNvSpPr/>
          <p:nvPr/>
        </p:nvSpPr>
        <p:spPr>
          <a:xfrm>
            <a:off x="915120" y="2291760"/>
            <a:ext cx="16426080" cy="75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ts val="5043"/>
              </a:lnSpc>
            </a:pPr>
            <a:r>
              <a:rPr lang="en-US" sz="4200" b="1" u="none" strike="noStrike">
                <a:solidFill>
                  <a:srgbClr val="000000"/>
                </a:solidFill>
                <a:effectLst/>
                <a:uFillTx/>
                <a:latin typeface="Arial Bold"/>
                <a:ea typeface="Arial Bold"/>
              </a:rPr>
              <a:t>❖ </a:t>
            </a:r>
            <a:r>
              <a:rPr lang="en-US" sz="4200" b="1" u="sng" strike="noStrike">
                <a:solidFill>
                  <a:srgbClr val="000000"/>
                </a:solidFill>
                <a:effectLst/>
                <a:uFillTx/>
                <a:latin typeface="Arial Bold"/>
                <a:ea typeface="Arial Bold"/>
              </a:rPr>
              <a:t>Feasibility &amp; Impact</a:t>
            </a:r>
            <a:endParaRPr lang="en-IN" sz="4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FeasHeader"/>
          <p:cNvSpPr/>
          <p:nvPr/>
        </p:nvSpPr>
        <p:spPr>
          <a:xfrm>
            <a:off x="617760" y="3150000"/>
            <a:ext cx="8326080" cy="559800"/>
          </a:xfrm>
          <a:prstGeom prst="rect">
            <a:avLst/>
          </a:prstGeom>
          <a:solidFill>
            <a:srgbClr val="19E3F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920" tIns="20160" rIns="140040" bIns="20160" anchor="ctr">
            <a:noAutofit/>
          </a:bodyPr>
          <a:p>
            <a:pPr>
              <a:lnSpc>
                <a:spcPct val="100000"/>
              </a:lnSpc>
            </a:pPr>
            <a:r>
              <a:rPr lang="en-US" sz="19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FEASIBILITY</a:t>
            </a:r>
            <a:endParaRPr lang="en-IN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ImpactHeader"/>
          <p:cNvSpPr/>
          <p:nvPr/>
        </p:nvSpPr>
        <p:spPr>
          <a:xfrm>
            <a:off x="9344160" y="3150000"/>
            <a:ext cx="8326080" cy="559800"/>
          </a:xfrm>
          <a:prstGeom prst="rect">
            <a:avLst/>
          </a:prstGeom>
          <a:solidFill>
            <a:srgbClr val="0B9FB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9920" tIns="20160" rIns="140040" bIns="20160" anchor="ctr">
            <a:noAutofit/>
          </a:bodyPr>
          <a:p>
            <a:pPr>
              <a:lnSpc>
                <a:spcPct val="100000"/>
              </a:lnSpc>
            </a:pPr>
            <a:r>
              <a:rPr lang="en-US" sz="19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IMPACT</a:t>
            </a:r>
            <a:endParaRPr lang="en-IN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7" name="FeasCard1"/>
          <p:cNvSpPr/>
          <p:nvPr/>
        </p:nvSpPr>
        <p:spPr>
          <a:xfrm>
            <a:off x="617760" y="3819960"/>
            <a:ext cx="8326080" cy="1639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99880" tIns="79920" rIns="240120" bIns="79920" anchor="ctr">
            <a:noAutofit/>
          </a:bodyPr>
          <a:p>
            <a:pPr>
              <a:lnSpc>
                <a:spcPct val="100000"/>
              </a:lnSpc>
            </a:pPr>
            <a:r>
              <a:rPr lang="en-US" sz="17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Built on data we already have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6000"/>
              </a:lnSpc>
              <a:spcBef>
                <a:spcPts val="499"/>
              </a:spcBef>
            </a:pPr>
            <a:r>
              <a:rPr lang="en-US" sz="1350" b="0" u="none" strike="noStrike">
                <a:solidFill>
                  <a:srgbClr val="333333"/>
                </a:solidFill>
                <a:effectLst/>
                <a:uFillTx/>
                <a:latin typeface="Arial"/>
              </a:rPr>
              <a:t>Uses the existing incident and complaint logs. No new field sensors or hardware to deploy.</a:t>
            </a:r>
            <a:endParaRPr lang="en-IN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FeasCard1Accent"/>
          <p:cNvSpPr/>
          <p:nvPr/>
        </p:nvSpPr>
        <p:spPr>
          <a:xfrm>
            <a:off x="617760" y="3819960"/>
            <a:ext cx="89640" cy="1639800"/>
          </a:xfrm>
          <a:prstGeom prst="rect">
            <a:avLst/>
          </a:prstGeom>
          <a:solidFill>
            <a:srgbClr val="19E3F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FeasCard2"/>
          <p:cNvSpPr/>
          <p:nvPr/>
        </p:nvSpPr>
        <p:spPr>
          <a:xfrm>
            <a:off x="617760" y="5659920"/>
            <a:ext cx="8326080" cy="1639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99880" tIns="79920" rIns="240120" bIns="79920" anchor="ctr">
            <a:noAutofit/>
          </a:bodyPr>
          <a:p>
            <a:pPr>
              <a:lnSpc>
                <a:spcPct val="100000"/>
              </a:lnSpc>
            </a:pPr>
            <a:r>
              <a:rPr lang="en-US" sz="17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Lightweight, standard stack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6000"/>
              </a:lnSpc>
              <a:spcBef>
                <a:spcPts val="499"/>
              </a:spcBef>
            </a:pPr>
            <a:r>
              <a:rPr lang="en-US" sz="1350" b="0" u="none" strike="noStrike">
                <a:solidFill>
                  <a:srgbClr val="333333"/>
                </a:solidFill>
                <a:effectLst/>
                <a:uFillTx/>
                <a:latin typeface="Arial"/>
              </a:rPr>
              <a:t>A scoring model plus a REST traffic API, served as one ranked dashboard. Deployable by a small team.</a:t>
            </a:r>
            <a:endParaRPr lang="en-IN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FeasCard2Accent"/>
          <p:cNvSpPr/>
          <p:nvPr/>
        </p:nvSpPr>
        <p:spPr>
          <a:xfrm>
            <a:off x="617760" y="5659920"/>
            <a:ext cx="89640" cy="1639800"/>
          </a:xfrm>
          <a:prstGeom prst="rect">
            <a:avLst/>
          </a:prstGeom>
          <a:solidFill>
            <a:srgbClr val="19E3F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FeasCard3"/>
          <p:cNvSpPr/>
          <p:nvPr/>
        </p:nvSpPr>
        <p:spPr>
          <a:xfrm>
            <a:off x="617760" y="7499880"/>
            <a:ext cx="8326080" cy="1639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99880" tIns="79920" rIns="240120" bIns="79920" anchor="ctr">
            <a:noAutofit/>
          </a:bodyPr>
          <a:p>
            <a:pPr>
              <a:lnSpc>
                <a:spcPct val="100000"/>
              </a:lnSpc>
            </a:pPr>
            <a:r>
              <a:rPr lang="en-US" sz="17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Key risk and mitigation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6000"/>
              </a:lnSpc>
              <a:spcBef>
                <a:spcPts val="499"/>
              </a:spcBef>
            </a:pPr>
            <a:r>
              <a:rPr lang="en-US" sz="1350" b="0" u="none" strike="noStrike">
                <a:solidFill>
                  <a:srgbClr val="333333"/>
                </a:solidFill>
                <a:effectLst/>
                <a:uFillTx/>
                <a:latin typeface="Arial"/>
              </a:rPr>
              <a:t>Synthetic and partial data plus traffic API quota limits. Calibrate score weights on real logs and cache traffic pulls.</a:t>
            </a:r>
            <a:endParaRPr lang="en-IN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FeasCard3Accent"/>
          <p:cNvSpPr/>
          <p:nvPr/>
        </p:nvSpPr>
        <p:spPr>
          <a:xfrm>
            <a:off x="617760" y="7499880"/>
            <a:ext cx="89640" cy="1639800"/>
          </a:xfrm>
          <a:prstGeom prst="rect">
            <a:avLst/>
          </a:prstGeom>
          <a:solidFill>
            <a:srgbClr val="19E3F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ImpactCard1"/>
          <p:cNvSpPr/>
          <p:nvPr/>
        </p:nvSpPr>
        <p:spPr>
          <a:xfrm>
            <a:off x="9344160" y="3819960"/>
            <a:ext cx="8326080" cy="1639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99880" tIns="79920" rIns="259920" bIns="79920" anchor="ctr">
            <a:noAutofit/>
          </a:bodyPr>
          <a:p>
            <a:pPr>
              <a:lnSpc>
                <a:spcPct val="100000"/>
              </a:lnSpc>
            </a:pPr>
            <a:r>
              <a:rPr lang="en-US" sz="2600" b="1" u="none" strike="noStrike">
                <a:solidFill>
                  <a:srgbClr val="0B9FB0"/>
                </a:solidFill>
                <a:effectLst/>
                <a:uFillTx/>
                <a:latin typeface="Arial"/>
              </a:rPr>
              <a:t>2,475  </a:t>
            </a:r>
            <a:r>
              <a:rPr lang="en-US" sz="17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injuries put first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6000"/>
              </a:lnSpc>
              <a:spcBef>
                <a:spcPts val="400"/>
              </a:spcBef>
            </a:pPr>
            <a:r>
              <a:rPr lang="en-US" sz="1350" b="0" u="none" strike="noStrike">
                <a:solidFill>
                  <a:srgbClr val="333333"/>
                </a:solidFill>
                <a:effectLst/>
                <a:uFillTx/>
                <a:latin typeface="Arial"/>
              </a:rPr>
              <a:t>Critical spots stop waiting like Low (both 32 hrs today).</a:t>
            </a:r>
            <a:endParaRPr lang="en-IN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ImpactCard1Accent"/>
          <p:cNvSpPr/>
          <p:nvPr/>
        </p:nvSpPr>
        <p:spPr>
          <a:xfrm>
            <a:off x="9344160" y="3819960"/>
            <a:ext cx="89640" cy="1639800"/>
          </a:xfrm>
          <a:prstGeom prst="rect">
            <a:avLst/>
          </a:prstGeom>
          <a:solidFill>
            <a:srgbClr val="0B9FB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5" name="ImpactCard2"/>
          <p:cNvSpPr/>
          <p:nvPr/>
        </p:nvSpPr>
        <p:spPr>
          <a:xfrm>
            <a:off x="9344160" y="5659920"/>
            <a:ext cx="8326080" cy="1639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99880" tIns="79920" rIns="259920" bIns="79920" anchor="ctr">
            <a:noAutofit/>
          </a:bodyPr>
          <a:p>
            <a:pPr>
              <a:lnSpc>
                <a:spcPct val="100000"/>
              </a:lnSpc>
            </a:pPr>
            <a:r>
              <a:rPr lang="en-US" sz="2600" b="1" u="none" strike="noStrike">
                <a:solidFill>
                  <a:srgbClr val="0B9FB0"/>
                </a:solidFill>
                <a:effectLst/>
                <a:uFillTx/>
                <a:latin typeface="Arial"/>
              </a:rPr>
              <a:t>43%  </a:t>
            </a:r>
            <a:r>
              <a:rPr lang="en-US" sz="17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backlog unified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6000"/>
              </a:lnSpc>
              <a:spcBef>
                <a:spcPts val="400"/>
              </a:spcBef>
            </a:pPr>
            <a:r>
              <a:rPr lang="en-US" sz="1350" b="0" u="none" strike="noStrike">
                <a:solidFill>
                  <a:srgbClr val="333333"/>
                </a:solidFill>
                <a:effectLst/>
                <a:uFillTx/>
                <a:latin typeface="Arial"/>
              </a:rPr>
              <a:t>Complaint backlog folded into one ranked worklist with incident logs.</a:t>
            </a:r>
            <a:endParaRPr lang="en-IN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ImpactCard2Accent"/>
          <p:cNvSpPr/>
          <p:nvPr/>
        </p:nvSpPr>
        <p:spPr>
          <a:xfrm>
            <a:off x="9344160" y="5659920"/>
            <a:ext cx="89640" cy="1639800"/>
          </a:xfrm>
          <a:prstGeom prst="rect">
            <a:avLst/>
          </a:prstGeom>
          <a:solidFill>
            <a:srgbClr val="0B9FB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7" name="ImpactCard3"/>
          <p:cNvSpPr/>
          <p:nvPr/>
        </p:nvSpPr>
        <p:spPr>
          <a:xfrm>
            <a:off x="9344160" y="7499880"/>
            <a:ext cx="8326080" cy="1639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99880" tIns="79920" rIns="259920" bIns="79920" anchor="ctr">
            <a:noAutofit/>
          </a:bodyPr>
          <a:p>
            <a:pPr>
              <a:lnSpc>
                <a:spcPct val="100000"/>
              </a:lnSpc>
            </a:pPr>
            <a:r>
              <a:rPr lang="en-US" sz="2600" b="1" u="none" strike="noStrike">
                <a:solidFill>
                  <a:srgbClr val="0B9FB0"/>
                </a:solidFill>
                <a:effectLst/>
                <a:uFillTx/>
                <a:latin typeface="Arial"/>
              </a:rPr>
              <a:t>1 list  </a:t>
            </a:r>
            <a:r>
              <a:rPr lang="en-US" sz="17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 limited crews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6000"/>
              </a:lnSpc>
              <a:spcBef>
                <a:spcPts val="400"/>
              </a:spcBef>
            </a:pPr>
            <a:r>
              <a:rPr lang="en-US" sz="1350" b="0" u="none" strike="noStrike">
                <a:solidFill>
                  <a:srgbClr val="333333"/>
                </a:solidFill>
                <a:effectLst/>
                <a:uFillTx/>
                <a:latin typeface="Arial"/>
              </a:rPr>
              <a:t>Fixed budget routes to the highest real risk, not the loudest complaint.</a:t>
            </a:r>
            <a:endParaRPr lang="en-IN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ImpactCard3Accent"/>
          <p:cNvSpPr/>
          <p:nvPr/>
        </p:nvSpPr>
        <p:spPr>
          <a:xfrm>
            <a:off x="9344160" y="7499880"/>
            <a:ext cx="89640" cy="1639800"/>
          </a:xfrm>
          <a:prstGeom prst="rect">
            <a:avLst/>
          </a:prstGeom>
          <a:solidFill>
            <a:srgbClr val="0B9FB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 pitchFamily="0" charset="1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LibreOffice/26.8.0.3$Linux_X86_64 LibreOffice_project/680$Build-3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DAHYJIPM0cc</dc:identifier>
  <dc:language>en-IN</dc:language>
  <cp:lastModifiedBy/>
  <dcterms:modified xsi:type="dcterms:W3CDTF">2026-10-16T12:52:22Z</dcterms:modified>
  <cp:revision>3</cp:revision>
  <dc:subject/>
  <dc:title>Team name: teamCookie() Team Members: Pranjal Kumar, Kathrina Elangbam Track Chosen: Smart City Problem Statement Title: Where Should We Fix First? Product Name: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