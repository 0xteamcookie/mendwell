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7559675" cy="10691813"/>
  <p:embeddedFontLst>
    <p:embeddedFont>
      <p:font typeface="Arial Bold"/>
      <p:regular r:id="rId11"/>
      <p:bold r:id="rId11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font" Target="fonts/Font_1_Arial_Bold_Regular.fntdata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380A8E-62AA-480C-80AC-0D2405CB5A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5009E1-025A-44ED-B22E-712FF06EBE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459FDA-BF79-4279-8C69-42F600D175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89FA8E-9E5C-4995-B0D5-2C499BF155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A3BBD4-0DA8-4E63-A49A-7BA07BEA72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ACD0A7-541D-44D4-9028-87ED883DBF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320546-8942-429A-8CE5-4643A1A1CF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57B385-E6D9-4DF4-80AE-EDC8D68815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9ED2CC-A9C0-4745-9957-608A3AEC9C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8169C3-A74C-47CF-86DE-77FC9C88CB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31A503-BCAB-4464-AC73-F4B0B05CA7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754920" y="343080"/>
            <a:ext cx="1975680" cy="1578240"/>
            <a:chOff x="754920" y="343080"/>
            <a:chExt cx="1975680" cy="1578240"/>
          </a:xfrm>
        </p:grpSpPr>
        <p:sp>
          <p:nvSpPr>
            <p:cNvPr id="62" name="Freeform 3" descr="logo-dsc-light.png"/>
            <p:cNvSpPr/>
            <p:nvPr/>
          </p:nvSpPr>
          <p:spPr>
            <a:xfrm>
              <a:off x="754920" y="343080"/>
              <a:ext cx="1975680" cy="1578240"/>
            </a:xfrm>
            <a:custGeom>
              <a:avLst/>
              <a:gdLst>
                <a:gd name="textAreaLeft" fmla="*/ 0 w 1975680"/>
                <a:gd name="textAreaRight" fmla="*/ 1976040 w 1975680"/>
                <a:gd name="textAreaTop" fmla="*/ 0 h 1578240"/>
                <a:gd name="textAreaBottom" fmla="*/ 1578600 h 1578240"/>
              </a:gdLst>
              <a:ahLst/>
              <a:cxnLst/>
              <a:rect l="textAreaLeft" t="textAreaTop" r="textAreaRight" b="textAreaBottom"/>
              <a:pathLst>
                <a:path w="2634869" h="2104771">
                  <a:moveTo>
                    <a:pt x="0" y="0"/>
                  </a:moveTo>
                  <a:lnTo>
                    <a:pt x="2634869" y="0"/>
                  </a:lnTo>
                  <a:lnTo>
                    <a:pt x="2634869" y="2104771"/>
                  </a:lnTo>
                  <a:lnTo>
                    <a:pt x="0" y="210477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Group 4"/>
          <p:cNvGrpSpPr/>
          <p:nvPr/>
        </p:nvGrpSpPr>
        <p:grpSpPr>
          <a:xfrm>
            <a:off x="6726240" y="549000"/>
            <a:ext cx="3749400" cy="1166400"/>
            <a:chOff x="6726240" y="549000"/>
            <a:chExt cx="3749400" cy="1166400"/>
          </a:xfrm>
        </p:grpSpPr>
        <p:sp>
          <p:nvSpPr>
            <p:cNvPr id="64" name="Freeform 5" descr="logo-vitap-light.png"/>
            <p:cNvSpPr/>
            <p:nvPr/>
          </p:nvSpPr>
          <p:spPr>
            <a:xfrm>
              <a:off x="6726240" y="549000"/>
              <a:ext cx="3749400" cy="1166400"/>
            </a:xfrm>
            <a:custGeom>
              <a:avLst/>
              <a:gdLst>
                <a:gd name="textAreaLeft" fmla="*/ 0 w 3749400"/>
                <a:gd name="textAreaRight" fmla="*/ 3749760 w 3749400"/>
                <a:gd name="textAreaTop" fmla="*/ 0 h 1166400"/>
                <a:gd name="textAreaBottom" fmla="*/ 1166760 h 1166400"/>
              </a:gdLst>
              <a:ahLst/>
              <a:cxnLst/>
              <a:rect l="textAreaLeft" t="textAreaTop" r="textAreaRight" b="textAreaBottom"/>
              <a:pathLst>
                <a:path w="4999609" h="1555750">
                  <a:moveTo>
                    <a:pt x="0" y="0"/>
                  </a:moveTo>
                  <a:lnTo>
                    <a:pt x="4999609" y="0"/>
                  </a:lnTo>
                  <a:lnTo>
                    <a:pt x="4999609" y="1555750"/>
                  </a:lnTo>
                  <a:lnTo>
                    <a:pt x="0" y="155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Group 6"/>
          <p:cNvGrpSpPr/>
          <p:nvPr/>
        </p:nvGrpSpPr>
        <p:grpSpPr>
          <a:xfrm>
            <a:off x="14756400" y="686160"/>
            <a:ext cx="2719440" cy="1029240"/>
            <a:chOff x="14756400" y="686160"/>
            <a:chExt cx="2719440" cy="1029240"/>
          </a:xfrm>
        </p:grpSpPr>
        <p:sp>
          <p:nvSpPr>
            <p:cNvPr id="66" name="Freeform 7" descr="logo-iiec-light.png"/>
            <p:cNvSpPr/>
            <p:nvPr/>
          </p:nvSpPr>
          <p:spPr>
            <a:xfrm>
              <a:off x="14756400" y="686160"/>
              <a:ext cx="2719440" cy="1029240"/>
            </a:xfrm>
            <a:custGeom>
              <a:avLst/>
              <a:gdLst>
                <a:gd name="textAreaLeft" fmla="*/ 0 w 2719440"/>
                <a:gd name="textAreaRight" fmla="*/ 2719800 w 2719440"/>
                <a:gd name="textAreaTop" fmla="*/ 0 h 1029240"/>
                <a:gd name="textAreaBottom" fmla="*/ 1029600 h 1029240"/>
              </a:gdLst>
              <a:ahLst/>
              <a:cxnLst/>
              <a:rect l="textAreaLeft" t="textAreaTop" r="textAreaRight" b="textAreaBottom"/>
              <a:pathLst>
                <a:path w="3626612" h="1372616">
                  <a:moveTo>
                    <a:pt x="0" y="0"/>
                  </a:moveTo>
                  <a:lnTo>
                    <a:pt x="3626612" y="0"/>
                  </a:lnTo>
                  <a:lnTo>
                    <a:pt x="3626612" y="1372616"/>
                  </a:lnTo>
                  <a:lnTo>
                    <a:pt x="0" y="13726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" name="Group 8"/>
          <p:cNvGrpSpPr/>
          <p:nvPr/>
        </p:nvGrpSpPr>
        <p:grpSpPr>
          <a:xfrm>
            <a:off x="686160" y="2127600"/>
            <a:ext cx="16924680" cy="54360"/>
            <a:chOff x="686160" y="2127600"/>
            <a:chExt cx="16924680" cy="54360"/>
          </a:xfrm>
        </p:grpSpPr>
        <p:sp>
          <p:nvSpPr>
            <p:cNvPr id="68" name="Freeform 9"/>
            <p:cNvSpPr/>
            <p:nvPr/>
          </p:nvSpPr>
          <p:spPr>
            <a:xfrm>
              <a:off x="686160" y="2127600"/>
              <a:ext cx="16924680" cy="54360"/>
            </a:xfrm>
            <a:custGeom>
              <a:avLst/>
              <a:gdLst>
                <a:gd name="textAreaLeft" fmla="*/ 0 w 16924680"/>
                <a:gd name="textAreaRight" fmla="*/ 16925040 w 16924680"/>
                <a:gd name="textAreaTop" fmla="*/ 0 h 54360"/>
                <a:gd name="textAreaBottom" fmla="*/ 54720 h 54360"/>
              </a:gdLst>
              <a:ahLst/>
              <a:cxnLst/>
              <a:rect l="textAreaLeft" t="textAreaTop" r="textAreaRight" b="textAreaBottom"/>
              <a:pathLst>
                <a:path w="22566757" h="73152">
                  <a:moveTo>
                    <a:pt x="0" y="0"/>
                  </a:moveTo>
                  <a:lnTo>
                    <a:pt x="22566757" y="0"/>
                  </a:lnTo>
                  <a:lnTo>
                    <a:pt x="22566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9E3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720" rIns="90000" bIns="972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" name="TextBox 10"/>
          <p:cNvSpPr/>
          <p:nvPr/>
        </p:nvSpPr>
        <p:spPr>
          <a:xfrm>
            <a:off x="777600" y="2331720"/>
            <a:ext cx="16700760" cy="20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1889"/>
              </a:lnSpc>
            </a:pPr>
            <a:r>
              <a:rPr lang="en-US" sz="9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</a:t>
            </a:r>
            <a:r>
              <a:rPr lang="en-US" sz="9900" b="0" u="none" strike="noStrike">
                <a:solidFill>
                  <a:srgbClr val="19E3F5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9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HON 2026</a:t>
            </a:r>
            <a:endParaRPr lang="en-IN" sz="9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777600" y="4203720"/>
            <a:ext cx="1670076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323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ROUND 1  ·  IDEA PPT + BASE PROTOTYPE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4484160" y="5370480"/>
            <a:ext cx="116319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652680" lvl="1" indent="-326160" defTabSz="914400">
              <a:lnSpc>
                <a:spcPts val="4323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Team name: teamCookie()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2680" lvl="1" indent="-326160" defTabSz="914400">
              <a:lnSpc>
                <a:spcPts val="4323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Team Members: Pranjal Kumar, Kathrina Elangbam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2680" lvl="1" indent="-326160" defTabSz="914400">
              <a:lnSpc>
                <a:spcPts val="4323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Track Chosen: Smart City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2320" lvl="1" indent="-326160" defTabSz="914400">
              <a:lnSpc>
                <a:spcPts val="4323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Problem Statement Title: Where Should We Fix First?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2680" lvl="1" indent="-326160" defTabSz="914400">
              <a:lnSpc>
                <a:spcPts val="4323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Product Name: Mendwell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2"/>
          <p:cNvGrpSpPr/>
          <p:nvPr/>
        </p:nvGrpSpPr>
        <p:grpSpPr>
          <a:xfrm>
            <a:off x="2676600" y="321840"/>
            <a:ext cx="12902760" cy="1325160"/>
            <a:chOff x="2676600" y="321840"/>
            <a:chExt cx="12902760" cy="1325160"/>
          </a:xfrm>
        </p:grpSpPr>
        <p:sp>
          <p:nvSpPr>
            <p:cNvPr id="73" name="Freeform 3"/>
            <p:cNvSpPr/>
            <p:nvPr/>
          </p:nvSpPr>
          <p:spPr>
            <a:xfrm>
              <a:off x="2676600" y="343080"/>
              <a:ext cx="12902760" cy="1303560"/>
            </a:xfrm>
            <a:custGeom>
              <a:avLst/>
              <a:gdLst>
                <a:gd name="textAreaLeft" fmla="*/ 0 w 12902760"/>
                <a:gd name="textAreaRight" fmla="*/ 12903120 w 12902760"/>
                <a:gd name="textAreaTop" fmla="*/ 0 h 1303560"/>
                <a:gd name="textAreaBottom" fmla="*/ 1303920 h 1303560"/>
              </a:gdLst>
              <a:ahLst/>
              <a:cxnLst/>
              <a:rect l="textAreaLeft" t="textAreaTop" r="textAreaRight" b="textAreaBottom"/>
              <a:pathLst>
                <a:path w="17204161" h="1738718">
                  <a:moveTo>
                    <a:pt x="0" y="0"/>
                  </a:moveTo>
                  <a:lnTo>
                    <a:pt x="17204161" y="0"/>
                  </a:lnTo>
                  <a:lnTo>
                    <a:pt x="17204161" y="1738718"/>
                  </a:lnTo>
                  <a:lnTo>
                    <a:pt x="0" y="1738718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4"/>
            <p:cNvSpPr/>
            <p:nvPr/>
          </p:nvSpPr>
          <p:spPr>
            <a:xfrm>
              <a:off x="2676600" y="321840"/>
              <a:ext cx="12902760" cy="1325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5403"/>
                </a:lnSpc>
              </a:pPr>
              <a:r>
                <a:rPr lang="en-US" sz="45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PROBLEM &amp; TARGET USER</a:t>
              </a:r>
              <a:endParaRPr lang="en-IN" sz="4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5" name="Group 5"/>
          <p:cNvGrpSpPr/>
          <p:nvPr/>
        </p:nvGrpSpPr>
        <p:grpSpPr>
          <a:xfrm>
            <a:off x="617760" y="205920"/>
            <a:ext cx="1717920" cy="1372320"/>
            <a:chOff x="617760" y="205920"/>
            <a:chExt cx="1717920" cy="1372320"/>
          </a:xfrm>
        </p:grpSpPr>
        <p:sp>
          <p:nvSpPr>
            <p:cNvPr id="76" name="Freeform 6" descr="logo-dsc-light.png"/>
            <p:cNvSpPr/>
            <p:nvPr/>
          </p:nvSpPr>
          <p:spPr>
            <a:xfrm>
              <a:off x="617760" y="205920"/>
              <a:ext cx="1717920" cy="1372320"/>
            </a:xfrm>
            <a:custGeom>
              <a:avLst/>
              <a:gdLst>
                <a:gd name="textAreaLeft" fmla="*/ 0 w 1717920"/>
                <a:gd name="textAreaRight" fmla="*/ 1718280 w 1717920"/>
                <a:gd name="textAreaTop" fmla="*/ 0 h 1372320"/>
                <a:gd name="textAreaBottom" fmla="*/ 1372680 h 1372320"/>
              </a:gdLst>
              <a:ahLst/>
              <a:cxnLst/>
              <a:rect l="textAreaLeft" t="textAreaTop" r="textAreaRight" b="textAreaBottom"/>
              <a:pathLst>
                <a:path w="2291207" h="1830197">
                  <a:moveTo>
                    <a:pt x="0" y="0"/>
                  </a:moveTo>
                  <a:lnTo>
                    <a:pt x="2291207" y="0"/>
                  </a:lnTo>
                  <a:lnTo>
                    <a:pt x="2291207" y="1830197"/>
                  </a:lnTo>
                  <a:lnTo>
                    <a:pt x="0" y="183019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7" name="Group 7"/>
          <p:cNvGrpSpPr/>
          <p:nvPr/>
        </p:nvGrpSpPr>
        <p:grpSpPr>
          <a:xfrm>
            <a:off x="15373800" y="480600"/>
            <a:ext cx="2248200" cy="850680"/>
            <a:chOff x="15373800" y="480600"/>
            <a:chExt cx="2248200" cy="850680"/>
          </a:xfrm>
        </p:grpSpPr>
        <p:sp>
          <p:nvSpPr>
            <p:cNvPr id="78" name="Freeform 8" descr="logo-iiec-light.png"/>
            <p:cNvSpPr/>
            <p:nvPr/>
          </p:nvSpPr>
          <p:spPr>
            <a:xfrm>
              <a:off x="15373800" y="480600"/>
              <a:ext cx="2248200" cy="850680"/>
            </a:xfrm>
            <a:custGeom>
              <a:avLst/>
              <a:gdLst>
                <a:gd name="textAreaLeft" fmla="*/ 0 w 2248200"/>
                <a:gd name="textAreaRight" fmla="*/ 2248560 w 2248200"/>
                <a:gd name="textAreaTop" fmla="*/ 0 h 850680"/>
                <a:gd name="textAreaBottom" fmla="*/ 851040 h 850680"/>
              </a:gdLst>
              <a:ahLst/>
              <a:cxnLst/>
              <a:rect l="textAreaLeft" t="textAreaTop" r="textAreaRight" b="textAreaBottom"/>
              <a:pathLst>
                <a:path w="2998089" h="1134745">
                  <a:moveTo>
                    <a:pt x="0" y="0"/>
                  </a:moveTo>
                  <a:lnTo>
                    <a:pt x="2998089" y="0"/>
                  </a:lnTo>
                  <a:lnTo>
                    <a:pt x="2998089" y="1134745"/>
                  </a:lnTo>
                  <a:lnTo>
                    <a:pt x="0" y="113474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9" name="Group 9"/>
          <p:cNvGrpSpPr/>
          <p:nvPr/>
        </p:nvGrpSpPr>
        <p:grpSpPr>
          <a:xfrm>
            <a:off x="0" y="9540000"/>
            <a:ext cx="18301320" cy="754560"/>
            <a:chOff x="0" y="9540000"/>
            <a:chExt cx="18301320" cy="754560"/>
          </a:xfrm>
        </p:grpSpPr>
        <p:sp>
          <p:nvSpPr>
            <p:cNvPr id="80" name="Freeform 10"/>
            <p:cNvSpPr/>
            <p:nvPr/>
          </p:nvSpPr>
          <p:spPr>
            <a:xfrm>
              <a:off x="0" y="9540000"/>
              <a:ext cx="18301320" cy="75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4402414" h="1006602">
                  <a:moveTo>
                    <a:pt x="0" y="0"/>
                  </a:moveTo>
                  <a:lnTo>
                    <a:pt x="24402414" y="0"/>
                  </a:lnTo>
                  <a:lnTo>
                    <a:pt x="2440241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19E3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" name="Group 11"/>
          <p:cNvGrpSpPr/>
          <p:nvPr/>
        </p:nvGrpSpPr>
        <p:grpSpPr>
          <a:xfrm>
            <a:off x="0" y="9525960"/>
            <a:ext cx="18301320" cy="768960"/>
            <a:chOff x="0" y="9525960"/>
            <a:chExt cx="18301320" cy="768960"/>
          </a:xfrm>
        </p:grpSpPr>
        <p:sp>
          <p:nvSpPr>
            <p:cNvPr id="82" name="Freeform 12"/>
            <p:cNvSpPr/>
            <p:nvPr/>
          </p:nvSpPr>
          <p:spPr>
            <a:xfrm>
              <a:off x="0" y="9540000"/>
              <a:ext cx="18301320" cy="75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4402455" h="1006626">
                  <a:moveTo>
                    <a:pt x="0" y="0"/>
                  </a:moveTo>
                  <a:lnTo>
                    <a:pt x="24402455" y="0"/>
                  </a:lnTo>
                  <a:lnTo>
                    <a:pt x="24402455" y="1006626"/>
                  </a:lnTo>
                  <a:lnTo>
                    <a:pt x="0" y="1006626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13"/>
            <p:cNvSpPr/>
            <p:nvPr/>
          </p:nvSpPr>
          <p:spPr>
            <a:xfrm>
              <a:off x="0" y="9525960"/>
              <a:ext cx="1830132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DATATHON 2026  ·  Round 1 Idea Submission – Template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" name="Group 14"/>
          <p:cNvGrpSpPr/>
          <p:nvPr/>
        </p:nvGrpSpPr>
        <p:grpSpPr>
          <a:xfrm>
            <a:off x="16334640" y="9525960"/>
            <a:ext cx="1509480" cy="768960"/>
            <a:chOff x="16334640" y="9525960"/>
            <a:chExt cx="1509480" cy="768960"/>
          </a:xfrm>
        </p:grpSpPr>
        <p:sp>
          <p:nvSpPr>
            <p:cNvPr id="85" name="Freeform 15"/>
            <p:cNvSpPr/>
            <p:nvPr/>
          </p:nvSpPr>
          <p:spPr>
            <a:xfrm>
              <a:off x="16334640" y="9540000"/>
              <a:ext cx="1509480" cy="754560"/>
            </a:xfrm>
            <a:custGeom>
              <a:avLst/>
              <a:gdLst>
                <a:gd name="textAreaLeft" fmla="*/ 0 w 1509480"/>
                <a:gd name="textAreaRight" fmla="*/ 1509840 w 150948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013253" h="1006626">
                  <a:moveTo>
                    <a:pt x="0" y="0"/>
                  </a:moveTo>
                  <a:lnTo>
                    <a:pt x="2013253" y="0"/>
                  </a:lnTo>
                  <a:lnTo>
                    <a:pt x="2013253" y="1006626"/>
                  </a:lnTo>
                  <a:lnTo>
                    <a:pt x="0" y="1006626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16"/>
            <p:cNvSpPr/>
            <p:nvPr/>
          </p:nvSpPr>
          <p:spPr>
            <a:xfrm>
              <a:off x="16334640" y="9525960"/>
              <a:ext cx="150948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341"/>
                </a:lnSpc>
              </a:pPr>
              <a:r>
                <a:rPr lang="en-US" sz="195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2</a:t>
              </a:r>
              <a:endParaRPr lang="en-IN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TextBox 17"/>
          <p:cNvSpPr/>
          <p:nvPr/>
        </p:nvSpPr>
        <p:spPr>
          <a:xfrm>
            <a:off x="915120" y="2291760"/>
            <a:ext cx="16426080" cy="7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043"/>
              </a:lnSpc>
            </a:pPr>
            <a:r>
              <a:rPr lang="en-US" sz="42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❖ </a:t>
            </a:r>
            <a:r>
              <a:rPr lang="en-US" sz="4200" b="1" u="sng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Problem &amp; Target User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ersonaCard"/>
          <p:cNvSpPr/>
          <p:nvPr/>
        </p:nvSpPr>
        <p:spPr>
          <a:xfrm>
            <a:off x="617760" y="3150000"/>
            <a:ext cx="17052120" cy="819720"/>
          </a:xfrm>
          <a:prstGeom prst="rect">
            <a:avLst/>
          </a:prstGeom>
          <a:solidFill>
            <a:srgbClr val="F2FDFF"/>
          </a:solidFill>
          <a:ln w="12700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040" rIns="180000" anchor="ctr">
            <a:noAutofit/>
          </a:bodyPr>
          <a:p>
            <a:pPr defTabSz="914400">
              <a:lnSpc>
                <a:spcPct val="110000"/>
              </a:lnSpc>
            </a:pPr>
            <a:r>
              <a:rPr lang="en-US" sz="1700" b="1" u="none" strike="noStrike">
                <a:solidFill>
                  <a:srgbClr val="0B9FB0"/>
                </a:solidFill>
                <a:effectLst/>
                <a:uFillTx/>
                <a:latin typeface="Arial"/>
              </a:rPr>
              <a:t>USER:  </a:t>
            </a: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Municipal roads officer deciding which reported issues get fixed first.   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en-US" sz="1700" b="1" u="none" strike="noStrike">
                <a:solidFill>
                  <a:srgbClr val="0B9FB0"/>
                </a:solidFill>
                <a:effectLst/>
                <a:uFillTx/>
                <a:latin typeface="Arial"/>
              </a:rPr>
              <a:t>PAIN : </a:t>
            </a: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Triage follows the loudest complaint, not real severity. No shared ranking across incident logs and complaints.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ersonaAccent"/>
          <p:cNvSpPr/>
          <p:nvPr/>
        </p:nvSpPr>
        <p:spPr>
          <a:xfrm>
            <a:off x="617760" y="3150000"/>
            <a:ext cx="89640" cy="819720"/>
          </a:xfrm>
          <a:prstGeom prst="rect">
            <a:avLst/>
          </a:prstGeom>
          <a:solidFill>
            <a:srgbClr val="19E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KPI1"/>
          <p:cNvSpPr/>
          <p:nvPr/>
        </p:nvSpPr>
        <p:spPr>
          <a:xfrm>
            <a:off x="617760" y="4079880"/>
            <a:ext cx="4097880" cy="144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0160" rIns="14004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rgbClr val="0B9FB0"/>
                </a:solidFill>
                <a:effectLst/>
                <a:uFillTx/>
                <a:latin typeface="Arial"/>
              </a:rPr>
              <a:t>32.2 hrs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Critical avg resolution (matches Low: 32.6 hrs)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KPI1Accent"/>
          <p:cNvSpPr/>
          <p:nvPr/>
        </p:nvSpPr>
        <p:spPr>
          <a:xfrm>
            <a:off x="617760" y="4079880"/>
            <a:ext cx="89640" cy="1449720"/>
          </a:xfrm>
          <a:prstGeom prst="rect">
            <a:avLst/>
          </a:prstGeom>
          <a:solidFill>
            <a:srgbClr val="19E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KPI2"/>
          <p:cNvSpPr/>
          <p:nvPr/>
        </p:nvSpPr>
        <p:spPr>
          <a:xfrm>
            <a:off x="4935960" y="4079880"/>
            <a:ext cx="4097880" cy="144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0160" rIns="14004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rgbClr val="0B9FB0"/>
                </a:solidFill>
                <a:effectLst/>
                <a:uFillTx/>
                <a:latin typeface="Arial"/>
              </a:rPr>
              <a:t>31%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Critical incidents still unresolved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KPI2Accent"/>
          <p:cNvSpPr/>
          <p:nvPr/>
        </p:nvSpPr>
        <p:spPr>
          <a:xfrm>
            <a:off x="4935960" y="4079880"/>
            <a:ext cx="89640" cy="1449720"/>
          </a:xfrm>
          <a:prstGeom prst="rect">
            <a:avLst/>
          </a:prstGeom>
          <a:solidFill>
            <a:srgbClr val="19E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KPI3"/>
          <p:cNvSpPr/>
          <p:nvPr/>
        </p:nvSpPr>
        <p:spPr>
          <a:xfrm>
            <a:off x="9254160" y="4079880"/>
            <a:ext cx="4097880" cy="144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0160" rIns="14004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rgbClr val="0B9FB0"/>
                </a:solidFill>
                <a:effectLst/>
                <a:uFillTx/>
                <a:latin typeface="Arial"/>
              </a:rPr>
              <a:t>2,475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Injuries recorded in dataset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KPI3Accent"/>
          <p:cNvSpPr/>
          <p:nvPr/>
        </p:nvSpPr>
        <p:spPr>
          <a:xfrm>
            <a:off x="9254160" y="4079880"/>
            <a:ext cx="89640" cy="1449720"/>
          </a:xfrm>
          <a:prstGeom prst="rect">
            <a:avLst/>
          </a:prstGeom>
          <a:solidFill>
            <a:srgbClr val="19E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KPI4"/>
          <p:cNvSpPr/>
          <p:nvPr/>
        </p:nvSpPr>
        <p:spPr>
          <a:xfrm>
            <a:off x="13572000" y="4079880"/>
            <a:ext cx="4097880" cy="144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0160" rIns="14004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rgbClr val="0B9FB0"/>
                </a:solidFill>
                <a:effectLst/>
                <a:uFillTx/>
                <a:latin typeface="Arial"/>
              </a:rPr>
              <a:t>1.9%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Of incidents in top 10 locations (risk is spread, not clustered)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KPI4Accent"/>
          <p:cNvSpPr/>
          <p:nvPr/>
        </p:nvSpPr>
        <p:spPr>
          <a:xfrm>
            <a:off x="13572000" y="4079880"/>
            <a:ext cx="89640" cy="1449720"/>
          </a:xfrm>
          <a:prstGeom prst="rect">
            <a:avLst/>
          </a:prstGeom>
          <a:solidFill>
            <a:srgbClr val="19E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ChartCardL"/>
          <p:cNvSpPr/>
          <p:nvPr/>
        </p:nvSpPr>
        <p:spPr>
          <a:xfrm>
            <a:off x="617760" y="5749920"/>
            <a:ext cx="8375760" cy="339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ChartLTitle"/>
          <p:cNvSpPr/>
          <p:nvPr/>
        </p:nvSpPr>
        <p:spPr>
          <a:xfrm>
            <a:off x="917640" y="5879880"/>
            <a:ext cx="77760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Resolution time by severity (hrs)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hartLAxis"/>
          <p:cNvSpPr/>
          <p:nvPr/>
        </p:nvSpPr>
        <p:spPr>
          <a:xfrm>
            <a:off x="1100160" y="8650080"/>
            <a:ext cx="7399800" cy="1548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9160" rIns="90000" bIns="-2916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BarLCritical"/>
          <p:cNvSpPr/>
          <p:nvPr/>
        </p:nvSpPr>
        <p:spPr>
          <a:xfrm>
            <a:off x="1599840" y="6724080"/>
            <a:ext cx="2049480" cy="1925640"/>
          </a:xfrm>
          <a:prstGeom prst="rect">
            <a:avLst/>
          </a:prstGeom>
          <a:solidFill>
            <a:srgbClr val="19E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BarLLow"/>
          <p:cNvSpPr/>
          <p:nvPr/>
        </p:nvSpPr>
        <p:spPr>
          <a:xfrm>
            <a:off x="5400000" y="6699960"/>
            <a:ext cx="2049480" cy="1949760"/>
          </a:xfrm>
          <a:prstGeom prst="rect">
            <a:avLst/>
          </a:prstGeom>
          <a:solidFill>
            <a:srgbClr val="9AE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BarLCriticalVal"/>
          <p:cNvSpPr/>
          <p:nvPr/>
        </p:nvSpPr>
        <p:spPr>
          <a:xfrm>
            <a:off x="1599840" y="6293880"/>
            <a:ext cx="204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32.2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BarLLowVal"/>
          <p:cNvSpPr/>
          <p:nvPr/>
        </p:nvSpPr>
        <p:spPr>
          <a:xfrm>
            <a:off x="5400000" y="6270120"/>
            <a:ext cx="204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32.6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BarLCriticalCat"/>
          <p:cNvSpPr/>
          <p:nvPr/>
        </p:nvSpPr>
        <p:spPr>
          <a:xfrm>
            <a:off x="1599840" y="8700120"/>
            <a:ext cx="20494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Critical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BarLLowCat"/>
          <p:cNvSpPr/>
          <p:nvPr/>
        </p:nvSpPr>
        <p:spPr>
          <a:xfrm>
            <a:off x="5400000" y="8700120"/>
            <a:ext cx="20494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ChartCardR"/>
          <p:cNvSpPr/>
          <p:nvPr/>
        </p:nvSpPr>
        <p:spPr>
          <a:xfrm>
            <a:off x="9294120" y="5749920"/>
            <a:ext cx="8375760" cy="339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ChartRTitle"/>
          <p:cNvSpPr/>
          <p:nvPr/>
        </p:nvSpPr>
        <p:spPr>
          <a:xfrm>
            <a:off x="9594000" y="5879880"/>
            <a:ext cx="77760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Unresolved backlog (%)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ChartRAxis"/>
          <p:cNvSpPr/>
          <p:nvPr/>
        </p:nvSpPr>
        <p:spPr>
          <a:xfrm>
            <a:off x="9900000" y="8650080"/>
            <a:ext cx="6999480" cy="1548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9160" rIns="90000" bIns="-2916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BarRIncidents"/>
          <p:cNvSpPr/>
          <p:nvPr/>
        </p:nvSpPr>
        <p:spPr>
          <a:xfrm>
            <a:off x="10194120" y="7349040"/>
            <a:ext cx="1499760" cy="1300680"/>
          </a:xfrm>
          <a:prstGeom prst="rect">
            <a:avLst/>
          </a:prstGeom>
          <a:solidFill>
            <a:srgbClr val="9AE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BarRCritical"/>
          <p:cNvSpPr/>
          <p:nvPr/>
        </p:nvSpPr>
        <p:spPr>
          <a:xfrm>
            <a:off x="12744000" y="7243920"/>
            <a:ext cx="1499760" cy="1405800"/>
          </a:xfrm>
          <a:prstGeom prst="rect">
            <a:avLst/>
          </a:prstGeom>
          <a:solidFill>
            <a:srgbClr val="19E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BarRComplaints"/>
          <p:cNvSpPr/>
          <p:nvPr/>
        </p:nvSpPr>
        <p:spPr>
          <a:xfrm>
            <a:off x="15293880" y="6699960"/>
            <a:ext cx="1499760" cy="1949760"/>
          </a:xfrm>
          <a:prstGeom prst="rect">
            <a:avLst/>
          </a:prstGeom>
          <a:solidFill>
            <a:srgbClr val="0B9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BarRIncidentsVal"/>
          <p:cNvSpPr/>
          <p:nvPr/>
        </p:nvSpPr>
        <p:spPr>
          <a:xfrm>
            <a:off x="10044000" y="6918840"/>
            <a:ext cx="17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28.7%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BarRCriticalVal"/>
          <p:cNvSpPr/>
          <p:nvPr/>
        </p:nvSpPr>
        <p:spPr>
          <a:xfrm>
            <a:off x="12593880" y="6814080"/>
            <a:ext cx="17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31%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BarRComplaintsVal"/>
          <p:cNvSpPr/>
          <p:nvPr/>
        </p:nvSpPr>
        <p:spPr>
          <a:xfrm>
            <a:off x="15144120" y="6270120"/>
            <a:ext cx="17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43%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BarRIncidentsCat"/>
          <p:cNvSpPr/>
          <p:nvPr/>
        </p:nvSpPr>
        <p:spPr>
          <a:xfrm>
            <a:off x="10044000" y="8700120"/>
            <a:ext cx="179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incidents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BarRCriticalCat"/>
          <p:cNvSpPr/>
          <p:nvPr/>
        </p:nvSpPr>
        <p:spPr>
          <a:xfrm>
            <a:off x="12593880" y="8700120"/>
            <a:ext cx="179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Critical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BarRComplaintsCat"/>
          <p:cNvSpPr/>
          <p:nvPr/>
        </p:nvSpPr>
        <p:spPr>
          <a:xfrm>
            <a:off x="15144120" y="8700120"/>
            <a:ext cx="179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Complaints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6716" y="343167"/>
            <a:ext cx="12903117" cy="1304039"/>
            <a:chOff x="0" y="0"/>
            <a:chExt cx="17204157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04161" cy="1738718"/>
            </a:xfrm>
            <a:custGeom>
              <a:avLst/>
              <a:gdLst/>
              <a:ahLst/>
              <a:cxnLst/>
              <a:rect r="r" b="b" t="t" l="l"/>
              <a:pathLst>
                <a:path h="1738718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799" r="0" b="-14279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7204157" cy="1767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4"/>
                </a:lnSpc>
              </a:pPr>
              <a:r>
                <a:rPr lang="en-US" sz="450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SOLUTION &amp; USP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706" y="205902"/>
            <a:ext cx="1718386" cy="1372676"/>
            <a:chOff x="0" y="0"/>
            <a:chExt cx="2291182" cy="1830235"/>
          </a:xfrm>
        </p:grpSpPr>
        <p:sp>
          <p:nvSpPr>
            <p:cNvPr name="Freeform 6" id="6" descr="logo-dsc-light.png"/>
            <p:cNvSpPr/>
            <p:nvPr/>
          </p:nvSpPr>
          <p:spPr>
            <a:xfrm flipH="false" flipV="false" rot="0">
              <a:off x="0" y="0"/>
              <a:ext cx="2291207" cy="1830197"/>
            </a:xfrm>
            <a:custGeom>
              <a:avLst/>
              <a:gdLst/>
              <a:ahLst/>
              <a:cxnLst/>
              <a:rect r="r" b="b" t="t" l="l"/>
              <a:pathLst>
                <a:path h="1830197" w="2291207">
                  <a:moveTo>
                    <a:pt x="0" y="0"/>
                  </a:moveTo>
                  <a:lnTo>
                    <a:pt x="2291207" y="0"/>
                  </a:lnTo>
                  <a:lnTo>
                    <a:pt x="2291207" y="1830197"/>
                  </a:lnTo>
                  <a:lnTo>
                    <a:pt x="0" y="1830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373931" y="480431"/>
            <a:ext cx="2248529" cy="851059"/>
            <a:chOff x="0" y="0"/>
            <a:chExt cx="2998038" cy="1134745"/>
          </a:xfrm>
        </p:grpSpPr>
        <p:sp>
          <p:nvSpPr>
            <p:cNvPr name="Freeform 8" id="8" descr="logo-iiec-light.png"/>
            <p:cNvSpPr/>
            <p:nvPr/>
          </p:nvSpPr>
          <p:spPr>
            <a:xfrm flipH="false" flipV="false" rot="0">
              <a:off x="0" y="0"/>
              <a:ext cx="2998089" cy="1134745"/>
            </a:xfrm>
            <a:custGeom>
              <a:avLst/>
              <a:gdLst/>
              <a:ahLst/>
              <a:cxnLst/>
              <a:rect r="r" b="b" t="t" l="l"/>
              <a:pathLst>
                <a:path h="1134745" w="2998089">
                  <a:moveTo>
                    <a:pt x="0" y="0"/>
                  </a:moveTo>
                  <a:lnTo>
                    <a:pt x="2998089" y="0"/>
                  </a:lnTo>
                  <a:lnTo>
                    <a:pt x="2998089" y="1134745"/>
                  </a:lnTo>
                  <a:lnTo>
                    <a:pt x="0" y="1134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540069"/>
            <a:ext cx="18301840" cy="754971"/>
            <a:chOff x="0" y="0"/>
            <a:chExt cx="24402453" cy="100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02414" cy="1006602"/>
            </a:xfrm>
            <a:custGeom>
              <a:avLst/>
              <a:gdLst/>
              <a:ahLst/>
              <a:cxnLst/>
              <a:rect r="r" b="b" t="t" l="l"/>
              <a:pathLst>
                <a:path h="100660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19E3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9540069"/>
            <a:ext cx="18301840" cy="754971"/>
            <a:chOff x="0" y="0"/>
            <a:chExt cx="24402453" cy="1006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02455" cy="1006626"/>
            </a:xfrm>
            <a:custGeom>
              <a:avLst/>
              <a:gdLst/>
              <a:ahLst/>
              <a:cxnLst/>
              <a:rect r="r" b="b" t="t" l="l"/>
              <a:pathLst>
                <a:path h="1006626" w="24402455">
                  <a:moveTo>
                    <a:pt x="0" y="0"/>
                  </a:moveTo>
                  <a:lnTo>
                    <a:pt x="24402455" y="0"/>
                  </a:lnTo>
                  <a:lnTo>
                    <a:pt x="2440245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352" r="0" b="-4223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4402453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DATATHON 2026  ·  Round 1 Idea Submission –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334804" y="9540069"/>
            <a:ext cx="1509941" cy="754971"/>
            <a:chOff x="0" y="0"/>
            <a:chExt cx="2013255" cy="10066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3253" cy="1006626"/>
            </a:xfrm>
            <a:custGeom>
              <a:avLst/>
              <a:gdLst/>
              <a:ahLst/>
              <a:cxnLst/>
              <a:rect r="r" b="b" t="t" l="l"/>
              <a:pathLst>
                <a:path h="1006626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013255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1"/>
                </a:lnSpc>
              </a:pPr>
              <a:r>
                <a:rPr lang="en-US" sz="1951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5048" y="2291582"/>
            <a:ext cx="16426453" cy="751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❖ </a:t>
            </a:r>
            <a:r>
              <a:rPr lang="en-US" b="true" sz="4203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</p:txBody>
      </p:sp>
      <p:sp>
        <p:nvSpPr>
          <p:cNvPr name="SolutionStrip" id="100"/>
          <p:cNvSpPr/>
          <p:nvPr/>
        </p:nvSpPr>
        <p:spPr>
          <a:xfrm>
            <a:off x="617706" y="3120000"/>
            <a:ext cx="17052588" cy="640000"/>
          </a:xfrm>
          <a:prstGeom prst="rect">
            <a:avLst/>
          </a:prstGeom>
          <a:solidFill>
            <a:srgbClr val="F2FDFF"/>
          </a:solidFill>
          <a:ln w="12700">
            <a:solidFill>
              <a:srgbClr val="D9D9D9"/>
            </a:solidFill>
          </a:ln>
        </p:spPr>
        <p:txBody>
          <a:bodyPr anchor="ctr" lIns="320000" rIns="180000" tIns="30000" bIns="30000"/>
          <a:lstStyle/>
          <a:p>
            <a:pPr algn="l">
              <a:lnSpc>
                <a:spcPct val="108000"/>
              </a:lnSpc>
            </a:pPr>
            <a:r>
              <a:rPr lang="en-US" sz="1700" b="true">
                <a:solidFill>
                  <a:srgbClr val="0B9FB0"/>
                </a:solidFill>
                <a:latin typeface="Arial"/>
                <a:cs typeface="Arial"/>
              </a:rPr>
              <a:t>SOLUTION  </a:t>
            </a:r>
            <a:r>
              <a:rPr lang="en-US" sz="1700">
                <a:solidFill>
                  <a:srgbClr val="000000"/>
                </a:solidFill>
                <a:latin typeface="Arial"/>
                <a:cs typeface="Arial"/>
              </a:rPr>
              <a:t>A severity-first triage engine that merges incident logs and public complaints into one ranked worklist, so crews fix the most dangerous spots first, not the loudest.</a:t>
            </a:r>
          </a:p>
        </p:txBody>
      </p:sp>
      <p:sp>
        <p:nvSpPr>
          <p:cNvPr name="SolutionStripAccent" id="101"/>
          <p:cNvSpPr/>
          <p:nvPr/>
        </p:nvSpPr>
        <p:spPr>
          <a:xfrm>
            <a:off x="617706" y="3120000"/>
            <a:ext cx="90000" cy="640000"/>
          </a:xfrm>
          <a:prstGeom prst="rect">
            <a:avLst/>
          </a:prstGeom>
          <a:solidFill>
            <a:srgbClr val="19E3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StepCard1" id="110"/>
          <p:cNvSpPr/>
          <p:nvPr/>
        </p:nvSpPr>
        <p:spPr>
          <a:xfrm>
            <a:off x="617706" y="3920000"/>
            <a:ext cx="4113147" cy="1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anchor="t" lIns="180000" rIns="150000" tIns="220000" bIns="60000"/>
          <a:lstStyle/>
          <a:p>
            <a:pPr algn="l"/>
            <a:r>
              <a:rPr lang="en-US" sz="1500" b="true">
                <a:solidFill>
                  <a:srgbClr val="0B9FB0"/>
                </a:solidFill>
                <a:latin typeface="Arial"/>
                <a:cs typeface="Arial"/>
              </a:rPr>
              <a:t>1 · Ingest</a:t>
            </a:r>
          </a:p>
          <a:p>
            <a:pPr algn="l">
              <a:lnSpc>
                <a:spcPct val="104000"/>
              </a:lnSpc>
              <a:spcBef>
                <a:spcPts val="600"/>
              </a:spcBef>
            </a:pPr>
            <a:r>
              <a:rPr lang="en-US" sz="1300">
                <a:solidFill>
                  <a:srgbClr val="333333"/>
                </a:solidFill>
                <a:latin typeface="Arial"/>
                <a:cs typeface="Arial"/>
              </a:rPr>
              <a:t>Incident logs and public complaints merged into one feed.</a:t>
            </a:r>
          </a:p>
        </p:txBody>
      </p:sp>
      <p:sp>
        <p:nvSpPr>
          <p:cNvPr name="StepBar1" id="114"/>
          <p:cNvSpPr/>
          <p:nvPr/>
        </p:nvSpPr>
        <p:spPr>
          <a:xfrm>
            <a:off x="617706" y="3920000"/>
            <a:ext cx="4113147" cy="80000"/>
          </a:xfrm>
          <a:prstGeom prst="rect">
            <a:avLst/>
          </a:prstGeom>
          <a:solidFill>
            <a:srgbClr val="19E3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StepCard2" id="111"/>
          <p:cNvSpPr/>
          <p:nvPr/>
        </p:nvSpPr>
        <p:spPr>
          <a:xfrm>
            <a:off x="4930853" y="3920000"/>
            <a:ext cx="4113147" cy="1340000"/>
          </a:xfrm>
          <a:prstGeom prst="rect">
            <a:avLst/>
          </a:prstGeom>
          <a:solidFill>
            <a:srgbClr val="F2FDFF"/>
          </a:solidFill>
          <a:ln w="12700">
            <a:solidFill>
              <a:srgbClr val="19E3F5"/>
            </a:solidFill>
          </a:ln>
        </p:spPr>
        <p:txBody>
          <a:bodyPr anchor="t" lIns="180000" rIns="150000" tIns="220000" bIns="60000"/>
          <a:lstStyle/>
          <a:p>
            <a:pPr algn="l"/>
            <a:r>
              <a:rPr lang="en-US" sz="1500" b="true">
                <a:solidFill>
                  <a:srgbClr val="0B9FB0"/>
                </a:solidFill>
                <a:latin typeface="Arial"/>
                <a:cs typeface="Arial"/>
              </a:rPr>
              <a:t>2 · Enrich</a:t>
            </a:r>
            <a:r>
              <a:rPr lang="en-US" sz="1100" b="true">
                <a:solidFill>
                  <a:srgbClr val="0B9FB0"/>
                </a:solidFill>
                <a:latin typeface="Arial"/>
                <a:cs typeface="Arial"/>
              </a:rPr>
              <a:t>   ◆ Traffic API</a:t>
            </a:r>
          </a:p>
          <a:p>
            <a:pPr algn="l">
              <a:lnSpc>
                <a:spcPct val="104000"/>
              </a:lnSpc>
              <a:spcBef>
                <a:spcPts val="600"/>
              </a:spcBef>
            </a:pPr>
            <a:r>
              <a:rPr lang="en-US" sz="1300">
                <a:solidFill>
                  <a:srgbClr val="333333"/>
                </a:solidFill>
                <a:latin typeface="Arial"/>
                <a:cs typeface="Arial"/>
              </a:rPr>
              <a:t>A live traffic API adds real-time road exposure to every location.</a:t>
            </a:r>
          </a:p>
        </p:txBody>
      </p:sp>
      <p:sp>
        <p:nvSpPr>
          <p:cNvPr name="StepBar2" id="115"/>
          <p:cNvSpPr/>
          <p:nvPr/>
        </p:nvSpPr>
        <p:spPr>
          <a:xfrm>
            <a:off x="4930853" y="3920000"/>
            <a:ext cx="4113147" cy="80000"/>
          </a:xfrm>
          <a:prstGeom prst="rect">
            <a:avLst/>
          </a:prstGeom>
          <a:solidFill>
            <a:srgbClr val="0B9F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StepCard3" id="112"/>
          <p:cNvSpPr/>
          <p:nvPr/>
        </p:nvSpPr>
        <p:spPr>
          <a:xfrm>
            <a:off x="9244000" y="3920000"/>
            <a:ext cx="4113147" cy="1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anchor="t" lIns="180000" rIns="150000" tIns="220000" bIns="60000"/>
          <a:lstStyle/>
          <a:p>
            <a:pPr algn="l"/>
            <a:r>
              <a:rPr lang="en-US" sz="1500" b="true">
                <a:solidFill>
                  <a:srgbClr val="0B9FB0"/>
                </a:solidFill>
                <a:latin typeface="Arial"/>
                <a:cs typeface="Arial"/>
              </a:rPr>
              <a:t>3 · Score</a:t>
            </a:r>
          </a:p>
          <a:p>
            <a:pPr algn="l">
              <a:lnSpc>
                <a:spcPct val="104000"/>
              </a:lnSpc>
              <a:spcBef>
                <a:spcPts val="600"/>
              </a:spcBef>
            </a:pPr>
            <a:r>
              <a:rPr lang="en-US" sz="1300">
                <a:solidFill>
                  <a:srgbClr val="333333"/>
                </a:solidFill>
                <a:latin typeface="Arial"/>
                <a:cs typeface="Arial"/>
              </a:rPr>
              <a:t>Severity, injuries and traffic combine into one priority score.</a:t>
            </a:r>
          </a:p>
        </p:txBody>
      </p:sp>
      <p:sp>
        <p:nvSpPr>
          <p:cNvPr name="StepBar3" id="116"/>
          <p:cNvSpPr/>
          <p:nvPr/>
        </p:nvSpPr>
        <p:spPr>
          <a:xfrm>
            <a:off x="9244000" y="3920000"/>
            <a:ext cx="4113147" cy="80000"/>
          </a:xfrm>
          <a:prstGeom prst="rect">
            <a:avLst/>
          </a:prstGeom>
          <a:solidFill>
            <a:srgbClr val="19E3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StepCard4" id="113"/>
          <p:cNvSpPr/>
          <p:nvPr/>
        </p:nvSpPr>
        <p:spPr>
          <a:xfrm>
            <a:off x="13557147" y="3920000"/>
            <a:ext cx="4113147" cy="1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anchor="t" lIns="180000" rIns="150000" tIns="220000" bIns="60000"/>
          <a:lstStyle/>
          <a:p>
            <a:pPr algn="l"/>
            <a:r>
              <a:rPr lang="en-US" sz="1500" b="true">
                <a:solidFill>
                  <a:srgbClr val="0B9FB0"/>
                </a:solidFill>
                <a:latin typeface="Arial"/>
                <a:cs typeface="Arial"/>
              </a:rPr>
              <a:t>4 · Act</a:t>
            </a:r>
          </a:p>
          <a:p>
            <a:pPr algn="l">
              <a:lnSpc>
                <a:spcPct val="104000"/>
              </a:lnSpc>
              <a:spcBef>
                <a:spcPts val="600"/>
              </a:spcBef>
            </a:pPr>
            <a:r>
              <a:rPr lang="en-US" sz="1300">
                <a:solidFill>
                  <a:srgbClr val="333333"/>
                </a:solidFill>
                <a:latin typeface="Arial"/>
                <a:cs typeface="Arial"/>
              </a:rPr>
              <a:t>A ranked worklist tells the officer exactly what to fix first.</a:t>
            </a:r>
          </a:p>
        </p:txBody>
      </p:sp>
      <p:sp>
        <p:nvSpPr>
          <p:cNvPr name="StepBar4" id="117"/>
          <p:cNvSpPr/>
          <p:nvPr/>
        </p:nvSpPr>
        <p:spPr>
          <a:xfrm>
            <a:off x="13557147" y="3920000"/>
            <a:ext cx="4113147" cy="80000"/>
          </a:xfrm>
          <a:prstGeom prst="rect">
            <a:avLst/>
          </a:prstGeom>
          <a:solidFill>
            <a:srgbClr val="19E3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Box 20" id="20"/>
          <p:cNvSpPr txBox="true"/>
          <p:nvPr/>
        </p:nvSpPr>
        <p:spPr>
          <a:xfrm rot="0">
            <a:off x="915048" y="5420000"/>
            <a:ext cx="1539711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❖ </a:t>
            </a:r>
            <a:r>
              <a:rPr lang="en-US" b="true" sz="4203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USP</a:t>
            </a:r>
          </a:p>
        </p:txBody>
      </p:sp>
      <p:sp>
        <p:nvSpPr>
          <p:cNvPr name="USPCardHead" id="120"/>
          <p:cNvSpPr/>
          <p:nvPr/>
        </p:nvSpPr>
        <p:spPr>
          <a:xfrm>
            <a:off x="617706" y="6230000"/>
            <a:ext cx="5497529" cy="2850000"/>
          </a:xfrm>
          <a:prstGeom prst="rect">
            <a:avLst/>
          </a:prstGeom>
          <a:solidFill>
            <a:srgbClr val="19E3F5"/>
          </a:solidFill>
          <a:ln>
            <a:noFill/>
          </a:ln>
        </p:spPr>
        <p:txBody>
          <a:bodyPr anchor="t" lIns="260000" rIns="240000" tIns="260000" bIns="200000"/>
          <a:lstStyle/>
          <a:p>
            <a:pPr algn="l"/>
            <a:r>
              <a:rPr lang="en-US" sz="1300" b="true">
                <a:solidFill>
                  <a:srgbClr val="063B42"/>
                </a:solidFill>
                <a:latin typeface="Arial"/>
                <a:cs typeface="Arial"/>
              </a:rPr>
              <a:t>★ KEY USP</a:t>
            </a:r>
          </a:p>
          <a:p>
            <a:pPr algn="l">
              <a:spcBef>
                <a:spcPts val="700"/>
              </a:spcBef>
            </a:pPr>
            <a:r>
              <a:rPr lang="en-US" sz="2600" b="true">
                <a:solidFill>
                  <a:srgbClr val="000000"/>
                </a:solidFill>
                <a:latin typeface="Arial"/>
                <a:cs typeface="Arial"/>
              </a:rPr>
              <a:t>Live Traffic API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500">
                <a:solidFill>
                  <a:srgbClr val="05343B"/>
                </a:solidFill>
                <a:latin typeface="Arial"/>
                <a:cs typeface="Arial"/>
              </a:rPr>
              <a:t>Priority is weighted by real-time traffic volume. A hazard on a busy arterial outranks the same hazard on a quiet lane, so we fix by real exposure, not by who complains most.</a:t>
            </a:r>
          </a:p>
        </p:txBody>
      </p:sp>
      <p:sp>
        <p:nvSpPr>
          <p:cNvPr name="USPCard2" id="121"/>
          <p:cNvSpPr/>
          <p:nvPr/>
        </p:nvSpPr>
        <p:spPr>
          <a:xfrm>
            <a:off x="6395235" y="6230000"/>
            <a:ext cx="5497529" cy="2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anchor="t" lIns="300000" rIns="240000" tIns="300000" bIns="200000"/>
          <a:lstStyle/>
          <a:p>
            <a:pPr algn="l"/>
            <a:r>
              <a:rPr lang="en-US" sz="2000" b="true">
                <a:solidFill>
                  <a:srgbClr val="000000"/>
                </a:solidFill>
                <a:latin typeface="Arial"/>
                <a:cs typeface="Arial"/>
              </a:rPr>
              <a:t>One Shared Ranking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500">
                <a:solidFill>
                  <a:srgbClr val="333333"/>
                </a:solidFill>
                <a:latin typeface="Arial"/>
                <a:cs typeface="Arial"/>
              </a:rPr>
              <a:t>Incident logs and complaints are scored on a single scale. No more triage by whoever shouts loudest, and no blind spots between the two systems.</a:t>
            </a:r>
          </a:p>
        </p:txBody>
      </p:sp>
      <p:sp>
        <p:nvSpPr>
          <p:cNvPr name="USPCard2Accent" id="123"/>
          <p:cNvSpPr/>
          <p:nvPr/>
        </p:nvSpPr>
        <p:spPr>
          <a:xfrm>
            <a:off x="6395235" y="6230000"/>
            <a:ext cx="90000" cy="2850000"/>
          </a:xfrm>
          <a:prstGeom prst="rect">
            <a:avLst/>
          </a:prstGeom>
          <a:solidFill>
            <a:srgbClr val="19E3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USPCard3" id="122"/>
          <p:cNvSpPr/>
          <p:nvPr/>
        </p:nvSpPr>
        <p:spPr>
          <a:xfrm>
            <a:off x="12172764" y="6230000"/>
            <a:ext cx="5497529" cy="2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anchor="t" lIns="300000" rIns="240000" tIns="300000" bIns="200000"/>
          <a:lstStyle/>
          <a:p>
            <a:pPr algn="l"/>
            <a:r>
              <a:rPr lang="en-US" sz="2000" b="true">
                <a:solidFill>
                  <a:srgbClr val="000000"/>
                </a:solidFill>
                <a:latin typeface="Arial"/>
                <a:cs typeface="Arial"/>
              </a:rPr>
              <a:t>Risk, Not Report Count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500">
                <a:solidFill>
                  <a:srgbClr val="333333"/>
                </a:solidFill>
                <a:latin typeface="Arial"/>
                <a:cs typeface="Arial"/>
              </a:rPr>
              <a:t>The obvious approach sorts by number of reports or date filed. We rank by real risk: severity x injuries x people exposed on the road.</a:t>
            </a:r>
          </a:p>
        </p:txBody>
      </p:sp>
      <p:sp>
        <p:nvSpPr>
          <p:cNvPr name="USPCard3Accent" id="124"/>
          <p:cNvSpPr/>
          <p:nvPr/>
        </p:nvSpPr>
        <p:spPr>
          <a:xfrm>
            <a:off x="12172764" y="6230000"/>
            <a:ext cx="90000" cy="2850000"/>
          </a:xfrm>
          <a:prstGeom prst="rect">
            <a:avLst/>
          </a:prstGeom>
          <a:solidFill>
            <a:srgbClr val="19E3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2"/>
          <p:cNvGrpSpPr/>
          <p:nvPr/>
        </p:nvGrpSpPr>
        <p:grpSpPr>
          <a:xfrm>
            <a:off x="2676600" y="321840"/>
            <a:ext cx="12902760" cy="1325160"/>
            <a:chOff x="2676600" y="321840"/>
            <a:chExt cx="12902760" cy="1325160"/>
          </a:xfrm>
        </p:grpSpPr>
        <p:sp>
          <p:nvSpPr>
            <p:cNvPr id="139" name="Freeform 3"/>
            <p:cNvSpPr/>
            <p:nvPr/>
          </p:nvSpPr>
          <p:spPr>
            <a:xfrm>
              <a:off x="2676600" y="343080"/>
              <a:ext cx="12902760" cy="1303560"/>
            </a:xfrm>
            <a:custGeom>
              <a:avLst/>
              <a:gdLst>
                <a:gd name="textAreaLeft" fmla="*/ 0 w 12902760"/>
                <a:gd name="textAreaRight" fmla="*/ 12903120 w 12902760"/>
                <a:gd name="textAreaTop" fmla="*/ 0 h 1303560"/>
                <a:gd name="textAreaBottom" fmla="*/ 1303920 h 1303560"/>
              </a:gdLst>
              <a:ahLst/>
              <a:cxnLst/>
              <a:rect l="textAreaLeft" t="textAreaTop" r="textAreaRight" b="textAreaBottom"/>
              <a:pathLst>
                <a:path w="17204161" h="1738718">
                  <a:moveTo>
                    <a:pt x="0" y="0"/>
                  </a:moveTo>
                  <a:lnTo>
                    <a:pt x="17204161" y="0"/>
                  </a:lnTo>
                  <a:lnTo>
                    <a:pt x="17204161" y="1738718"/>
                  </a:lnTo>
                  <a:lnTo>
                    <a:pt x="0" y="1738718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TextBox 4"/>
            <p:cNvSpPr/>
            <p:nvPr/>
          </p:nvSpPr>
          <p:spPr>
            <a:xfrm>
              <a:off x="2676600" y="321840"/>
              <a:ext cx="12902760" cy="1325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5403"/>
                </a:lnSpc>
              </a:pPr>
              <a:r>
                <a:rPr lang="en-US" sz="45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DATASET &amp; INSIGHTS</a:t>
              </a:r>
              <a:endParaRPr lang="en-IN" sz="4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" name="Group 5"/>
          <p:cNvGrpSpPr/>
          <p:nvPr/>
        </p:nvGrpSpPr>
        <p:grpSpPr>
          <a:xfrm>
            <a:off x="617760" y="205920"/>
            <a:ext cx="1717920" cy="1372320"/>
            <a:chOff x="617760" y="205920"/>
            <a:chExt cx="1717920" cy="1372320"/>
          </a:xfrm>
        </p:grpSpPr>
        <p:sp>
          <p:nvSpPr>
            <p:cNvPr id="142" name="Freeform 6" descr="logo-dsc-light.png"/>
            <p:cNvSpPr/>
            <p:nvPr/>
          </p:nvSpPr>
          <p:spPr>
            <a:xfrm>
              <a:off x="617760" y="205920"/>
              <a:ext cx="1717920" cy="1372320"/>
            </a:xfrm>
            <a:custGeom>
              <a:avLst/>
              <a:gdLst>
                <a:gd name="textAreaLeft" fmla="*/ 0 w 1717920"/>
                <a:gd name="textAreaRight" fmla="*/ 1718280 w 1717920"/>
                <a:gd name="textAreaTop" fmla="*/ 0 h 1372320"/>
                <a:gd name="textAreaBottom" fmla="*/ 1372680 h 1372320"/>
              </a:gdLst>
              <a:ahLst/>
              <a:cxnLst/>
              <a:rect l="textAreaLeft" t="textAreaTop" r="textAreaRight" b="textAreaBottom"/>
              <a:pathLst>
                <a:path w="2291207" h="1830197">
                  <a:moveTo>
                    <a:pt x="0" y="0"/>
                  </a:moveTo>
                  <a:lnTo>
                    <a:pt x="2291207" y="0"/>
                  </a:lnTo>
                  <a:lnTo>
                    <a:pt x="2291207" y="1830197"/>
                  </a:lnTo>
                  <a:lnTo>
                    <a:pt x="0" y="183019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3" name="Group 7"/>
          <p:cNvGrpSpPr/>
          <p:nvPr/>
        </p:nvGrpSpPr>
        <p:grpSpPr>
          <a:xfrm>
            <a:off x="15373800" y="480600"/>
            <a:ext cx="2248200" cy="850680"/>
            <a:chOff x="15373800" y="480600"/>
            <a:chExt cx="2248200" cy="850680"/>
          </a:xfrm>
        </p:grpSpPr>
        <p:sp>
          <p:nvSpPr>
            <p:cNvPr id="144" name="Freeform 8" descr="logo-iiec-light.png"/>
            <p:cNvSpPr/>
            <p:nvPr/>
          </p:nvSpPr>
          <p:spPr>
            <a:xfrm>
              <a:off x="15373800" y="480600"/>
              <a:ext cx="2248200" cy="850680"/>
            </a:xfrm>
            <a:custGeom>
              <a:avLst/>
              <a:gdLst>
                <a:gd name="textAreaLeft" fmla="*/ 0 w 2248200"/>
                <a:gd name="textAreaRight" fmla="*/ 2248560 w 2248200"/>
                <a:gd name="textAreaTop" fmla="*/ 0 h 850680"/>
                <a:gd name="textAreaBottom" fmla="*/ 851040 h 850680"/>
              </a:gdLst>
              <a:ahLst/>
              <a:cxnLst/>
              <a:rect l="textAreaLeft" t="textAreaTop" r="textAreaRight" b="textAreaBottom"/>
              <a:pathLst>
                <a:path w="2998089" h="1134745">
                  <a:moveTo>
                    <a:pt x="0" y="0"/>
                  </a:moveTo>
                  <a:lnTo>
                    <a:pt x="2998089" y="0"/>
                  </a:lnTo>
                  <a:lnTo>
                    <a:pt x="2998089" y="1134745"/>
                  </a:lnTo>
                  <a:lnTo>
                    <a:pt x="0" y="113474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5" name="Group 9"/>
          <p:cNvGrpSpPr/>
          <p:nvPr/>
        </p:nvGrpSpPr>
        <p:grpSpPr>
          <a:xfrm>
            <a:off x="0" y="9540000"/>
            <a:ext cx="18301320" cy="754560"/>
            <a:chOff x="0" y="9540000"/>
            <a:chExt cx="18301320" cy="754560"/>
          </a:xfrm>
        </p:grpSpPr>
        <p:sp>
          <p:nvSpPr>
            <p:cNvPr id="146" name="Freeform 10"/>
            <p:cNvSpPr/>
            <p:nvPr/>
          </p:nvSpPr>
          <p:spPr>
            <a:xfrm>
              <a:off x="0" y="9540000"/>
              <a:ext cx="18301320" cy="75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4402414" h="1006602">
                  <a:moveTo>
                    <a:pt x="0" y="0"/>
                  </a:moveTo>
                  <a:lnTo>
                    <a:pt x="24402414" y="0"/>
                  </a:lnTo>
                  <a:lnTo>
                    <a:pt x="2440241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19E3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" name="Group 11"/>
          <p:cNvGrpSpPr/>
          <p:nvPr/>
        </p:nvGrpSpPr>
        <p:grpSpPr>
          <a:xfrm>
            <a:off x="0" y="9525960"/>
            <a:ext cx="18301320" cy="768960"/>
            <a:chOff x="0" y="9525960"/>
            <a:chExt cx="18301320" cy="768960"/>
          </a:xfrm>
        </p:grpSpPr>
        <p:sp>
          <p:nvSpPr>
            <p:cNvPr id="148" name="Freeform 12"/>
            <p:cNvSpPr/>
            <p:nvPr/>
          </p:nvSpPr>
          <p:spPr>
            <a:xfrm>
              <a:off x="0" y="9540000"/>
              <a:ext cx="18301320" cy="75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4402455" h="1006626">
                  <a:moveTo>
                    <a:pt x="0" y="0"/>
                  </a:moveTo>
                  <a:lnTo>
                    <a:pt x="24402455" y="0"/>
                  </a:lnTo>
                  <a:lnTo>
                    <a:pt x="24402455" y="1006626"/>
                  </a:lnTo>
                  <a:lnTo>
                    <a:pt x="0" y="1006626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TextBox 13"/>
            <p:cNvSpPr/>
            <p:nvPr/>
          </p:nvSpPr>
          <p:spPr>
            <a:xfrm>
              <a:off x="0" y="9525960"/>
              <a:ext cx="1830132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DATATHON 2026  ·  Round 1 Idea Submission – Template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0" name="Group 14"/>
          <p:cNvGrpSpPr/>
          <p:nvPr/>
        </p:nvGrpSpPr>
        <p:grpSpPr>
          <a:xfrm>
            <a:off x="16334640" y="9525960"/>
            <a:ext cx="1509480" cy="768960"/>
            <a:chOff x="16334640" y="9525960"/>
            <a:chExt cx="1509480" cy="768960"/>
          </a:xfrm>
        </p:grpSpPr>
        <p:sp>
          <p:nvSpPr>
            <p:cNvPr id="151" name="Freeform 15"/>
            <p:cNvSpPr/>
            <p:nvPr/>
          </p:nvSpPr>
          <p:spPr>
            <a:xfrm>
              <a:off x="16334640" y="9540000"/>
              <a:ext cx="1509480" cy="754560"/>
            </a:xfrm>
            <a:custGeom>
              <a:avLst/>
              <a:gdLst>
                <a:gd name="textAreaLeft" fmla="*/ 0 w 1509480"/>
                <a:gd name="textAreaRight" fmla="*/ 1509840 w 150948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013253" h="1006626">
                  <a:moveTo>
                    <a:pt x="0" y="0"/>
                  </a:moveTo>
                  <a:lnTo>
                    <a:pt x="2013253" y="0"/>
                  </a:lnTo>
                  <a:lnTo>
                    <a:pt x="2013253" y="1006626"/>
                  </a:lnTo>
                  <a:lnTo>
                    <a:pt x="0" y="1006626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TextBox 16"/>
            <p:cNvSpPr/>
            <p:nvPr/>
          </p:nvSpPr>
          <p:spPr>
            <a:xfrm>
              <a:off x="16334640" y="9525960"/>
              <a:ext cx="150948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341"/>
                </a:lnSpc>
              </a:pPr>
              <a:r>
                <a:rPr lang="en-US" sz="195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4</a:t>
              </a:r>
              <a:endParaRPr lang="en-IN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3" name="TextBox 17"/>
          <p:cNvSpPr/>
          <p:nvPr/>
        </p:nvSpPr>
        <p:spPr>
          <a:xfrm>
            <a:off x="915120" y="2291760"/>
            <a:ext cx="16426080" cy="7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043"/>
              </a:lnSpc>
            </a:pPr>
            <a:r>
              <a:rPr lang="en-US" sz="42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❖ </a:t>
            </a:r>
            <a:r>
              <a:rPr lang="en-US" sz="4200" b="1" u="sng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Dataset Usage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8"/>
          <p:cNvSpPr/>
          <p:nvPr/>
        </p:nvSpPr>
        <p:spPr>
          <a:xfrm>
            <a:off x="915120" y="3311640"/>
            <a:ext cx="16426080" cy="26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652680" lvl="1" indent="-326160" defTabSz="914400">
              <a:lnSpc>
                <a:spcPts val="4323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Tables used and how they are joined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2680" lvl="1" indent="-326160" defTabSz="914400">
              <a:lnSpc>
                <a:spcPts val="4323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Cleaning done and assumptions made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2680" lvl="1" indent="-326160" defTabSz="914400">
              <a:lnSpc>
                <a:spcPts val="4323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Key insights found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oup 2"/>
          <p:cNvGrpSpPr/>
          <p:nvPr/>
        </p:nvGrpSpPr>
        <p:grpSpPr>
          <a:xfrm>
            <a:off x="2676600" y="321840"/>
            <a:ext cx="12902760" cy="1325160"/>
            <a:chOff x="2676600" y="321840"/>
            <a:chExt cx="12902760" cy="1325160"/>
          </a:xfrm>
        </p:grpSpPr>
        <p:sp>
          <p:nvSpPr>
            <p:cNvPr id="156" name="Freeform 3"/>
            <p:cNvSpPr/>
            <p:nvPr/>
          </p:nvSpPr>
          <p:spPr>
            <a:xfrm>
              <a:off x="2676600" y="343080"/>
              <a:ext cx="12902760" cy="1303560"/>
            </a:xfrm>
            <a:custGeom>
              <a:avLst/>
              <a:gdLst>
                <a:gd name="textAreaLeft" fmla="*/ 0 w 12902760"/>
                <a:gd name="textAreaRight" fmla="*/ 12903120 w 12902760"/>
                <a:gd name="textAreaTop" fmla="*/ 0 h 1303560"/>
                <a:gd name="textAreaBottom" fmla="*/ 1303920 h 1303560"/>
              </a:gdLst>
              <a:ahLst/>
              <a:cxnLst/>
              <a:rect l="textAreaLeft" t="textAreaTop" r="textAreaRight" b="textAreaBottom"/>
              <a:pathLst>
                <a:path w="17204161" h="1738718">
                  <a:moveTo>
                    <a:pt x="0" y="0"/>
                  </a:moveTo>
                  <a:lnTo>
                    <a:pt x="17204161" y="0"/>
                  </a:lnTo>
                  <a:lnTo>
                    <a:pt x="17204161" y="1738718"/>
                  </a:lnTo>
                  <a:lnTo>
                    <a:pt x="0" y="1738718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TextBox 4"/>
            <p:cNvSpPr/>
            <p:nvPr/>
          </p:nvSpPr>
          <p:spPr>
            <a:xfrm>
              <a:off x="2676600" y="321840"/>
              <a:ext cx="12902760" cy="1325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5403"/>
                </a:lnSpc>
              </a:pPr>
              <a:r>
                <a:rPr lang="en-US" sz="45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ML MODEL</a:t>
              </a:r>
              <a:endParaRPr lang="en-IN" sz="4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8" name="Group 5"/>
          <p:cNvGrpSpPr/>
          <p:nvPr/>
        </p:nvGrpSpPr>
        <p:grpSpPr>
          <a:xfrm>
            <a:off x="617760" y="205920"/>
            <a:ext cx="1717920" cy="1372320"/>
            <a:chOff x="617760" y="205920"/>
            <a:chExt cx="1717920" cy="1372320"/>
          </a:xfrm>
        </p:grpSpPr>
        <p:sp>
          <p:nvSpPr>
            <p:cNvPr id="159" name="Freeform 6" descr="logo-dsc-light.png"/>
            <p:cNvSpPr/>
            <p:nvPr/>
          </p:nvSpPr>
          <p:spPr>
            <a:xfrm>
              <a:off x="617760" y="205920"/>
              <a:ext cx="1717920" cy="1372320"/>
            </a:xfrm>
            <a:custGeom>
              <a:avLst/>
              <a:gdLst>
                <a:gd name="textAreaLeft" fmla="*/ 0 w 1717920"/>
                <a:gd name="textAreaRight" fmla="*/ 1718280 w 1717920"/>
                <a:gd name="textAreaTop" fmla="*/ 0 h 1372320"/>
                <a:gd name="textAreaBottom" fmla="*/ 1372680 h 1372320"/>
              </a:gdLst>
              <a:ahLst/>
              <a:cxnLst/>
              <a:rect l="textAreaLeft" t="textAreaTop" r="textAreaRight" b="textAreaBottom"/>
              <a:pathLst>
                <a:path w="2291207" h="1830197">
                  <a:moveTo>
                    <a:pt x="0" y="0"/>
                  </a:moveTo>
                  <a:lnTo>
                    <a:pt x="2291207" y="0"/>
                  </a:lnTo>
                  <a:lnTo>
                    <a:pt x="2291207" y="1830197"/>
                  </a:lnTo>
                  <a:lnTo>
                    <a:pt x="0" y="183019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0" name="Group 7"/>
          <p:cNvGrpSpPr/>
          <p:nvPr/>
        </p:nvGrpSpPr>
        <p:grpSpPr>
          <a:xfrm>
            <a:off x="15373800" y="480600"/>
            <a:ext cx="2248200" cy="850680"/>
            <a:chOff x="15373800" y="480600"/>
            <a:chExt cx="2248200" cy="850680"/>
          </a:xfrm>
        </p:grpSpPr>
        <p:sp>
          <p:nvSpPr>
            <p:cNvPr id="161" name="Freeform 8" descr="logo-iiec-light.png"/>
            <p:cNvSpPr/>
            <p:nvPr/>
          </p:nvSpPr>
          <p:spPr>
            <a:xfrm>
              <a:off x="15373800" y="480600"/>
              <a:ext cx="2248200" cy="850680"/>
            </a:xfrm>
            <a:custGeom>
              <a:avLst/>
              <a:gdLst>
                <a:gd name="textAreaLeft" fmla="*/ 0 w 2248200"/>
                <a:gd name="textAreaRight" fmla="*/ 2248560 w 2248200"/>
                <a:gd name="textAreaTop" fmla="*/ 0 h 850680"/>
                <a:gd name="textAreaBottom" fmla="*/ 851040 h 850680"/>
              </a:gdLst>
              <a:ahLst/>
              <a:cxnLst/>
              <a:rect l="textAreaLeft" t="textAreaTop" r="textAreaRight" b="textAreaBottom"/>
              <a:pathLst>
                <a:path w="2998089" h="1134745">
                  <a:moveTo>
                    <a:pt x="0" y="0"/>
                  </a:moveTo>
                  <a:lnTo>
                    <a:pt x="2998089" y="0"/>
                  </a:lnTo>
                  <a:lnTo>
                    <a:pt x="2998089" y="1134745"/>
                  </a:lnTo>
                  <a:lnTo>
                    <a:pt x="0" y="113474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2" name="Group 9"/>
          <p:cNvGrpSpPr/>
          <p:nvPr/>
        </p:nvGrpSpPr>
        <p:grpSpPr>
          <a:xfrm>
            <a:off x="0" y="9540000"/>
            <a:ext cx="18301320" cy="754560"/>
            <a:chOff x="0" y="9540000"/>
            <a:chExt cx="18301320" cy="754560"/>
          </a:xfrm>
        </p:grpSpPr>
        <p:sp>
          <p:nvSpPr>
            <p:cNvPr id="163" name="Freeform 10"/>
            <p:cNvSpPr/>
            <p:nvPr/>
          </p:nvSpPr>
          <p:spPr>
            <a:xfrm>
              <a:off x="0" y="9540000"/>
              <a:ext cx="18301320" cy="75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4402414" h="1006602">
                  <a:moveTo>
                    <a:pt x="0" y="0"/>
                  </a:moveTo>
                  <a:lnTo>
                    <a:pt x="24402414" y="0"/>
                  </a:lnTo>
                  <a:lnTo>
                    <a:pt x="2440241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19E3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4" name="Group 11"/>
          <p:cNvGrpSpPr/>
          <p:nvPr/>
        </p:nvGrpSpPr>
        <p:grpSpPr>
          <a:xfrm>
            <a:off x="0" y="9525960"/>
            <a:ext cx="18301320" cy="768960"/>
            <a:chOff x="0" y="9525960"/>
            <a:chExt cx="18301320" cy="768960"/>
          </a:xfrm>
        </p:grpSpPr>
        <p:sp>
          <p:nvSpPr>
            <p:cNvPr id="165" name="Freeform 12"/>
            <p:cNvSpPr/>
            <p:nvPr/>
          </p:nvSpPr>
          <p:spPr>
            <a:xfrm>
              <a:off x="0" y="9540000"/>
              <a:ext cx="18301320" cy="75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4402455" h="1006626">
                  <a:moveTo>
                    <a:pt x="0" y="0"/>
                  </a:moveTo>
                  <a:lnTo>
                    <a:pt x="24402455" y="0"/>
                  </a:lnTo>
                  <a:lnTo>
                    <a:pt x="24402455" y="1006626"/>
                  </a:lnTo>
                  <a:lnTo>
                    <a:pt x="0" y="1006626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TextBox 13"/>
            <p:cNvSpPr/>
            <p:nvPr/>
          </p:nvSpPr>
          <p:spPr>
            <a:xfrm>
              <a:off x="0" y="9525960"/>
              <a:ext cx="1830132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DATATHON 2026  ·  Round 1 Idea Submission – Template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7" name="Group 14"/>
          <p:cNvGrpSpPr/>
          <p:nvPr/>
        </p:nvGrpSpPr>
        <p:grpSpPr>
          <a:xfrm>
            <a:off x="16334640" y="9525960"/>
            <a:ext cx="1509480" cy="768960"/>
            <a:chOff x="16334640" y="9525960"/>
            <a:chExt cx="1509480" cy="768960"/>
          </a:xfrm>
        </p:grpSpPr>
        <p:sp>
          <p:nvSpPr>
            <p:cNvPr id="168" name="Freeform 15"/>
            <p:cNvSpPr/>
            <p:nvPr/>
          </p:nvSpPr>
          <p:spPr>
            <a:xfrm>
              <a:off x="16334640" y="9540000"/>
              <a:ext cx="1509480" cy="754560"/>
            </a:xfrm>
            <a:custGeom>
              <a:avLst/>
              <a:gdLst>
                <a:gd name="textAreaLeft" fmla="*/ 0 w 1509480"/>
                <a:gd name="textAreaRight" fmla="*/ 1509840 w 150948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013253" h="1006626">
                  <a:moveTo>
                    <a:pt x="0" y="0"/>
                  </a:moveTo>
                  <a:lnTo>
                    <a:pt x="2013253" y="0"/>
                  </a:lnTo>
                  <a:lnTo>
                    <a:pt x="2013253" y="1006626"/>
                  </a:lnTo>
                  <a:lnTo>
                    <a:pt x="0" y="1006626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TextBox 16"/>
            <p:cNvSpPr/>
            <p:nvPr/>
          </p:nvSpPr>
          <p:spPr>
            <a:xfrm>
              <a:off x="16334640" y="9525960"/>
              <a:ext cx="150948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341"/>
                </a:lnSpc>
              </a:pPr>
              <a:r>
                <a:rPr lang="en-US" sz="195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5</a:t>
              </a:r>
              <a:endParaRPr lang="en-IN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Freeform 17"/>
          <p:cNvSpPr/>
          <p:nvPr/>
        </p:nvSpPr>
        <p:spPr>
          <a:xfrm>
            <a:off x="832680" y="3233160"/>
            <a:ext cx="7563240" cy="1951920"/>
          </a:xfrm>
          <a:custGeom>
            <a:avLst/>
            <a:gdLst>
              <a:gd name="textAreaLeft" fmla="*/ 0 w 7563240"/>
              <a:gd name="textAreaRight" fmla="*/ 7563600 w 7563240"/>
              <a:gd name="textAreaTop" fmla="*/ 0 h 1951920"/>
              <a:gd name="textAreaBottom" fmla="*/ 1952280 h 1951920"/>
            </a:gdLst>
            <a:ahLst/>
            <a:cxnLst/>
            <a:rect l="textAreaLeft" t="textAreaTop" r="textAreaRight" b="textAreaBottom"/>
            <a:pathLst>
              <a:path w="7563478" h="1952323">
                <a:moveTo>
                  <a:pt x="0" y="0"/>
                </a:moveTo>
                <a:lnTo>
                  <a:pt x="7563478" y="0"/>
                </a:lnTo>
                <a:lnTo>
                  <a:pt x="7563478" y="1952323"/>
                </a:lnTo>
                <a:lnTo>
                  <a:pt x="0" y="195232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Freeform 18"/>
          <p:cNvSpPr/>
          <p:nvPr/>
        </p:nvSpPr>
        <p:spPr>
          <a:xfrm>
            <a:off x="9966600" y="3251880"/>
            <a:ext cx="6222600" cy="1882440"/>
          </a:xfrm>
          <a:custGeom>
            <a:avLst/>
            <a:gdLst>
              <a:gd name="textAreaLeft" fmla="*/ 0 w 6222600"/>
              <a:gd name="textAreaRight" fmla="*/ 6222960 w 6222600"/>
              <a:gd name="textAreaTop" fmla="*/ 0 h 1882440"/>
              <a:gd name="textAreaBottom" fmla="*/ 1882800 h 1882440"/>
            </a:gdLst>
            <a:ahLst/>
            <a:cxnLst/>
            <a:rect l="textAreaLeft" t="textAreaTop" r="textAreaRight" b="textAreaBottom"/>
            <a:pathLst>
              <a:path w="6223011" h="1882698">
                <a:moveTo>
                  <a:pt x="0" y="0"/>
                </a:moveTo>
                <a:lnTo>
                  <a:pt x="6223011" y="0"/>
                </a:lnTo>
                <a:lnTo>
                  <a:pt x="6223011" y="1882698"/>
                </a:lnTo>
                <a:lnTo>
                  <a:pt x="0" y="18826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Freeform 19"/>
          <p:cNvSpPr/>
          <p:nvPr/>
        </p:nvSpPr>
        <p:spPr>
          <a:xfrm>
            <a:off x="715680" y="6179400"/>
            <a:ext cx="7247160" cy="2426040"/>
          </a:xfrm>
          <a:custGeom>
            <a:avLst/>
            <a:gdLst>
              <a:gd name="textAreaLeft" fmla="*/ 0 w 7247160"/>
              <a:gd name="textAreaRight" fmla="*/ 7247520 w 7247160"/>
              <a:gd name="textAreaTop" fmla="*/ 0 h 2426040"/>
              <a:gd name="textAreaBottom" fmla="*/ 2426400 h 2426040"/>
            </a:gdLst>
            <a:ahLst/>
            <a:cxnLst/>
            <a:rect l="textAreaLeft" t="textAreaTop" r="textAreaRight" b="textAreaBottom"/>
            <a:pathLst>
              <a:path w="7247661" h="2426323">
                <a:moveTo>
                  <a:pt x="0" y="0"/>
                </a:moveTo>
                <a:lnTo>
                  <a:pt x="7247661" y="0"/>
                </a:lnTo>
                <a:lnTo>
                  <a:pt x="7247661" y="2426323"/>
                </a:lnTo>
                <a:lnTo>
                  <a:pt x="0" y="242632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Freeform 20"/>
          <p:cNvSpPr/>
          <p:nvPr/>
        </p:nvSpPr>
        <p:spPr>
          <a:xfrm>
            <a:off x="9966600" y="6166440"/>
            <a:ext cx="5224320" cy="3269160"/>
          </a:xfrm>
          <a:custGeom>
            <a:avLst/>
            <a:gdLst>
              <a:gd name="textAreaLeft" fmla="*/ 0 w 5224320"/>
              <a:gd name="textAreaRight" fmla="*/ 5224680 w 5224320"/>
              <a:gd name="textAreaTop" fmla="*/ 0 h 3269160"/>
              <a:gd name="textAreaBottom" fmla="*/ 3269520 h 3269160"/>
            </a:gdLst>
            <a:ahLst/>
            <a:cxnLst/>
            <a:rect l="textAreaLeft" t="textAreaTop" r="textAreaRight" b="textAreaBottom"/>
            <a:pathLst>
              <a:path w="5224820" h="3269455">
                <a:moveTo>
                  <a:pt x="0" y="0"/>
                </a:moveTo>
                <a:lnTo>
                  <a:pt x="5224820" y="0"/>
                </a:lnTo>
                <a:lnTo>
                  <a:pt x="5224820" y="3269454"/>
                </a:lnTo>
                <a:lnTo>
                  <a:pt x="0" y="326945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1"/>
          <p:cNvSpPr/>
          <p:nvPr/>
        </p:nvSpPr>
        <p:spPr>
          <a:xfrm>
            <a:off x="715680" y="1691640"/>
            <a:ext cx="16426080" cy="7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043"/>
              </a:lnSpc>
            </a:pPr>
            <a:r>
              <a:rPr lang="en-US" sz="42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❖ </a:t>
            </a:r>
            <a:r>
              <a:rPr lang="en-US" sz="4200" b="1" u="sng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ML Approach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2"/>
          <p:cNvSpPr/>
          <p:nvPr/>
        </p:nvSpPr>
        <p:spPr>
          <a:xfrm>
            <a:off x="832680" y="2718720"/>
            <a:ext cx="58449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4"/>
              </a:lnSpc>
            </a:pPr>
            <a:r>
              <a:rPr lang="en-US" sz="3209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Module 1: Uncertainty Bands</a:t>
            </a:r>
            <a:endParaRPr lang="en-IN" sz="32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3"/>
          <p:cNvSpPr/>
          <p:nvPr/>
        </p:nvSpPr>
        <p:spPr>
          <a:xfrm>
            <a:off x="9943920" y="2566440"/>
            <a:ext cx="58449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4"/>
              </a:lnSpc>
            </a:pPr>
            <a:r>
              <a:rPr lang="en-US" sz="3209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Module 2: Calibrated Risk</a:t>
            </a:r>
            <a:endParaRPr lang="en-IN" sz="32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4"/>
          <p:cNvSpPr/>
          <p:nvPr/>
        </p:nvSpPr>
        <p:spPr>
          <a:xfrm>
            <a:off x="832680" y="5461560"/>
            <a:ext cx="58449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4"/>
              </a:lnSpc>
            </a:pPr>
            <a:r>
              <a:rPr lang="en-US" sz="3209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Module 3: Blind-Spot Detector</a:t>
            </a:r>
            <a:endParaRPr lang="en-IN" sz="32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5"/>
          <p:cNvSpPr/>
          <p:nvPr/>
        </p:nvSpPr>
        <p:spPr>
          <a:xfrm>
            <a:off x="9943920" y="5480640"/>
            <a:ext cx="58449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4"/>
              </a:lnSpc>
            </a:pPr>
            <a:r>
              <a:rPr lang="en-US" sz="3209" b="1" u="sng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How Output Is Used:</a:t>
            </a:r>
            <a:endParaRPr lang="en-IN" sz="32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roup 2"/>
          <p:cNvGrpSpPr/>
          <p:nvPr/>
        </p:nvGrpSpPr>
        <p:grpSpPr>
          <a:xfrm>
            <a:off x="2676600" y="321840"/>
            <a:ext cx="12902760" cy="1325160"/>
            <a:chOff x="2676600" y="321840"/>
            <a:chExt cx="12902760" cy="1325160"/>
          </a:xfrm>
        </p:grpSpPr>
        <p:sp>
          <p:nvSpPr>
            <p:cNvPr id="180" name="Freeform 3"/>
            <p:cNvSpPr/>
            <p:nvPr/>
          </p:nvSpPr>
          <p:spPr>
            <a:xfrm>
              <a:off x="2676600" y="343080"/>
              <a:ext cx="12902760" cy="1303560"/>
            </a:xfrm>
            <a:custGeom>
              <a:avLst/>
              <a:gdLst>
                <a:gd name="textAreaLeft" fmla="*/ 0 w 12902760"/>
                <a:gd name="textAreaRight" fmla="*/ 12903120 w 12902760"/>
                <a:gd name="textAreaTop" fmla="*/ 0 h 1303560"/>
                <a:gd name="textAreaBottom" fmla="*/ 1303920 h 1303560"/>
              </a:gdLst>
              <a:ahLst/>
              <a:cxnLst/>
              <a:rect l="textAreaLeft" t="textAreaTop" r="textAreaRight" b="textAreaBottom"/>
              <a:pathLst>
                <a:path w="17204161" h="1738718">
                  <a:moveTo>
                    <a:pt x="0" y="0"/>
                  </a:moveTo>
                  <a:lnTo>
                    <a:pt x="17204161" y="0"/>
                  </a:lnTo>
                  <a:lnTo>
                    <a:pt x="17204161" y="1738718"/>
                  </a:lnTo>
                  <a:lnTo>
                    <a:pt x="0" y="1738718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TextBox 4"/>
            <p:cNvSpPr/>
            <p:nvPr/>
          </p:nvSpPr>
          <p:spPr>
            <a:xfrm>
              <a:off x="2676600" y="321840"/>
              <a:ext cx="12902760" cy="1325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5403"/>
                </a:lnSpc>
              </a:pPr>
              <a:r>
                <a:rPr lang="en-US" sz="45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BASE PROTOTYPE &amp; MVP</a:t>
              </a:r>
              <a:endParaRPr lang="en-IN" sz="4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2" name="Group 5"/>
          <p:cNvGrpSpPr/>
          <p:nvPr/>
        </p:nvGrpSpPr>
        <p:grpSpPr>
          <a:xfrm>
            <a:off x="617760" y="205920"/>
            <a:ext cx="1717920" cy="1372320"/>
            <a:chOff x="617760" y="205920"/>
            <a:chExt cx="1717920" cy="1372320"/>
          </a:xfrm>
        </p:grpSpPr>
        <p:sp>
          <p:nvSpPr>
            <p:cNvPr id="183" name="Freeform 6" descr="logo-dsc-light.png"/>
            <p:cNvSpPr/>
            <p:nvPr/>
          </p:nvSpPr>
          <p:spPr>
            <a:xfrm>
              <a:off x="617760" y="205920"/>
              <a:ext cx="1717920" cy="1372320"/>
            </a:xfrm>
            <a:custGeom>
              <a:avLst/>
              <a:gdLst>
                <a:gd name="textAreaLeft" fmla="*/ 0 w 1717920"/>
                <a:gd name="textAreaRight" fmla="*/ 1718280 w 1717920"/>
                <a:gd name="textAreaTop" fmla="*/ 0 h 1372320"/>
                <a:gd name="textAreaBottom" fmla="*/ 1372680 h 1372320"/>
              </a:gdLst>
              <a:ahLst/>
              <a:cxnLst/>
              <a:rect l="textAreaLeft" t="textAreaTop" r="textAreaRight" b="textAreaBottom"/>
              <a:pathLst>
                <a:path w="2291207" h="1830197">
                  <a:moveTo>
                    <a:pt x="0" y="0"/>
                  </a:moveTo>
                  <a:lnTo>
                    <a:pt x="2291207" y="0"/>
                  </a:lnTo>
                  <a:lnTo>
                    <a:pt x="2291207" y="1830197"/>
                  </a:lnTo>
                  <a:lnTo>
                    <a:pt x="0" y="183019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4" name="Group 7"/>
          <p:cNvGrpSpPr/>
          <p:nvPr/>
        </p:nvGrpSpPr>
        <p:grpSpPr>
          <a:xfrm>
            <a:off x="15373800" y="480600"/>
            <a:ext cx="2248200" cy="850680"/>
            <a:chOff x="15373800" y="480600"/>
            <a:chExt cx="2248200" cy="850680"/>
          </a:xfrm>
        </p:grpSpPr>
        <p:sp>
          <p:nvSpPr>
            <p:cNvPr id="185" name="Freeform 8" descr="logo-iiec-light.png"/>
            <p:cNvSpPr/>
            <p:nvPr/>
          </p:nvSpPr>
          <p:spPr>
            <a:xfrm>
              <a:off x="15373800" y="480600"/>
              <a:ext cx="2248200" cy="850680"/>
            </a:xfrm>
            <a:custGeom>
              <a:avLst/>
              <a:gdLst>
                <a:gd name="textAreaLeft" fmla="*/ 0 w 2248200"/>
                <a:gd name="textAreaRight" fmla="*/ 2248560 w 2248200"/>
                <a:gd name="textAreaTop" fmla="*/ 0 h 850680"/>
                <a:gd name="textAreaBottom" fmla="*/ 851040 h 850680"/>
              </a:gdLst>
              <a:ahLst/>
              <a:cxnLst/>
              <a:rect l="textAreaLeft" t="textAreaTop" r="textAreaRight" b="textAreaBottom"/>
              <a:pathLst>
                <a:path w="2998089" h="1134745">
                  <a:moveTo>
                    <a:pt x="0" y="0"/>
                  </a:moveTo>
                  <a:lnTo>
                    <a:pt x="2998089" y="0"/>
                  </a:lnTo>
                  <a:lnTo>
                    <a:pt x="2998089" y="1134745"/>
                  </a:lnTo>
                  <a:lnTo>
                    <a:pt x="0" y="113474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6" name="Group 9"/>
          <p:cNvGrpSpPr/>
          <p:nvPr/>
        </p:nvGrpSpPr>
        <p:grpSpPr>
          <a:xfrm>
            <a:off x="0" y="9540000"/>
            <a:ext cx="18301320" cy="754560"/>
            <a:chOff x="0" y="9540000"/>
            <a:chExt cx="18301320" cy="754560"/>
          </a:xfrm>
        </p:grpSpPr>
        <p:sp>
          <p:nvSpPr>
            <p:cNvPr id="187" name="Freeform 10"/>
            <p:cNvSpPr/>
            <p:nvPr/>
          </p:nvSpPr>
          <p:spPr>
            <a:xfrm>
              <a:off x="0" y="9540000"/>
              <a:ext cx="18301320" cy="75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4402414" h="1006602">
                  <a:moveTo>
                    <a:pt x="0" y="0"/>
                  </a:moveTo>
                  <a:lnTo>
                    <a:pt x="24402414" y="0"/>
                  </a:lnTo>
                  <a:lnTo>
                    <a:pt x="2440241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19E3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8" name="Group 11"/>
          <p:cNvGrpSpPr/>
          <p:nvPr/>
        </p:nvGrpSpPr>
        <p:grpSpPr>
          <a:xfrm>
            <a:off x="0" y="9525960"/>
            <a:ext cx="18301320" cy="768960"/>
            <a:chOff x="0" y="9525960"/>
            <a:chExt cx="18301320" cy="768960"/>
          </a:xfrm>
        </p:grpSpPr>
        <p:sp>
          <p:nvSpPr>
            <p:cNvPr id="189" name="Freeform 12"/>
            <p:cNvSpPr/>
            <p:nvPr/>
          </p:nvSpPr>
          <p:spPr>
            <a:xfrm>
              <a:off x="0" y="9540000"/>
              <a:ext cx="18301320" cy="75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4402455" h="1006626">
                  <a:moveTo>
                    <a:pt x="0" y="0"/>
                  </a:moveTo>
                  <a:lnTo>
                    <a:pt x="24402455" y="0"/>
                  </a:lnTo>
                  <a:lnTo>
                    <a:pt x="24402455" y="1006626"/>
                  </a:lnTo>
                  <a:lnTo>
                    <a:pt x="0" y="1006626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TextBox 13"/>
            <p:cNvSpPr/>
            <p:nvPr/>
          </p:nvSpPr>
          <p:spPr>
            <a:xfrm>
              <a:off x="0" y="9525960"/>
              <a:ext cx="1830132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DATATHON 2026  ·  Round 1 Idea Submission – Template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1" name="Group 14"/>
          <p:cNvGrpSpPr/>
          <p:nvPr/>
        </p:nvGrpSpPr>
        <p:grpSpPr>
          <a:xfrm>
            <a:off x="16334640" y="9525960"/>
            <a:ext cx="1509480" cy="768960"/>
            <a:chOff x="16334640" y="9525960"/>
            <a:chExt cx="1509480" cy="768960"/>
          </a:xfrm>
        </p:grpSpPr>
        <p:sp>
          <p:nvSpPr>
            <p:cNvPr id="192" name="Freeform 15"/>
            <p:cNvSpPr/>
            <p:nvPr/>
          </p:nvSpPr>
          <p:spPr>
            <a:xfrm>
              <a:off x="16334640" y="9540000"/>
              <a:ext cx="1509480" cy="754560"/>
            </a:xfrm>
            <a:custGeom>
              <a:avLst/>
              <a:gdLst>
                <a:gd name="textAreaLeft" fmla="*/ 0 w 1509480"/>
                <a:gd name="textAreaRight" fmla="*/ 1509840 w 150948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013253" h="1006626">
                  <a:moveTo>
                    <a:pt x="0" y="0"/>
                  </a:moveTo>
                  <a:lnTo>
                    <a:pt x="2013253" y="0"/>
                  </a:lnTo>
                  <a:lnTo>
                    <a:pt x="2013253" y="1006626"/>
                  </a:lnTo>
                  <a:lnTo>
                    <a:pt x="0" y="1006626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TextBox 16"/>
            <p:cNvSpPr/>
            <p:nvPr/>
          </p:nvSpPr>
          <p:spPr>
            <a:xfrm>
              <a:off x="16334640" y="9525960"/>
              <a:ext cx="150948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341"/>
                </a:lnSpc>
              </a:pPr>
              <a:r>
                <a:rPr lang="en-US" sz="195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6</a:t>
              </a:r>
              <a:endParaRPr lang="en-IN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4" name="TextBox 17"/>
          <p:cNvSpPr/>
          <p:nvPr/>
        </p:nvSpPr>
        <p:spPr>
          <a:xfrm>
            <a:off x="915120" y="2291760"/>
            <a:ext cx="16426080" cy="7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043"/>
              </a:lnSpc>
            </a:pPr>
            <a:r>
              <a:rPr lang="en-US" sz="42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❖ </a:t>
            </a:r>
            <a:r>
              <a:rPr lang="en-US" sz="4200" b="1" u="sng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Base Prototype (Round 1)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8"/>
          <p:cNvSpPr/>
          <p:nvPr/>
        </p:nvSpPr>
        <p:spPr>
          <a:xfrm>
            <a:off x="915120" y="3311640"/>
            <a:ext cx="1642608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652680" lvl="1" indent="-326160" defTabSz="914400">
              <a:lnSpc>
                <a:spcPts val="4323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is built so far (screenshots / link)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19"/>
          <p:cNvSpPr/>
          <p:nvPr/>
        </p:nvSpPr>
        <p:spPr>
          <a:xfrm>
            <a:off x="915120" y="4926960"/>
            <a:ext cx="16426080" cy="7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043"/>
              </a:lnSpc>
            </a:pPr>
            <a:r>
              <a:rPr lang="en-US" sz="42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❖ </a:t>
            </a:r>
            <a:r>
              <a:rPr lang="en-US" sz="4200" b="1" u="sng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MVP for Round 2</a:t>
            </a:r>
            <a:r>
              <a:rPr lang="en-US" sz="42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   (Mandatory)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0"/>
          <p:cNvSpPr/>
          <p:nvPr/>
        </p:nvSpPr>
        <p:spPr>
          <a:xfrm>
            <a:off x="915120" y="5947200"/>
            <a:ext cx="16426080" cy="19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652680" lvl="1" indent="-326160" defTabSz="914400">
              <a:lnSpc>
                <a:spcPts val="4323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Must-have features for the complete prototype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2680" lvl="1" indent="-326160" defTabSz="914400">
              <a:lnSpc>
                <a:spcPts val="4323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Demo workflow: input → output → action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roup 2"/>
          <p:cNvGrpSpPr/>
          <p:nvPr/>
        </p:nvGrpSpPr>
        <p:grpSpPr>
          <a:xfrm>
            <a:off x="2676600" y="321840"/>
            <a:ext cx="12902760" cy="1325160"/>
            <a:chOff x="2676600" y="321840"/>
            <a:chExt cx="12902760" cy="1325160"/>
          </a:xfrm>
        </p:grpSpPr>
        <p:sp>
          <p:nvSpPr>
            <p:cNvPr id="199" name="Freeform 3"/>
            <p:cNvSpPr/>
            <p:nvPr/>
          </p:nvSpPr>
          <p:spPr>
            <a:xfrm>
              <a:off x="2676600" y="343080"/>
              <a:ext cx="12902760" cy="1303560"/>
            </a:xfrm>
            <a:custGeom>
              <a:avLst/>
              <a:gdLst>
                <a:gd name="textAreaLeft" fmla="*/ 0 w 12902760"/>
                <a:gd name="textAreaRight" fmla="*/ 12903120 w 12902760"/>
                <a:gd name="textAreaTop" fmla="*/ 0 h 1303560"/>
                <a:gd name="textAreaBottom" fmla="*/ 1303920 h 1303560"/>
              </a:gdLst>
              <a:ahLst/>
              <a:cxnLst/>
              <a:rect l="textAreaLeft" t="textAreaTop" r="textAreaRight" b="textAreaBottom"/>
              <a:pathLst>
                <a:path w="17204161" h="1738718">
                  <a:moveTo>
                    <a:pt x="0" y="0"/>
                  </a:moveTo>
                  <a:lnTo>
                    <a:pt x="17204161" y="0"/>
                  </a:lnTo>
                  <a:lnTo>
                    <a:pt x="17204161" y="1738718"/>
                  </a:lnTo>
                  <a:lnTo>
                    <a:pt x="0" y="1738718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TextBox 4"/>
            <p:cNvSpPr/>
            <p:nvPr/>
          </p:nvSpPr>
          <p:spPr>
            <a:xfrm>
              <a:off x="2676600" y="321840"/>
              <a:ext cx="12902760" cy="1325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5403"/>
                </a:lnSpc>
              </a:pPr>
              <a:r>
                <a:rPr lang="en-US" sz="45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TECHNICAL APPROACH</a:t>
              </a:r>
              <a:endParaRPr lang="en-IN" sz="4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1" name="Group 5"/>
          <p:cNvGrpSpPr/>
          <p:nvPr/>
        </p:nvGrpSpPr>
        <p:grpSpPr>
          <a:xfrm>
            <a:off x="617760" y="205920"/>
            <a:ext cx="1717920" cy="1372320"/>
            <a:chOff x="617760" y="205920"/>
            <a:chExt cx="1717920" cy="1372320"/>
          </a:xfrm>
        </p:grpSpPr>
        <p:sp>
          <p:nvSpPr>
            <p:cNvPr id="202" name="Freeform 6" descr="logo-dsc-light.png"/>
            <p:cNvSpPr/>
            <p:nvPr/>
          </p:nvSpPr>
          <p:spPr>
            <a:xfrm>
              <a:off x="617760" y="205920"/>
              <a:ext cx="1717920" cy="1372320"/>
            </a:xfrm>
            <a:custGeom>
              <a:avLst/>
              <a:gdLst>
                <a:gd name="textAreaLeft" fmla="*/ 0 w 1717920"/>
                <a:gd name="textAreaRight" fmla="*/ 1718280 w 1717920"/>
                <a:gd name="textAreaTop" fmla="*/ 0 h 1372320"/>
                <a:gd name="textAreaBottom" fmla="*/ 1372680 h 1372320"/>
              </a:gdLst>
              <a:ahLst/>
              <a:cxnLst/>
              <a:rect l="textAreaLeft" t="textAreaTop" r="textAreaRight" b="textAreaBottom"/>
              <a:pathLst>
                <a:path w="2291207" h="1830197">
                  <a:moveTo>
                    <a:pt x="0" y="0"/>
                  </a:moveTo>
                  <a:lnTo>
                    <a:pt x="2291207" y="0"/>
                  </a:lnTo>
                  <a:lnTo>
                    <a:pt x="2291207" y="1830197"/>
                  </a:lnTo>
                  <a:lnTo>
                    <a:pt x="0" y="183019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3" name="Group 7"/>
          <p:cNvGrpSpPr/>
          <p:nvPr/>
        </p:nvGrpSpPr>
        <p:grpSpPr>
          <a:xfrm>
            <a:off x="15373800" y="480600"/>
            <a:ext cx="2248200" cy="850680"/>
            <a:chOff x="15373800" y="480600"/>
            <a:chExt cx="2248200" cy="850680"/>
          </a:xfrm>
        </p:grpSpPr>
        <p:sp>
          <p:nvSpPr>
            <p:cNvPr id="204" name="Freeform 8" descr="logo-iiec-light.png"/>
            <p:cNvSpPr/>
            <p:nvPr/>
          </p:nvSpPr>
          <p:spPr>
            <a:xfrm>
              <a:off x="15373800" y="480600"/>
              <a:ext cx="2248200" cy="850680"/>
            </a:xfrm>
            <a:custGeom>
              <a:avLst/>
              <a:gdLst>
                <a:gd name="textAreaLeft" fmla="*/ 0 w 2248200"/>
                <a:gd name="textAreaRight" fmla="*/ 2248560 w 2248200"/>
                <a:gd name="textAreaTop" fmla="*/ 0 h 850680"/>
                <a:gd name="textAreaBottom" fmla="*/ 851040 h 850680"/>
              </a:gdLst>
              <a:ahLst/>
              <a:cxnLst/>
              <a:rect l="textAreaLeft" t="textAreaTop" r="textAreaRight" b="textAreaBottom"/>
              <a:pathLst>
                <a:path w="2998089" h="1134745">
                  <a:moveTo>
                    <a:pt x="0" y="0"/>
                  </a:moveTo>
                  <a:lnTo>
                    <a:pt x="2998089" y="0"/>
                  </a:lnTo>
                  <a:lnTo>
                    <a:pt x="2998089" y="1134745"/>
                  </a:lnTo>
                  <a:lnTo>
                    <a:pt x="0" y="113474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5" name="Group 9"/>
          <p:cNvGrpSpPr/>
          <p:nvPr/>
        </p:nvGrpSpPr>
        <p:grpSpPr>
          <a:xfrm>
            <a:off x="0" y="9540000"/>
            <a:ext cx="18301320" cy="754560"/>
            <a:chOff x="0" y="9540000"/>
            <a:chExt cx="18301320" cy="754560"/>
          </a:xfrm>
        </p:grpSpPr>
        <p:sp>
          <p:nvSpPr>
            <p:cNvPr id="206" name="Freeform 10"/>
            <p:cNvSpPr/>
            <p:nvPr/>
          </p:nvSpPr>
          <p:spPr>
            <a:xfrm>
              <a:off x="0" y="9540000"/>
              <a:ext cx="18301320" cy="75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4402414" h="1006602">
                  <a:moveTo>
                    <a:pt x="0" y="0"/>
                  </a:moveTo>
                  <a:lnTo>
                    <a:pt x="24402414" y="0"/>
                  </a:lnTo>
                  <a:lnTo>
                    <a:pt x="2440241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19E3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7" name="Group 11"/>
          <p:cNvGrpSpPr/>
          <p:nvPr/>
        </p:nvGrpSpPr>
        <p:grpSpPr>
          <a:xfrm>
            <a:off x="0" y="9525960"/>
            <a:ext cx="18301320" cy="768960"/>
            <a:chOff x="0" y="9525960"/>
            <a:chExt cx="18301320" cy="768960"/>
          </a:xfrm>
        </p:grpSpPr>
        <p:sp>
          <p:nvSpPr>
            <p:cNvPr id="208" name="Freeform 12"/>
            <p:cNvSpPr/>
            <p:nvPr/>
          </p:nvSpPr>
          <p:spPr>
            <a:xfrm>
              <a:off x="0" y="9540000"/>
              <a:ext cx="18301320" cy="75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4402455" h="1006626">
                  <a:moveTo>
                    <a:pt x="0" y="0"/>
                  </a:moveTo>
                  <a:lnTo>
                    <a:pt x="24402455" y="0"/>
                  </a:lnTo>
                  <a:lnTo>
                    <a:pt x="24402455" y="1006626"/>
                  </a:lnTo>
                  <a:lnTo>
                    <a:pt x="0" y="1006626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TextBox 13"/>
            <p:cNvSpPr/>
            <p:nvPr/>
          </p:nvSpPr>
          <p:spPr>
            <a:xfrm>
              <a:off x="0" y="9525960"/>
              <a:ext cx="1830132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DATATHON 2026  ·  Round 1 Idea Submission – Template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0" name="Group 14"/>
          <p:cNvGrpSpPr/>
          <p:nvPr/>
        </p:nvGrpSpPr>
        <p:grpSpPr>
          <a:xfrm>
            <a:off x="16334640" y="9525960"/>
            <a:ext cx="1509480" cy="768960"/>
            <a:chOff x="16334640" y="9525960"/>
            <a:chExt cx="1509480" cy="768960"/>
          </a:xfrm>
        </p:grpSpPr>
        <p:sp>
          <p:nvSpPr>
            <p:cNvPr id="211" name="Freeform 15"/>
            <p:cNvSpPr/>
            <p:nvPr/>
          </p:nvSpPr>
          <p:spPr>
            <a:xfrm>
              <a:off x="16334640" y="9540000"/>
              <a:ext cx="1509480" cy="754560"/>
            </a:xfrm>
            <a:custGeom>
              <a:avLst/>
              <a:gdLst>
                <a:gd name="textAreaLeft" fmla="*/ 0 w 1509480"/>
                <a:gd name="textAreaRight" fmla="*/ 1509840 w 1509480"/>
                <a:gd name="textAreaTop" fmla="*/ 0 h 754560"/>
                <a:gd name="textAreaBottom" fmla="*/ 754920 h 754560"/>
              </a:gdLst>
              <a:ahLst/>
              <a:cxnLst/>
              <a:rect l="textAreaLeft" t="textAreaTop" r="textAreaRight" b="textAreaBottom"/>
              <a:pathLst>
                <a:path w="2013253" h="1006626">
                  <a:moveTo>
                    <a:pt x="0" y="0"/>
                  </a:moveTo>
                  <a:lnTo>
                    <a:pt x="2013253" y="0"/>
                  </a:lnTo>
                  <a:lnTo>
                    <a:pt x="2013253" y="1006626"/>
                  </a:lnTo>
                  <a:lnTo>
                    <a:pt x="0" y="1006626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TextBox 16"/>
            <p:cNvSpPr/>
            <p:nvPr/>
          </p:nvSpPr>
          <p:spPr>
            <a:xfrm>
              <a:off x="16334640" y="9525960"/>
              <a:ext cx="150948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341"/>
                </a:lnSpc>
              </a:pPr>
              <a:r>
                <a:rPr lang="en-US" sz="195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7</a:t>
              </a:r>
              <a:endParaRPr lang="en-IN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3" name="Freeform 17"/>
          <p:cNvSpPr/>
          <p:nvPr/>
        </p:nvSpPr>
        <p:spPr>
          <a:xfrm>
            <a:off x="1476720" y="6338520"/>
            <a:ext cx="13083840" cy="2575440"/>
          </a:xfrm>
          <a:custGeom>
            <a:avLst/>
            <a:gdLst>
              <a:gd name="textAreaLeft" fmla="*/ 0 w 13083840"/>
              <a:gd name="textAreaRight" fmla="*/ 13084200 w 13083840"/>
              <a:gd name="textAreaTop" fmla="*/ 0 h 2575440"/>
              <a:gd name="textAreaBottom" fmla="*/ 2575800 h 2575440"/>
            </a:gdLst>
            <a:ahLst/>
            <a:cxnLst/>
            <a:rect l="textAreaLeft" t="textAreaTop" r="textAreaRight" b="textAreaBottom"/>
            <a:pathLst>
              <a:path w="13084230" h="2575958">
                <a:moveTo>
                  <a:pt x="0" y="0"/>
                </a:moveTo>
                <a:lnTo>
                  <a:pt x="13084230" y="0"/>
                </a:lnTo>
                <a:lnTo>
                  <a:pt x="13084230" y="2575958"/>
                </a:lnTo>
                <a:lnTo>
                  <a:pt x="0" y="25759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Freeform 18"/>
          <p:cNvSpPr/>
          <p:nvPr/>
        </p:nvSpPr>
        <p:spPr>
          <a:xfrm>
            <a:off x="15647400" y="1436040"/>
            <a:ext cx="1701360" cy="7961040"/>
          </a:xfrm>
          <a:custGeom>
            <a:avLst/>
            <a:gdLst>
              <a:gd name="textAreaLeft" fmla="*/ 0 w 1701360"/>
              <a:gd name="textAreaRight" fmla="*/ 1701720 w 1701360"/>
              <a:gd name="textAreaTop" fmla="*/ 0 h 7961040"/>
              <a:gd name="textAreaBottom" fmla="*/ 7961400 h 7961040"/>
            </a:gdLst>
            <a:ahLst/>
            <a:cxnLst/>
            <a:rect l="textAreaLeft" t="textAreaTop" r="textAreaRight" b="textAreaBottom"/>
            <a:pathLst>
              <a:path w="1701693" h="7961490">
                <a:moveTo>
                  <a:pt x="0" y="0"/>
                </a:moveTo>
                <a:lnTo>
                  <a:pt x="1701693" y="0"/>
                </a:lnTo>
                <a:lnTo>
                  <a:pt x="1701693" y="7961491"/>
                </a:lnTo>
                <a:lnTo>
                  <a:pt x="0" y="79614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Freeform 19"/>
          <p:cNvSpPr/>
          <p:nvPr/>
        </p:nvSpPr>
        <p:spPr>
          <a:xfrm>
            <a:off x="1476720" y="3042720"/>
            <a:ext cx="12563640" cy="3085560"/>
          </a:xfrm>
          <a:custGeom>
            <a:avLst/>
            <a:gdLst>
              <a:gd name="textAreaLeft" fmla="*/ 0 w 12563640"/>
              <a:gd name="textAreaRight" fmla="*/ 12564000 w 12563640"/>
              <a:gd name="textAreaTop" fmla="*/ 0 h 3085560"/>
              <a:gd name="textAreaBottom" fmla="*/ 3085920 h 3085560"/>
            </a:gdLst>
            <a:ahLst/>
            <a:cxnLst/>
            <a:rect l="textAreaLeft" t="textAreaTop" r="textAreaRight" b="textAreaBottom"/>
            <a:pathLst>
              <a:path w="12563993" h="3086031">
                <a:moveTo>
                  <a:pt x="0" y="0"/>
                </a:moveTo>
                <a:lnTo>
                  <a:pt x="12563992" y="0"/>
                </a:lnTo>
                <a:lnTo>
                  <a:pt x="12563992" y="3086031"/>
                </a:lnTo>
                <a:lnTo>
                  <a:pt x="0" y="308603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0"/>
          <p:cNvSpPr/>
          <p:nvPr/>
        </p:nvSpPr>
        <p:spPr>
          <a:xfrm>
            <a:off x="915120" y="2291760"/>
            <a:ext cx="16426080" cy="7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043"/>
              </a:lnSpc>
            </a:pPr>
            <a:r>
              <a:rPr lang="en-US" sz="42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❖ </a:t>
            </a:r>
            <a:r>
              <a:rPr lang="en-US" sz="4200" b="1" u="sng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Technical Approach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6716" y="343167"/>
            <a:ext cx="12903117" cy="1304039"/>
            <a:chOff x="0" y="0"/>
            <a:chExt cx="17204157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04161" cy="1738718"/>
            </a:xfrm>
            <a:custGeom>
              <a:avLst/>
              <a:gdLst/>
              <a:ahLst/>
              <a:cxnLst/>
              <a:rect r="r" b="b" t="t" l="l"/>
              <a:pathLst>
                <a:path h="1738718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799" r="0" b="-14279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7204157" cy="1767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4"/>
                </a:lnSpc>
              </a:pPr>
              <a:r>
                <a:rPr lang="en-US" sz="450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FEASIBILITY &amp; IMPACT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706" y="205902"/>
            <a:ext cx="1718386" cy="1372676"/>
            <a:chOff x="0" y="0"/>
            <a:chExt cx="2291182" cy="1830235"/>
          </a:xfrm>
        </p:grpSpPr>
        <p:sp>
          <p:nvSpPr>
            <p:cNvPr name="Freeform 6" id="6" descr="logo-dsc-light.png"/>
            <p:cNvSpPr/>
            <p:nvPr/>
          </p:nvSpPr>
          <p:spPr>
            <a:xfrm flipH="false" flipV="false" rot="0">
              <a:off x="0" y="0"/>
              <a:ext cx="2291207" cy="1830197"/>
            </a:xfrm>
            <a:custGeom>
              <a:avLst/>
              <a:gdLst/>
              <a:ahLst/>
              <a:cxnLst/>
              <a:rect r="r" b="b" t="t" l="l"/>
              <a:pathLst>
                <a:path h="1830197" w="2291207">
                  <a:moveTo>
                    <a:pt x="0" y="0"/>
                  </a:moveTo>
                  <a:lnTo>
                    <a:pt x="2291207" y="0"/>
                  </a:lnTo>
                  <a:lnTo>
                    <a:pt x="2291207" y="1830197"/>
                  </a:lnTo>
                  <a:lnTo>
                    <a:pt x="0" y="1830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373931" y="480431"/>
            <a:ext cx="2248529" cy="851059"/>
            <a:chOff x="0" y="0"/>
            <a:chExt cx="2998038" cy="1134745"/>
          </a:xfrm>
        </p:grpSpPr>
        <p:sp>
          <p:nvSpPr>
            <p:cNvPr name="Freeform 8" id="8" descr="logo-iiec-light.png"/>
            <p:cNvSpPr/>
            <p:nvPr/>
          </p:nvSpPr>
          <p:spPr>
            <a:xfrm flipH="false" flipV="false" rot="0">
              <a:off x="0" y="0"/>
              <a:ext cx="2998089" cy="1134745"/>
            </a:xfrm>
            <a:custGeom>
              <a:avLst/>
              <a:gdLst/>
              <a:ahLst/>
              <a:cxnLst/>
              <a:rect r="r" b="b" t="t" l="l"/>
              <a:pathLst>
                <a:path h="1134745" w="2998089">
                  <a:moveTo>
                    <a:pt x="0" y="0"/>
                  </a:moveTo>
                  <a:lnTo>
                    <a:pt x="2998089" y="0"/>
                  </a:lnTo>
                  <a:lnTo>
                    <a:pt x="2998089" y="1134745"/>
                  </a:lnTo>
                  <a:lnTo>
                    <a:pt x="0" y="1134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540069"/>
            <a:ext cx="18301840" cy="754971"/>
            <a:chOff x="0" y="0"/>
            <a:chExt cx="24402453" cy="100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02414" cy="1006602"/>
            </a:xfrm>
            <a:custGeom>
              <a:avLst/>
              <a:gdLst/>
              <a:ahLst/>
              <a:cxnLst/>
              <a:rect r="r" b="b" t="t" l="l"/>
              <a:pathLst>
                <a:path h="100660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19E3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9540069"/>
            <a:ext cx="18301840" cy="754971"/>
            <a:chOff x="0" y="0"/>
            <a:chExt cx="24402453" cy="1006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02455" cy="1006626"/>
            </a:xfrm>
            <a:custGeom>
              <a:avLst/>
              <a:gdLst/>
              <a:ahLst/>
              <a:cxnLst/>
              <a:rect r="r" b="b" t="t" l="l"/>
              <a:pathLst>
                <a:path h="1006626" w="24402455">
                  <a:moveTo>
                    <a:pt x="0" y="0"/>
                  </a:moveTo>
                  <a:lnTo>
                    <a:pt x="24402455" y="0"/>
                  </a:lnTo>
                  <a:lnTo>
                    <a:pt x="2440245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352" r="0" b="-4223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4402453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DATATHON 2026  ·  Round 1 Idea Submission –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334804" y="9540069"/>
            <a:ext cx="1509941" cy="754971"/>
            <a:chOff x="0" y="0"/>
            <a:chExt cx="2013255" cy="10066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3253" cy="1006626"/>
            </a:xfrm>
            <a:custGeom>
              <a:avLst/>
              <a:gdLst/>
              <a:ahLst/>
              <a:cxnLst/>
              <a:rect r="r" b="b" t="t" l="l"/>
              <a:pathLst>
                <a:path h="1006626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013255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1"/>
                </a:lnSpc>
              </a:pPr>
              <a:r>
                <a:rPr lang="en-US" sz="1951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5048" y="2291582"/>
            <a:ext cx="16426453" cy="751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❖ </a:t>
            </a:r>
            <a:r>
              <a:rPr lang="en-US" b="true" sz="4203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 &amp; Impact</a:t>
            </a:r>
          </a:p>
        </p:txBody>
      </p:sp>
      <p:sp>
        <p:nvSpPr>
          <p:cNvPr name="FeasHeader" id="100"/>
          <p:cNvSpPr/>
          <p:nvPr/>
        </p:nvSpPr>
        <p:spPr>
          <a:xfrm>
            <a:off x="617706" y="3150000"/>
            <a:ext cx="8326294" cy="560000"/>
          </a:xfrm>
          <a:prstGeom prst="rect">
            <a:avLst/>
          </a:prstGeom>
          <a:solidFill>
            <a:srgbClr val="19E3F5"/>
          </a:solidFill>
          <a:ln>
            <a:noFill/>
          </a:ln>
        </p:spPr>
        <p:txBody>
          <a:bodyPr anchor="ctr" lIns="260000" rIns="140000" tIns="20000" bIns="20000"/>
          <a:lstStyle/>
          <a:p>
            <a:pPr algn="l"/>
            <a:r>
              <a:rPr lang="en-US" sz="1900" b="true">
                <a:solidFill>
                  <a:srgbClr val="000000"/>
                </a:solidFill>
                <a:latin typeface="Arial"/>
                <a:cs typeface="Arial"/>
              </a:rPr>
              <a:t>FEASIBILITY</a:t>
            </a:r>
          </a:p>
        </p:txBody>
      </p:sp>
      <p:sp>
        <p:nvSpPr>
          <p:cNvPr name="ImpactHeader" id="101"/>
          <p:cNvSpPr/>
          <p:nvPr/>
        </p:nvSpPr>
        <p:spPr>
          <a:xfrm>
            <a:off x="9344000" y="3150000"/>
            <a:ext cx="8326294" cy="560000"/>
          </a:xfrm>
          <a:prstGeom prst="rect">
            <a:avLst/>
          </a:prstGeom>
          <a:solidFill>
            <a:srgbClr val="0B9FB0"/>
          </a:solidFill>
          <a:ln>
            <a:noFill/>
          </a:ln>
        </p:spPr>
        <p:txBody>
          <a:bodyPr anchor="ctr" lIns="260000" rIns="140000" tIns="20000" bIns="20000"/>
          <a:lstStyle/>
          <a:p>
            <a:pPr algn="l"/>
            <a:r>
              <a:rPr lang="en-US" sz="1900" b="true">
                <a:solidFill>
                  <a:srgbClr val="FFFFFF"/>
                </a:solidFill>
                <a:latin typeface="Arial"/>
                <a:cs typeface="Arial"/>
              </a:rPr>
              <a:t>IMPACT</a:t>
            </a:r>
          </a:p>
        </p:txBody>
      </p:sp>
      <p:sp>
        <p:nvSpPr>
          <p:cNvPr name="FeasCard1" id="110"/>
          <p:cNvSpPr/>
          <p:nvPr/>
        </p:nvSpPr>
        <p:spPr>
          <a:xfrm>
            <a:off x="617706" y="3820000"/>
            <a:ext cx="8326294" cy="1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anchor="ctr" lIns="300000" rIns="240000" tIns="80000" bIns="80000"/>
          <a:lstStyle/>
          <a:p>
            <a:pPr algn="l"/>
            <a:r>
              <a:rPr lang="en-US" sz="1700" b="true">
                <a:solidFill>
                  <a:srgbClr val="000000"/>
                </a:solidFill>
                <a:latin typeface="Arial"/>
                <a:cs typeface="Arial"/>
              </a:rPr>
              <a:t>Built on data we already have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lang="en-US" sz="1350">
                <a:solidFill>
                  <a:srgbClr val="333333"/>
                </a:solidFill>
                <a:latin typeface="Arial"/>
                <a:cs typeface="Arial"/>
              </a:rPr>
              <a:t>Uses the existing incident and complaint logs. No new field sensors or hardware to deploy.</a:t>
            </a:r>
          </a:p>
        </p:txBody>
      </p:sp>
      <p:sp>
        <p:nvSpPr>
          <p:cNvPr name="FeasCard1Accent" id="113"/>
          <p:cNvSpPr/>
          <p:nvPr/>
        </p:nvSpPr>
        <p:spPr>
          <a:xfrm>
            <a:off x="617706" y="3820000"/>
            <a:ext cx="90000" cy="1640000"/>
          </a:xfrm>
          <a:prstGeom prst="rect">
            <a:avLst/>
          </a:prstGeom>
          <a:solidFill>
            <a:srgbClr val="19E3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FeasCard2" id="111"/>
          <p:cNvSpPr/>
          <p:nvPr/>
        </p:nvSpPr>
        <p:spPr>
          <a:xfrm>
            <a:off x="617706" y="5660000"/>
            <a:ext cx="8326294" cy="1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anchor="ctr" lIns="300000" rIns="240000" tIns="80000" bIns="80000"/>
          <a:lstStyle/>
          <a:p>
            <a:pPr algn="l"/>
            <a:r>
              <a:rPr lang="en-US" sz="1700" b="true">
                <a:solidFill>
                  <a:srgbClr val="000000"/>
                </a:solidFill>
                <a:latin typeface="Arial"/>
                <a:cs typeface="Arial"/>
              </a:rPr>
              <a:t>Lightweight, standard stack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lang="en-US" sz="1350">
                <a:solidFill>
                  <a:srgbClr val="333333"/>
                </a:solidFill>
                <a:latin typeface="Arial"/>
                <a:cs typeface="Arial"/>
              </a:rPr>
              <a:t>A scoring model plus a REST traffic API, served as one ranked dashboard. Deployable by a small team.</a:t>
            </a:r>
          </a:p>
        </p:txBody>
      </p:sp>
      <p:sp>
        <p:nvSpPr>
          <p:cNvPr name="FeasCard2Accent" id="114"/>
          <p:cNvSpPr/>
          <p:nvPr/>
        </p:nvSpPr>
        <p:spPr>
          <a:xfrm>
            <a:off x="617706" y="5660000"/>
            <a:ext cx="90000" cy="1640000"/>
          </a:xfrm>
          <a:prstGeom prst="rect">
            <a:avLst/>
          </a:prstGeom>
          <a:solidFill>
            <a:srgbClr val="19E3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FeasCard3" id="112"/>
          <p:cNvSpPr/>
          <p:nvPr/>
        </p:nvSpPr>
        <p:spPr>
          <a:xfrm>
            <a:off x="617706" y="7500000"/>
            <a:ext cx="8326294" cy="1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anchor="ctr" lIns="300000" rIns="240000" tIns="80000" bIns="80000"/>
          <a:lstStyle/>
          <a:p>
            <a:pPr algn="l"/>
            <a:r>
              <a:rPr lang="en-US" sz="1700" b="true">
                <a:solidFill>
                  <a:srgbClr val="000000"/>
                </a:solidFill>
                <a:latin typeface="Arial"/>
                <a:cs typeface="Arial"/>
              </a:rPr>
              <a:t>Key risk and mitigation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lang="en-US" sz="1350">
                <a:solidFill>
                  <a:srgbClr val="333333"/>
                </a:solidFill>
                <a:latin typeface="Arial"/>
                <a:cs typeface="Arial"/>
              </a:rPr>
              <a:t>Synthetic and partial data plus traffic API quota limits. Calibrate score weights on real logs and cache traffic pulls.</a:t>
            </a:r>
          </a:p>
        </p:txBody>
      </p:sp>
      <p:sp>
        <p:nvSpPr>
          <p:cNvPr name="FeasCard3Accent" id="115"/>
          <p:cNvSpPr/>
          <p:nvPr/>
        </p:nvSpPr>
        <p:spPr>
          <a:xfrm>
            <a:off x="617706" y="7500000"/>
            <a:ext cx="90000" cy="1640000"/>
          </a:xfrm>
          <a:prstGeom prst="rect">
            <a:avLst/>
          </a:prstGeom>
          <a:solidFill>
            <a:srgbClr val="19E3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ImpactCard1" id="120"/>
          <p:cNvSpPr/>
          <p:nvPr/>
        </p:nvSpPr>
        <p:spPr>
          <a:xfrm>
            <a:off x="9344000" y="3820000"/>
            <a:ext cx="8326294" cy="1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anchor="ctr" lIns="300000" rIns="260000" tIns="80000" bIns="80000"/>
          <a:lstStyle/>
          <a:p>
            <a:pPr algn="l"/>
            <a:r>
              <a:rPr lang="en-US" sz="2600" b="true">
                <a:solidFill>
                  <a:srgbClr val="0B9FB0"/>
                </a:solidFill>
                <a:latin typeface="Arial"/>
                <a:cs typeface="Arial"/>
              </a:rPr>
              <a:t>2,475  </a:t>
            </a:r>
            <a:r>
              <a:rPr lang="en-US" sz="1700" b="true">
                <a:solidFill>
                  <a:srgbClr val="000000"/>
                </a:solidFill>
                <a:latin typeface="Arial"/>
                <a:cs typeface="Arial"/>
              </a:rPr>
              <a:t>injuries put first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lang="en-US" sz="1350">
                <a:solidFill>
                  <a:srgbClr val="333333"/>
                </a:solidFill>
                <a:latin typeface="Arial"/>
                <a:cs typeface="Arial"/>
              </a:rPr>
              <a:t>Critical spots stop waiting like Low (both 32 hrs today).</a:t>
            </a:r>
          </a:p>
        </p:txBody>
      </p:sp>
      <p:sp>
        <p:nvSpPr>
          <p:cNvPr name="ImpactCard1Accent" id="123"/>
          <p:cNvSpPr/>
          <p:nvPr/>
        </p:nvSpPr>
        <p:spPr>
          <a:xfrm>
            <a:off x="9344000" y="3820000"/>
            <a:ext cx="90000" cy="1640000"/>
          </a:xfrm>
          <a:prstGeom prst="rect">
            <a:avLst/>
          </a:prstGeom>
          <a:solidFill>
            <a:srgbClr val="0B9F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ImpactCard2" id="121"/>
          <p:cNvSpPr/>
          <p:nvPr/>
        </p:nvSpPr>
        <p:spPr>
          <a:xfrm>
            <a:off x="9344000" y="5660000"/>
            <a:ext cx="8326294" cy="1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anchor="ctr" lIns="300000" rIns="260000" tIns="80000" bIns="80000"/>
          <a:lstStyle/>
          <a:p>
            <a:pPr algn="l"/>
            <a:r>
              <a:rPr lang="en-US" sz="2600" b="true">
                <a:solidFill>
                  <a:srgbClr val="0B9FB0"/>
                </a:solidFill>
                <a:latin typeface="Arial"/>
                <a:cs typeface="Arial"/>
              </a:rPr>
              <a:t>43%  </a:t>
            </a:r>
            <a:r>
              <a:rPr lang="en-US" sz="1700" b="true">
                <a:solidFill>
                  <a:srgbClr val="000000"/>
                </a:solidFill>
                <a:latin typeface="Arial"/>
                <a:cs typeface="Arial"/>
              </a:rPr>
              <a:t>backlog unified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lang="en-US" sz="1350">
                <a:solidFill>
                  <a:srgbClr val="333333"/>
                </a:solidFill>
                <a:latin typeface="Arial"/>
                <a:cs typeface="Arial"/>
              </a:rPr>
              <a:t>Complaint backlog folded into one ranked worklist with incident logs.</a:t>
            </a:r>
          </a:p>
        </p:txBody>
      </p:sp>
      <p:sp>
        <p:nvSpPr>
          <p:cNvPr name="ImpactCard2Accent" id="124"/>
          <p:cNvSpPr/>
          <p:nvPr/>
        </p:nvSpPr>
        <p:spPr>
          <a:xfrm>
            <a:off x="9344000" y="5660000"/>
            <a:ext cx="90000" cy="1640000"/>
          </a:xfrm>
          <a:prstGeom prst="rect">
            <a:avLst/>
          </a:prstGeom>
          <a:solidFill>
            <a:srgbClr val="0B9F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ImpactCard3" id="122"/>
          <p:cNvSpPr/>
          <p:nvPr/>
        </p:nvSpPr>
        <p:spPr>
          <a:xfrm>
            <a:off x="9344000" y="7500000"/>
            <a:ext cx="8326294" cy="1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anchor="ctr" lIns="300000" rIns="260000" tIns="80000" bIns="80000"/>
          <a:lstStyle/>
          <a:p>
            <a:pPr algn="l"/>
            <a:r>
              <a:rPr lang="en-US" sz="2600" b="true">
                <a:solidFill>
                  <a:srgbClr val="0B9FB0"/>
                </a:solidFill>
                <a:latin typeface="Arial"/>
                <a:cs typeface="Arial"/>
              </a:rPr>
              <a:t>1 list  </a:t>
            </a:r>
            <a:r>
              <a:rPr lang="en-US" sz="1700" b="true">
                <a:solidFill>
                  <a:srgbClr val="000000"/>
                </a:solidFill>
                <a:latin typeface="Arial"/>
                <a:cs typeface="Arial"/>
              </a:rPr>
              <a:t>for limited crews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lang="en-US" sz="1350">
                <a:solidFill>
                  <a:srgbClr val="333333"/>
                </a:solidFill>
                <a:latin typeface="Arial"/>
                <a:cs typeface="Arial"/>
              </a:rPr>
              <a:t>Fixed budget routes to the highest real risk, not the loudest complaint.</a:t>
            </a:r>
          </a:p>
        </p:txBody>
      </p:sp>
      <p:sp>
        <p:nvSpPr>
          <p:cNvPr name="ImpactCard3Accent" id="125"/>
          <p:cNvSpPr/>
          <p:nvPr/>
        </p:nvSpPr>
        <p:spPr>
          <a:xfrm>
            <a:off x="9344000" y="7500000"/>
            <a:ext cx="90000" cy="1640000"/>
          </a:xfrm>
          <a:prstGeom prst="rect">
            <a:avLst/>
          </a:prstGeom>
          <a:solidFill>
            <a:srgbClr val="0B9F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DAHYJIPM0cc</dc:identifier>
  <dc:language>en-IN</dc:language>
  <cp:lastModifiedBy/>
  <dcterms:modified xsi:type="dcterms:W3CDTF">2026-10-16T11:54:16Z</dcterms:modified>
  <cp:revision>2</cp:revision>
  <dc:subject/>
  <dc:title>Team name: teamCookie() Team Members: Pranjal Kumar, Kathrina Elangbam Track Chosen: Smart City Problem Statement Title: Where Should We Fix First? Product Name: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